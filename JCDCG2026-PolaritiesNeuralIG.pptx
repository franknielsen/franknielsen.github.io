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500" r:id="rId3"/>
    <p:sldId id="501" r:id="rId4"/>
    <p:sldId id="485" r:id="rId5"/>
    <p:sldId id="451" r:id="rId6"/>
    <p:sldId id="497" r:id="rId7"/>
    <p:sldId id="506" r:id="rId8"/>
    <p:sldId id="487" r:id="rId9"/>
    <p:sldId id="488" r:id="rId10"/>
    <p:sldId id="495" r:id="rId11"/>
    <p:sldId id="489" r:id="rId12"/>
    <p:sldId id="496" r:id="rId13"/>
    <p:sldId id="493" r:id="rId14"/>
    <p:sldId id="491" r:id="rId15"/>
    <p:sldId id="492" r:id="rId16"/>
    <p:sldId id="499" r:id="rId17"/>
    <p:sldId id="508" r:id="rId18"/>
    <p:sldId id="502" r:id="rId19"/>
    <p:sldId id="504" r:id="rId20"/>
    <p:sldId id="257" r:id="rId21"/>
    <p:sldId id="503" r:id="rId22"/>
    <p:sldId id="490" r:id="rId23"/>
    <p:sldId id="494" r:id="rId24"/>
    <p:sldId id="302" r:id="rId25"/>
    <p:sldId id="486" r:id="rId26"/>
    <p:sldId id="498" r:id="rId27"/>
    <p:sldId id="507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0B29EF-4BB7-4D27-A426-7B8FAA27F128}">
          <p14:sldIdLst>
            <p14:sldId id="256"/>
            <p14:sldId id="500"/>
            <p14:sldId id="501"/>
            <p14:sldId id="485"/>
          </p14:sldIdLst>
        </p14:section>
        <p14:section name="Untitled Section" id="{897B392A-D0E0-495D-8227-B898F22E7F64}">
          <p14:sldIdLst>
            <p14:sldId id="451"/>
            <p14:sldId id="497"/>
            <p14:sldId id="506"/>
            <p14:sldId id="487"/>
            <p14:sldId id="488"/>
            <p14:sldId id="495"/>
            <p14:sldId id="489"/>
            <p14:sldId id="496"/>
            <p14:sldId id="493"/>
            <p14:sldId id="491"/>
            <p14:sldId id="492"/>
            <p14:sldId id="499"/>
            <p14:sldId id="508"/>
            <p14:sldId id="502"/>
            <p14:sldId id="504"/>
            <p14:sldId id="257"/>
            <p14:sldId id="503"/>
            <p14:sldId id="490"/>
            <p14:sldId id="494"/>
            <p14:sldId id="302"/>
            <p14:sldId id="486"/>
            <p14:sldId id="498"/>
            <p14:sldId id="5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23" autoAdjust="0"/>
  </p:normalViewPr>
  <p:slideViewPr>
    <p:cSldViewPr snapToGrid="0">
      <p:cViewPr varScale="1">
        <p:scale>
          <a:sx n="66" d="100"/>
          <a:sy n="66" d="100"/>
        </p:scale>
        <p:origin x="1301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C261B-9F81-49FD-B725-E054E1639985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B027F-7F4D-4725-ABD5-0F9BB61A6C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97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math.washington.edu/~rtr/papers/rtr169-VarAnalysis-RockWets.pdf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10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Sept 2026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118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https://en.wikipedia.org/wiki/Mathematical_operators_and_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</a:p>
          <a:p>
            <a:r>
              <a:rPr kumimoji="1" lang="en-US" altLang="ja-JP" dirty="0" err="1"/>
              <a:t>symbols_in_Unicode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Θθ∇</a:t>
            </a:r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≻</a:t>
            </a:r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ξ</a:t>
            </a:r>
            <a:r>
              <a:rPr lang="ja-JP" altLang="en-US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∈</a:t>
            </a:r>
            <a:endParaRPr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kumimoji="1" lang="en-US" altLang="ja-JP" dirty="0"/>
              <a:t>http://lib.physcon.ru/doc?id=5d34ad008433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l-GR" altLang="ja-JP" b="0" i="0" dirty="0">
                <a:solidFill>
                  <a:srgbClr val="202124"/>
                </a:solidFill>
                <a:effectLst/>
                <a:latin typeface="Google Sans"/>
              </a:rPr>
              <a:t>Σ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Lev </a:t>
            </a:r>
            <a:r>
              <a:rPr lang="en-US" altLang="ja-JP" b="1" i="0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Meerovich</a:t>
            </a:r>
            <a:r>
              <a:rPr lang="en-US" altLang="ja-JP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Bregman</a:t>
            </a:r>
          </a:p>
          <a:p>
            <a:r>
              <a:rPr lang="da-DK" altLang="ja-JP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a-DK" altLang="ja-JP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(1941 - 2023)</a:t>
            </a:r>
            <a:endParaRPr kumimoji="1" lang="en-US" altLang="ja-JP" b="0" i="0" dirty="0">
              <a:solidFill>
                <a:srgbClr val="DF000F"/>
              </a:solidFill>
              <a:effectLst/>
              <a:latin typeface="Source Sans Pro" panose="020B0503030403020204" pitchFamily="34" charset="0"/>
            </a:endParaRP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4D204-4D42-4A31-949B-526B9FFFD34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1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Q SPD, 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41A8F-8FCA-4B74-8117-8AD58E73107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1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989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477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Paraboloid is the only self-conjugate function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385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108C-BF44-4419-3165-074D7F73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2972D-A243-0A6F-FE67-E6C901211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D8333-DD3D-A74D-6EB6-5F0C99680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08380-4C6F-8E79-E4B9-E5A030916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576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https://link.springer.com/book/10.1007/978-3-540-89550-3</a:t>
            </a:r>
          </a:p>
          <a:p>
            <a:r>
              <a:rPr kumimoji="1" lang="ja-JP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Computational Geometry and Graph Theory</a:t>
            </a:r>
          </a:p>
          <a:p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International Conference, KyotoCGGT 2007, Kyoto, Japan, June 11-15, 2007. Revised Selected Papers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610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ja-JP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https://sites.math.washington.edu/~rtr/papers/rtr169-VarAnalysis-RockWets.pdf</a:t>
            </a:r>
            <a:endParaRPr kumimoji="1" lang="ja-JP" altLang="ja-JP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4D204-4D42-4A31-949B-526B9FFFD34E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13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69FC-9D0F-A7B1-9AFE-B7F08161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BFE2-BDD6-4792-826F-C0448787D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C6F81-CB87-CB0F-A201-EE49F1B66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Amari, Shun-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ichi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ja-JP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Differential-geometrical methods in statistics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28. Springer, 1985</a:t>
            </a:r>
          </a:p>
          <a:p>
            <a:pPr marL="0" indent="0">
              <a:buNone/>
            </a:pPr>
            <a:r>
              <a:rPr lang="en-US" altLang="ja-JP" sz="1200" dirty="0"/>
              <a:t>Geometrically, it corresponds to the expression of a point divergence </a:t>
            </a:r>
          </a:p>
          <a:p>
            <a:pPr marL="0" indent="0">
              <a:buNone/>
            </a:pPr>
            <a:r>
              <a:rPr lang="en-US" altLang="ja-JP" sz="1200" dirty="0"/>
              <a:t>on a Hessian manifold expressed in the </a:t>
            </a:r>
            <a:r>
              <a:rPr lang="el-GR" altLang="ja-JP" sz="1200" dirty="0"/>
              <a:t>θ</a:t>
            </a:r>
            <a:r>
              <a:rPr lang="en-US" altLang="ja-JP" sz="1200" dirty="0"/>
              <a:t>-chart and the</a:t>
            </a:r>
            <a:r>
              <a:rPr lang="el-GR" altLang="ja-JP" sz="1200" dirty="0"/>
              <a:t> η</a:t>
            </a:r>
            <a:r>
              <a:rPr lang="en-US" altLang="ja-JP" sz="1200" dirty="0"/>
              <a:t>-chart 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10C25-3B77-F5EC-64EF-760CDF2E5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4D204-4D42-4A31-949B-526B9FFFD34E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333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65B2-11AC-9F7F-3BAB-5A107ED8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4E54F-728E-DD34-1E88-5D87A6C13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65182-6146-9072-076A-D9B8C7393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5B9CF-5C28-43D9-75C7-308C20F90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027F-7F4D-4725-ABD5-0F9BB61A6CC5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9257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B565-B4E6-57C8-96C4-94EAA1356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719E1-205E-959D-7FEE-D596236C5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3FD84-6B43-0B28-C67F-989E0CB8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61824-480A-23E7-C2A8-4BFD14E5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5A31C-F7D5-2E36-4297-7A2DFDD0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88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974A-F928-6690-9E62-6C349EE2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8B209-51FA-323B-0711-55FC44170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A1EED-9DEB-E4A6-DF23-22D5CB20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C89A-DC7F-A69F-998D-F5966F72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8CA6E-FC84-5769-821A-F0105BF3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8123-FC8B-ADB7-E2FD-88E01F3B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212CE-34F7-4838-E736-9D3C83736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3D0CB-3BBA-2F36-D12D-412BD0E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97280-3978-4E1A-8194-C5A25615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67763-5E35-9281-C829-D460548D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01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4050-30BE-5012-14F2-E8C6EC32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699A-3926-D053-BBB6-3168AE628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AAE95-6F5A-3D64-6BC1-CA04632F9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583B3-D135-A741-C483-77188463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4BC59-B0B0-E35B-E480-F7BFA10E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6F339-1F54-CC3A-77EC-C16F04FF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88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EE68-472C-B45A-EB44-EC29FEDA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FCB4D-F602-CDA7-79E7-850E46150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BCECC-B2D4-94D3-3CD4-E92FFBF46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091E8-C8EC-E71F-5DDB-B108EBFE4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FFD1D6-4EF1-B98B-F79A-764B1509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7C69E-1CF4-B657-471C-CC6210B4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D4B5C-E845-EF58-C9C5-C8D348AB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B803E-5F41-5B06-7552-E4E4ADF8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29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310A-4079-D93B-8497-83652F26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92490-EF14-D5F4-D69C-062BEF5E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BAEA6-5C47-8C5C-7725-B4EC67B9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88DB1-2D1B-6EEC-BFF8-3A86ADF2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66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B442C-55C5-5915-382A-B6CFAB29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91FB2-E13E-7F0D-212A-104E379B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4CC15-B39B-E32E-770C-ECF6D5F2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30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6EA4-D9D8-40B0-34EE-33856E67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92AF7-ADA1-A6E1-6268-C8D348114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0774C-C9D7-FB77-8025-2F59AFEE4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FC97D-3D4A-7045-3B3D-34902DC7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3349A-4EA6-41F6-B17E-61989871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C4C77-0EAF-CBE4-B285-3CEE28E9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96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5CAC-122A-EC87-4F13-B0F57F91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C65D8-CE04-B3AF-72B9-DC1CAA5CA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D31F7-043D-33D7-12C3-3CA495F29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2BCDE-241F-DDE3-0341-081806EB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96C5C-5E2B-AF04-A036-602D06E4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23591-40AF-730F-2A78-3C6D50B6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06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016-0A1B-F78A-A501-2B626348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8F790-98E1-FA28-F7F0-E764AA89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19B59-B8AB-BD49-97A4-6542D2B72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77B6-8DF0-6BA1-FB3F-9BD9F642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8759-9B5A-7368-5FD7-B6DC373E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83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7AE90-E5AA-88CF-8383-DFEEAC39E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A18B0-A951-6A3A-0B49-F73E24DE0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70519-9EC7-D34B-AD69-58DEA570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7DD9E-7C96-40F8-3205-FE352050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EE7EE-779A-012D-3CBE-B4AE31E4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28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AA5C9-8A23-6DE4-5C89-972D061A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56FE4-6920-C422-854B-DCED05CF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A707C-5D51-34B6-965A-DA054BBF9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4063E-8E1C-4A92-865F-F5F11ABEC6F8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9941-0CB2-0E1E-4528-8F8F3535C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1E3B4-97AF-00A4-9095-CF559ADFF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23862-17FA-4847-8324-BD8737D100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27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D65F-C5F2-B4A3-7F4A-81CF081D0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155" y="453770"/>
            <a:ext cx="9144000" cy="2387600"/>
          </a:xfrm>
        </p:spPr>
        <p:txBody>
          <a:bodyPr/>
          <a:lstStyle/>
          <a:p>
            <a:r>
              <a:rPr lang="en-US" altLang="ja-JP" b="1" dirty="0">
                <a:solidFill>
                  <a:srgbClr val="0000FF"/>
                </a:solidFill>
              </a:rPr>
              <a:t>On polarities and computational convexity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0A528B-D2EE-EAD1-5FD0-CABC61CFEE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589" y="5205488"/>
            <a:ext cx="3597648" cy="92293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E940037-8A0A-DA6F-E6BB-A7533A22EAF3}"/>
              </a:ext>
            </a:extLst>
          </p:cNvPr>
          <p:cNvSpPr txBox="1">
            <a:spLocks/>
          </p:cNvSpPr>
          <p:nvPr/>
        </p:nvSpPr>
        <p:spPr>
          <a:xfrm>
            <a:off x="1741368" y="373537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Frank Nielsen</a:t>
            </a:r>
            <a:endParaRPr lang="en-US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8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Sony Computer Science Laboratories, Inc.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A1236-C2AE-DFB9-5D4F-3248BCE744AE}"/>
              </a:ext>
            </a:extLst>
          </p:cNvPr>
          <p:cNvSpPr txBox="1"/>
          <p:nvPr/>
        </p:nvSpPr>
        <p:spPr>
          <a:xfrm>
            <a:off x="5653548" y="6404230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September 2026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921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582C-774B-82DF-A8D8-D45906498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55" y="167639"/>
            <a:ext cx="12059264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00FF"/>
                </a:solidFill>
              </a:rPr>
              <a:t>Background: </a:t>
            </a:r>
            <a:r>
              <a:rPr lang="en-US" altLang="ja-JP" sz="3200" b="1" dirty="0">
                <a:solidFill>
                  <a:srgbClr val="0000FF"/>
                </a:solidFill>
              </a:rPr>
              <a:t>G (1998) </a:t>
            </a:r>
            <a:r>
              <a:rPr lang="ja-JP" altLang="ja-JP" sz="3200" b="1" dirty="0">
                <a:solidFill>
                  <a:srgbClr val="0000FF"/>
                </a:solidFill>
              </a:rPr>
              <a:t>→</a:t>
            </a:r>
            <a:r>
              <a:rPr lang="en-US" altLang="ja-JP" sz="3200" b="1" dirty="0">
                <a:solidFill>
                  <a:srgbClr val="0000FF"/>
                </a:solidFill>
              </a:rPr>
              <a:t> GG (2007) </a:t>
            </a:r>
            <a:r>
              <a:rPr lang="ja-JP" altLang="ja-JP" sz="3200" b="1" dirty="0">
                <a:solidFill>
                  <a:srgbClr val="0000FF"/>
                </a:solidFill>
              </a:rPr>
              <a:t>→</a:t>
            </a:r>
            <a:r>
              <a:rPr lang="en-US" altLang="ja-JP" sz="3200" b="1" dirty="0">
                <a:solidFill>
                  <a:srgbClr val="0000FF"/>
                </a:solidFill>
              </a:rPr>
              <a:t> GGG (2026)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956F9-AFBF-E70D-64E2-AF041441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552" y="4439041"/>
            <a:ext cx="1809949" cy="2098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B3105D-9219-6AA0-2180-EC221D3B5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60" y="1518286"/>
            <a:ext cx="6419850" cy="517207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6FA35D8-030D-85B1-64DC-88563C865B59}"/>
              </a:ext>
            </a:extLst>
          </p:cNvPr>
          <p:cNvSpPr/>
          <p:nvPr/>
        </p:nvSpPr>
        <p:spPr>
          <a:xfrm>
            <a:off x="3211544" y="3313470"/>
            <a:ext cx="457200" cy="5014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CDADA9-0A10-5170-24BB-D239773F6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483" y="1601497"/>
            <a:ext cx="4200670" cy="2729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BF9B56-E6CC-9BAF-91AA-9C1F70B11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91" y="4439041"/>
            <a:ext cx="1485475" cy="20986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42DE31-85BE-1F1F-68BB-D865CC122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738" y="4697946"/>
            <a:ext cx="1297858" cy="19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9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39E8-24A5-7225-FB7C-56A14CBC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03" y="-107216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A view of the squared Euclidean distance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267B78-8F9C-32C9-F56F-7DBD00021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51" y="4990500"/>
            <a:ext cx="11930297" cy="2673414"/>
          </a:xfrm>
        </p:spPr>
        <p:txBody>
          <a:bodyPr>
            <a:normAutofit/>
          </a:bodyPr>
          <a:lstStyle/>
          <a:p>
            <a:r>
              <a:rPr lang="en-US" altLang="ja-JP" dirty="0"/>
              <a:t>S</a:t>
            </a:r>
            <a:r>
              <a:rPr kumimoji="1" lang="en-US" altLang="ja-JP" dirty="0"/>
              <a:t>quared Euclidean distance is </a:t>
            </a:r>
            <a:r>
              <a:rPr kumimoji="1" lang="en-US" altLang="ja-JP" i="1" dirty="0"/>
              <a:t>not a metric </a:t>
            </a:r>
            <a:r>
              <a:rPr kumimoji="1" lang="en-US" altLang="ja-JP" dirty="0"/>
              <a:t>because it violates the triangle inequality. </a:t>
            </a:r>
            <a:r>
              <a:rPr kumimoji="1" lang="ja-JP" altLang="en-US" dirty="0"/>
              <a:t>　　　　</a:t>
            </a:r>
            <a:endParaRPr kumimoji="1" lang="en-US" altLang="ja-JP" dirty="0"/>
          </a:p>
          <a:p>
            <a:r>
              <a:rPr kumimoji="1" lang="en-US" altLang="ja-JP" dirty="0"/>
              <a:t>Smooth distances are called </a:t>
            </a:r>
            <a:r>
              <a:rPr kumimoji="1" lang="en-US" altLang="ja-JP" b="1" dirty="0">
                <a:solidFill>
                  <a:srgbClr val="FF0000"/>
                </a:solidFill>
              </a:rPr>
              <a:t>divergences</a:t>
            </a:r>
          </a:p>
          <a:p>
            <a:pPr marL="0" indent="0">
              <a:buNone/>
            </a:pPr>
            <a:r>
              <a:rPr lang="en-US" altLang="ja-JP" sz="2400" dirty="0"/>
              <a:t>(Related to the </a:t>
            </a:r>
            <a:r>
              <a:rPr lang="en-US" altLang="ja-JP" sz="2400" i="1" dirty="0"/>
              <a:t>paraboloid lifting </a:t>
            </a:r>
            <a:r>
              <a:rPr lang="en-US" altLang="ja-JP" sz="2400" dirty="0"/>
              <a:t>in Computational Geometry for Voronoi/Delaunay)</a:t>
            </a:r>
            <a:endParaRPr kumimoji="1" lang="en-US" altLang="ja-JP" sz="2400" dirty="0"/>
          </a:p>
          <a:p>
            <a:pPr marL="0" indent="0">
              <a:buNone/>
            </a:pPr>
            <a:endParaRPr lang="en-US" altLang="ja-JP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1201C6-76F4-F206-11D4-47AA1346D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972" y="853185"/>
            <a:ext cx="8738885" cy="41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0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C533-501A-9600-BFF8-F496B17E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71" y="-64409"/>
            <a:ext cx="12078011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Bregman divergences: Convex potential functions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16CE-2C12-B07B-75D7-1EA567529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03" y="942090"/>
            <a:ext cx="11599742" cy="2673414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F:</a:t>
            </a:r>
            <a:r>
              <a:rPr lang="el-GR" altLang="ja-JP" b="0" i="0" dirty="0">
                <a:solidFill>
                  <a:srgbClr val="DF000F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l-GR" altLang="ja-JP" b="0" i="0" dirty="0">
                <a:effectLst/>
                <a:latin typeface="Source Sans Pro" panose="020B0503030403020204" pitchFamily="34" charset="0"/>
              </a:rPr>
              <a:t>Θ</a:t>
            </a:r>
            <a:r>
              <a:rPr lang="ja-JP" altLang="en-US" b="0" i="0" dirty="0">
                <a:effectLst/>
                <a:latin typeface="Source Sans Pro" panose="020B0503030403020204" pitchFamily="34" charset="0"/>
              </a:rPr>
              <a:t>⊆</a:t>
            </a:r>
            <a:r>
              <a:rPr lang="en-US" altLang="ja-JP" b="0" i="0" dirty="0" err="1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  <a:r>
              <a:rPr kumimoji="1" lang="en-US" altLang="ja-JP" baseline="30000" dirty="0" err="1"/>
              <a:t>m</a:t>
            </a:r>
            <a:r>
              <a:rPr lang="ja-JP" altLang="en-US" b="0" i="0" dirty="0">
                <a:solidFill>
                  <a:srgbClr val="404040"/>
                </a:solidFill>
                <a:effectLst/>
                <a:latin typeface="-apple-system"/>
              </a:rPr>
              <a:t>→</a:t>
            </a:r>
            <a:r>
              <a:rPr lang="en-US" altLang="ja-JP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 </a:t>
            </a:r>
            <a:r>
              <a:rPr kumimoji="1" lang="en-US" altLang="ja-JP" dirty="0"/>
              <a:t> a strictly convex and smooth real-valued function on a finite-dimensional Hilbert space equipped with inner product &lt;.,.&gt;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b="1" dirty="0">
                <a:solidFill>
                  <a:srgbClr val="FF0000"/>
                </a:solidFill>
              </a:rPr>
              <a:t>Bregman</a:t>
            </a:r>
            <a:r>
              <a:rPr lang="ja-JP" altLang="en-US" b="1" dirty="0">
                <a:solidFill>
                  <a:srgbClr val="FF0000"/>
                </a:solidFill>
              </a:rPr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divergence </a:t>
            </a:r>
            <a:r>
              <a:rPr lang="en-US" altLang="ja-JP" dirty="0"/>
              <a:t>B</a:t>
            </a:r>
            <a:r>
              <a:rPr lang="en-US" altLang="ja-JP" baseline="-25000" dirty="0"/>
              <a:t>F</a:t>
            </a:r>
            <a:r>
              <a:rPr lang="en-US" altLang="ja-JP" dirty="0"/>
              <a:t>:</a:t>
            </a:r>
            <a:r>
              <a:rPr lang="el-GR" altLang="ja-JP" b="0" i="0" dirty="0">
                <a:effectLst/>
                <a:latin typeface="Source Sans Pro" panose="020B0503030403020204" pitchFamily="34" charset="0"/>
              </a:rPr>
              <a:t> Θ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en-US" altLang="ja-JP" dirty="0"/>
              <a:t>x Int(</a:t>
            </a:r>
            <a:r>
              <a:rPr lang="el-GR" altLang="ja-JP" b="0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dirty="0"/>
              <a:t>)</a:t>
            </a:r>
            <a:r>
              <a:rPr lang="ja-JP" altLang="en-US" b="0" i="0" dirty="0">
                <a:solidFill>
                  <a:srgbClr val="404040"/>
                </a:solidFill>
                <a:effectLst/>
                <a:latin typeface="-apple-system"/>
              </a:rPr>
              <a:t> →</a:t>
            </a:r>
            <a:r>
              <a:rPr lang="en-US" altLang="ja-JP" b="0" i="0" dirty="0">
                <a:solidFill>
                  <a:srgbClr val="373637"/>
                </a:solidFill>
                <a:effectLst/>
                <a:latin typeface="Source Sans Pro" panose="020B0503030403020204" pitchFamily="34" charset="0"/>
              </a:rPr>
              <a:t>ℝ</a:t>
            </a:r>
            <a:endParaRPr lang="en-US" altLang="ja-JP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B1DCE-9A06-97A7-E52B-E2469FEC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226C-95D4-40B8-9E1A-366D2434025F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4A5BA-D389-78A5-22CB-4D8F74FA5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6446" y="2267653"/>
            <a:ext cx="8827046" cy="4744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C3F4BC-6D41-AA03-F347-A4E71E36FA88}"/>
              </a:ext>
            </a:extLst>
          </p:cNvPr>
          <p:cNvSpPr txBox="1"/>
          <p:nvPr/>
        </p:nvSpPr>
        <p:spPr>
          <a:xfrm>
            <a:off x="3239980" y="2388050"/>
            <a:ext cx="8485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solidFill>
                  <a:schemeClr val="accent2"/>
                </a:solidFill>
              </a:rPr>
              <a:t>B</a:t>
            </a:r>
            <a:r>
              <a:rPr lang="en-US" altLang="ja-JP" sz="2800" b="1" baseline="-25000" dirty="0">
                <a:solidFill>
                  <a:schemeClr val="accent2"/>
                </a:solidFill>
              </a:rPr>
              <a:t>F</a:t>
            </a:r>
            <a:r>
              <a:rPr lang="en-US" altLang="ja-JP" sz="2800" b="1" dirty="0">
                <a:solidFill>
                  <a:schemeClr val="accent2"/>
                </a:solidFill>
              </a:rPr>
              <a:t>(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dirty="0">
                <a:solidFill>
                  <a:schemeClr val="accent2"/>
                </a:solidFill>
              </a:rPr>
              <a:t>: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b="1" dirty="0">
                <a:solidFill>
                  <a:schemeClr val="accent2"/>
                </a:solidFill>
              </a:rPr>
              <a:t>) = F(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800" b="1" dirty="0">
                <a:solidFill>
                  <a:schemeClr val="accent2"/>
                </a:solidFill>
              </a:rPr>
              <a:t>) - ( F(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2</a:t>
            </a:r>
            <a:r>
              <a:rPr lang="en-US" altLang="ja-JP" sz="2800" b="1" dirty="0">
                <a:solidFill>
                  <a:schemeClr val="accent2"/>
                </a:solidFill>
              </a:rPr>
              <a:t>) + &lt;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-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2 ,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∇</a:t>
            </a:r>
            <a:r>
              <a:rPr lang="en-US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F(</a:t>
            </a:r>
            <a:r>
              <a:rPr lang="el-GR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b="1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)</a:t>
            </a:r>
            <a:r>
              <a:rPr lang="en-US" altLang="ja-JP" sz="2800" b="1" i="0" baseline="-2500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dirty="0">
                <a:solidFill>
                  <a:schemeClr val="accent2"/>
                </a:solidFill>
              </a:rPr>
              <a:t>&gt; )</a:t>
            </a:r>
            <a:endParaRPr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3CAD7-64CF-B0A1-E51E-04FA08A9AC3B}"/>
              </a:ext>
            </a:extLst>
          </p:cNvPr>
          <p:cNvSpPr txBox="1"/>
          <p:nvPr/>
        </p:nvSpPr>
        <p:spPr>
          <a:xfrm>
            <a:off x="6801630" y="4505628"/>
            <a:ext cx="5070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BD </a:t>
            </a:r>
            <a:r>
              <a:rPr lang="en-US" altLang="ja-JP" sz="2800" dirty="0"/>
              <a:t>m</a:t>
            </a:r>
            <a:r>
              <a:rPr kumimoji="1" lang="en-US" altLang="ja-JP" sz="2800" dirty="0"/>
              <a:t>easures a convexity gap</a:t>
            </a:r>
            <a:endParaRPr kumimoji="1" lang="ja-JP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33114-981F-59EE-E863-08DA3068919B}"/>
              </a:ext>
            </a:extLst>
          </p:cNvPr>
          <p:cNvSpPr txBox="1"/>
          <p:nvPr/>
        </p:nvSpPr>
        <p:spPr>
          <a:xfrm>
            <a:off x="5358580" y="2905780"/>
            <a:ext cx="6673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= F(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n-US" altLang="ja-JP" sz="2800" b="1" dirty="0"/>
              <a:t>) - F(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baseline="-25000" dirty="0">
                <a:latin typeface="Source Sans Pro" panose="020B0503030403020204" pitchFamily="34" charset="0"/>
              </a:rPr>
              <a:t>2</a:t>
            </a:r>
            <a:r>
              <a:rPr lang="en-US" altLang="ja-JP" sz="2800" b="1" dirty="0"/>
              <a:t>) - &lt;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1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i="0" dirty="0">
                <a:effectLst/>
                <a:latin typeface="Source Sans Pro" panose="020B0503030403020204" pitchFamily="34" charset="0"/>
              </a:rPr>
              <a:t>-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θ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2 ,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 ∇</a:t>
            </a:r>
            <a:r>
              <a:rPr lang="en-US" altLang="ja-JP" sz="2800" b="1" i="0" dirty="0">
                <a:effectLst/>
                <a:latin typeface="Source Sans Pro" panose="020B0503030403020204" pitchFamily="34" charset="0"/>
              </a:rPr>
              <a:t>F(</a:t>
            </a:r>
            <a:r>
              <a:rPr lang="el-GR" altLang="ja-JP" sz="2800" b="1" i="0" dirty="0">
                <a:effectLst/>
                <a:latin typeface="Source Sans Pro" panose="020B0503030403020204" pitchFamily="34" charset="0"/>
              </a:rPr>
              <a:t>θ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2</a:t>
            </a:r>
            <a:r>
              <a:rPr lang="en-US" altLang="ja-JP" sz="2800" b="1" i="0" dirty="0">
                <a:effectLst/>
                <a:latin typeface="Source Sans Pro" panose="020B0503030403020204" pitchFamily="34" charset="0"/>
              </a:rPr>
              <a:t>)</a:t>
            </a:r>
            <a:r>
              <a:rPr lang="en-US" altLang="ja-JP" sz="2800" b="1" i="0" baseline="-25000" dirty="0">
                <a:effectLst/>
                <a:latin typeface="Source Sans Pro" panose="020B0503030403020204" pitchFamily="34" charset="0"/>
              </a:rPr>
              <a:t> </a:t>
            </a:r>
            <a:r>
              <a:rPr lang="en-US" altLang="ja-JP" sz="2800" b="1" dirty="0"/>
              <a:t>&gt; 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2809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10EF-007B-748D-8E3C-246935B7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36" y="0"/>
            <a:ext cx="12076771" cy="1325563"/>
          </a:xfrm>
        </p:spPr>
        <p:txBody>
          <a:bodyPr>
            <a:normAutofit/>
          </a:bodyPr>
          <a:lstStyle/>
          <a:p>
            <a:r>
              <a:rPr lang="en-US" altLang="ja-JP" sz="4000" b="1" dirty="0">
                <a:solidFill>
                  <a:srgbClr val="0000FF"/>
                </a:solidFill>
              </a:rPr>
              <a:t>Bregman divergences unify important distortions</a:t>
            </a:r>
            <a:endParaRPr kumimoji="1" lang="ja-JP" altLang="en-US" sz="40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DFFD1-A390-6667-424D-9967E702F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492213"/>
                <a:ext cx="11798710" cy="538025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altLang="ja-JP" i="1" dirty="0"/>
              </a:p>
              <a:p>
                <a:pPr>
                  <a:buFontTx/>
                  <a:buChar char="-"/>
                </a:pPr>
                <a:r>
                  <a:rPr lang="en-US" altLang="ja-JP" b="1" dirty="0"/>
                  <a:t>Quadratic negentropy </a:t>
                </a:r>
                <a:r>
                  <a:rPr lang="en-US" altLang="ja-JP" dirty="0"/>
                  <a:t>generator yields </a:t>
                </a:r>
                <a:r>
                  <a:rPr lang="en-US" altLang="ja-JP" b="1" i="1" dirty="0">
                    <a:solidFill>
                      <a:srgbClr val="FF0000"/>
                    </a:solidFill>
                  </a:rPr>
                  <a:t>squared Euclidean divergence</a:t>
                </a:r>
                <a:r>
                  <a:rPr lang="en-US" altLang="ja-JP" i="1" dirty="0"/>
                  <a:t>:  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F(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)=</a:t>
                </a:r>
                <a:r>
                  <a:rPr lang="el-GR" altLang="ja-JP" dirty="0"/>
                  <a:t> </a:t>
                </a:r>
                <a:r>
                  <a:rPr lang="en-US" altLang="ja-JP" dirty="0"/>
                  <a:t>½ </a:t>
                </a:r>
                <a:r>
                  <a:rPr lang="el-GR" altLang="ja-JP" dirty="0"/>
                  <a:t>θ</a:t>
                </a:r>
                <a14:m>
                  <m:oMath xmlns:m="http://schemas.openxmlformats.org/officeDocument/2006/math">
                    <m:r>
                      <a:rPr lang="en-US" altLang="ja-JP" i="1" baseline="3000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baseline="-25000" dirty="0"/>
                  <a:t> </a:t>
                </a:r>
                <a:r>
                  <a:rPr lang="en-US" altLang="ja-JP" dirty="0"/>
                  <a:t>Q 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 with 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=R</a:t>
                </a:r>
                <a:r>
                  <a:rPr lang="en-US" altLang="ja-JP" baseline="30000" dirty="0"/>
                  <a:t>d</a:t>
                </a:r>
              </a:p>
              <a:p>
                <a:pPr marL="0" indent="0">
                  <a:buNone/>
                </a:pPr>
                <a:r>
                  <a:rPr lang="el-GR" altLang="ja-JP" dirty="0">
                    <a:solidFill>
                      <a:schemeClr val="tx1"/>
                    </a:solidFill>
                  </a:rPr>
                  <a:t>∇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F(</a:t>
                </a:r>
                <a:r>
                  <a:rPr lang="el-GR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)=</a:t>
                </a:r>
                <a:r>
                  <a:rPr lang="el-GR" altLang="ja-JP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Q</a:t>
                </a:r>
                <a:r>
                  <a:rPr lang="el-GR" altLang="ja-JP" dirty="0"/>
                  <a:t>θ</a:t>
                </a:r>
                <a:endParaRPr lang="en-US" altLang="ja-JP" i="1" dirty="0"/>
              </a:p>
              <a:p>
                <a:pPr marL="0" indent="0">
                  <a:buNone/>
                </a:pPr>
                <a:r>
                  <a:rPr lang="en-US" altLang="ja-JP" dirty="0"/>
                  <a:t>B</a:t>
                </a:r>
                <a:r>
                  <a:rPr lang="en-US" altLang="ja-JP" baseline="-25000" dirty="0"/>
                  <a:t>F</a:t>
                </a:r>
                <a:r>
                  <a:rPr lang="en-US" altLang="ja-JP" dirty="0"/>
                  <a:t>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1</a:t>
                </a:r>
                <a:r>
                  <a:rPr lang="el-GR" altLang="ja-JP" dirty="0"/>
                  <a:t> 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-25000" dirty="0"/>
                  <a:t>2</a:t>
                </a:r>
                <a:r>
                  <a:rPr lang="en-US" altLang="ja-JP" dirty="0"/>
                  <a:t>) = ½ 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2 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ja-JP" i="0" dirty="0"/>
                      <m:t>θ</m:t>
                    </m:r>
                    <m:r>
                      <m:rPr>
                        <m:nor/>
                      </m:rPr>
                      <a:rPr lang="en-US" altLang="ja-JP" i="0" baseline="-25000" dirty="0"/>
                      <m:t>1</m:t>
                    </m:r>
                    <m:r>
                      <m:rPr>
                        <m:nor/>
                      </m:rPr>
                      <a:rPr lang="en-US" altLang="ja-JP" i="0" dirty="0"/>
                      <m:t>)</m:t>
                    </m:r>
                    <m:r>
                      <a:rPr lang="en-US" altLang="ja-JP" b="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baseline="-25000" dirty="0"/>
                  <a:t>  </a:t>
                </a:r>
                <a:r>
                  <a:rPr lang="en-US" altLang="ja-JP" dirty="0"/>
                  <a:t>Q 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2 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0" baseline="30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ja-JP" i="0" dirty="0"/>
                      <m:t>θ</m:t>
                    </m:r>
                    <m:r>
                      <m:rPr>
                        <m:nor/>
                      </m:rPr>
                      <a:rPr lang="en-US" altLang="ja-JP" i="0" baseline="-25000" dirty="0"/>
                      <m:t>1</m:t>
                    </m:r>
                    <m:r>
                      <m:rPr>
                        <m:nor/>
                      </m:rPr>
                      <a:rPr lang="en-US" altLang="ja-JP" i="0" dirty="0"/>
                      <m:t>)</m:t>
                    </m:r>
                  </m:oMath>
                </a14:m>
                <a:r>
                  <a:rPr lang="en-US" altLang="ja-JP" dirty="0"/>
                  <a:t> = 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½ || </a:t>
                </a:r>
                <a:r>
                  <a:rPr lang="el-GR" altLang="ja-JP" dirty="0">
                    <a:solidFill>
                      <a:schemeClr val="accent2"/>
                    </a:solidFill>
                  </a:rPr>
                  <a:t>θ</a:t>
                </a:r>
                <a:r>
                  <a:rPr lang="en-US" altLang="ja-JP" baseline="-25000" dirty="0">
                    <a:solidFill>
                      <a:schemeClr val="accent2"/>
                    </a:solidFill>
                  </a:rPr>
                  <a:t>2 </a:t>
                </a:r>
                <a14:m>
                  <m:oMath xmlns:m="http://schemas.openxmlformats.org/officeDocument/2006/math">
                    <m:r>
                      <a:rPr lang="en-US" altLang="ja-JP" b="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l-GR" altLang="ja-JP" i="0" dirty="0">
                        <a:solidFill>
                          <a:schemeClr val="accent2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altLang="ja-JP" i="0" baseline="-25000" dirty="0">
                        <a:solidFill>
                          <a:schemeClr val="accent2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altLang="ja-JP" i="0" baseline="-25000" dirty="0" smtClean="0">
                        <a:solidFill>
                          <a:schemeClr val="accent2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ja-JP" i="0" dirty="0">
                        <a:solidFill>
                          <a:schemeClr val="accent2"/>
                        </a:solidFill>
                      </a:rPr>
                      <m:t>||</m:t>
                    </m:r>
                  </m:oMath>
                </a14:m>
                <a:r>
                  <a:rPr lang="en-US" altLang="ja-JP" i="1" baseline="30000" dirty="0">
                    <a:solidFill>
                      <a:schemeClr val="accent2"/>
                    </a:solidFill>
                  </a:rPr>
                  <a:t>2 </a:t>
                </a:r>
                <a:r>
                  <a:rPr lang="en-US" altLang="ja-JP" baseline="-25000" dirty="0">
                    <a:solidFill>
                      <a:schemeClr val="accent2"/>
                    </a:solidFill>
                  </a:rPr>
                  <a:t>Q</a:t>
                </a:r>
                <a:endParaRPr lang="en-US" altLang="ja-JP" i="1" baseline="-2500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US" altLang="ja-JP" b="1" i="1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US" altLang="ja-JP" dirty="0"/>
                  <a:t>- </a:t>
                </a:r>
                <a:r>
                  <a:rPr lang="en-US" altLang="ja-JP" b="1" dirty="0"/>
                  <a:t>Shannon negentropy </a:t>
                </a:r>
                <a:r>
                  <a:rPr lang="en-US" altLang="ja-JP" dirty="0"/>
                  <a:t>generator yields </a:t>
                </a:r>
                <a:r>
                  <a:rPr lang="en-US" altLang="ja-JP" b="1" dirty="0">
                    <a:solidFill>
                      <a:srgbClr val="FF0000"/>
                    </a:solidFill>
                  </a:rPr>
                  <a:t>relative entropy </a:t>
                </a:r>
                <a:r>
                  <a:rPr lang="en-US" altLang="ja-JP" dirty="0"/>
                  <a:t>as known as </a:t>
                </a:r>
                <a:r>
                  <a:rPr lang="en-US" altLang="ja-JP" i="1" dirty="0" err="1"/>
                  <a:t>Kullback</a:t>
                </a:r>
                <a:r>
                  <a:rPr lang="en-US" altLang="ja-JP" i="1" dirty="0"/>
                  <a:t>-Leibler divergence :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F(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)=</a:t>
                </a:r>
                <a:r>
                  <a:rPr lang="el-GR" altLang="ja-JP" dirty="0"/>
                  <a:t>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-25000" dirty="0"/>
                  <a:t> </a:t>
                </a:r>
                <a:r>
                  <a:rPr lang="en-US" altLang="ja-JP" dirty="0"/>
                  <a:t>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) with </a:t>
                </a:r>
                <a:r>
                  <a:rPr lang="el-GR" altLang="ja-JP" dirty="0"/>
                  <a:t>Θ</a:t>
                </a:r>
                <a:r>
                  <a:rPr lang="en-US" altLang="ja-JP" dirty="0"/>
                  <a:t>=</a:t>
                </a:r>
                <a:r>
                  <a:rPr lang="ja-JP" altLang="ja-JP" dirty="0"/>
                  <a:t>Δ</a:t>
                </a:r>
                <a:r>
                  <a:rPr lang="en-US" altLang="ja-JP" baseline="30000" dirty="0"/>
                  <a:t>d </a:t>
                </a:r>
                <a:r>
                  <a:rPr lang="en-US" altLang="ja-JP" dirty="0"/>
                  <a:t>(standard/probability simplex)</a:t>
                </a:r>
              </a:p>
              <a:p>
                <a:pPr marL="0" indent="0">
                  <a:buNone/>
                </a:pPr>
                <a:r>
                  <a:rPr lang="el-GR" altLang="ja-JP" sz="2600" dirty="0"/>
                  <a:t>∇</a:t>
                </a:r>
                <a:r>
                  <a:rPr lang="en-US" altLang="ja-JP" sz="2600" dirty="0"/>
                  <a:t>F(</a:t>
                </a:r>
                <a:r>
                  <a:rPr lang="el-GR" altLang="ja-JP" sz="2600" dirty="0"/>
                  <a:t>θ</a:t>
                </a:r>
                <a:r>
                  <a:rPr lang="en-US" altLang="ja-JP" sz="2600" dirty="0"/>
                  <a:t>)= [log(</a:t>
                </a:r>
                <a:r>
                  <a:rPr lang="el-GR" altLang="ja-JP" sz="2600" dirty="0"/>
                  <a:t>θ</a:t>
                </a:r>
                <a:r>
                  <a:rPr lang="en-US" altLang="ja-JP" sz="2600" baseline="-25000" dirty="0" err="1"/>
                  <a:t>i</a:t>
                </a:r>
                <a:r>
                  <a:rPr lang="en-US" altLang="ja-JP" sz="2600" dirty="0"/>
                  <a:t>)-</a:t>
                </a:r>
                <a:r>
                  <a:rPr lang="el-GR" altLang="ja-JP" sz="2600" dirty="0"/>
                  <a:t> θ</a:t>
                </a:r>
                <a:r>
                  <a:rPr lang="en-US" altLang="ja-JP" sz="2600" baseline="-25000" dirty="0" err="1"/>
                  <a:t>i</a:t>
                </a:r>
                <a:r>
                  <a:rPr lang="en-US" altLang="ja-JP" sz="2600" dirty="0"/>
                  <a:t>]</a:t>
                </a:r>
                <a:r>
                  <a:rPr lang="en-US" altLang="ja-JP" sz="2600" baseline="-25000" dirty="0" err="1"/>
                  <a:t>i</a:t>
                </a:r>
                <a:endParaRPr lang="en-US" altLang="ja-JP" sz="2600" baseline="-25000" dirty="0"/>
              </a:p>
              <a:p>
                <a:pPr marL="0" indent="0">
                  <a:buNone/>
                </a:pPr>
                <a:r>
                  <a:rPr lang="en-US" altLang="ja-JP" dirty="0"/>
                  <a:t>B</a:t>
                </a:r>
                <a:r>
                  <a:rPr lang="en-US" altLang="ja-JP" baseline="-25000" dirty="0"/>
                  <a:t>F</a:t>
                </a:r>
                <a:r>
                  <a:rPr lang="en-US" altLang="ja-JP" dirty="0"/>
                  <a:t>(</a:t>
                </a:r>
                <a:r>
                  <a:rPr lang="el-GR" altLang="ja-JP" dirty="0"/>
                  <a:t>θ 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=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</a:t>
                </a:r>
                <a:r>
                  <a:rPr lang="en-US" altLang="ja-JP" dirty="0">
                    <a:solidFill>
                      <a:srgbClr val="202124"/>
                    </a:solidFill>
                  </a:rPr>
                  <a:t>{ 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-25000" dirty="0"/>
                  <a:t> </a:t>
                </a:r>
                <a:r>
                  <a:rPr lang="en-US" altLang="ja-JP" dirty="0"/>
                  <a:t>log(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/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+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’-</a:t>
                </a:r>
                <a:r>
                  <a:rPr lang="el-GR" altLang="ja-JP" dirty="0"/>
                  <a:t>θ</a:t>
                </a:r>
                <a:r>
                  <a:rPr lang="en-US" altLang="ja-JP" baseline="-25000" dirty="0" err="1"/>
                  <a:t>i</a:t>
                </a:r>
                <a:r>
                  <a:rPr lang="en-US" altLang="ja-JP" baseline="30000" dirty="0"/>
                  <a:t>   </a:t>
                </a:r>
                <a:r>
                  <a:rPr lang="en-US" altLang="ja-JP" dirty="0"/>
                  <a:t>} =</a:t>
                </a:r>
                <a:r>
                  <a:rPr lang="en-US" altLang="ja-JP" baseline="30000" dirty="0"/>
                  <a:t>  </a:t>
                </a:r>
                <a:r>
                  <a:rPr lang="el-GR" altLang="ja-JP" dirty="0">
                    <a:solidFill>
                      <a:schemeClr val="accent2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chemeClr val="accent2"/>
                    </a:solidFill>
                  </a:rPr>
                  <a:t>i</a:t>
                </a:r>
                <a:r>
                  <a:rPr lang="el-GR" altLang="ja-JP" dirty="0">
                    <a:solidFill>
                      <a:schemeClr val="accent2"/>
                    </a:solidFill>
                  </a:rPr>
                  <a:t> θ</a:t>
                </a:r>
                <a:r>
                  <a:rPr lang="en-US" altLang="ja-JP" baseline="-250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altLang="ja-JP" baseline="-25000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log(</a:t>
                </a:r>
                <a:r>
                  <a:rPr lang="el-GR" altLang="ja-JP" dirty="0">
                    <a:solidFill>
                      <a:schemeClr val="accent2"/>
                    </a:solidFill>
                  </a:rPr>
                  <a:t>θ</a:t>
                </a:r>
                <a:r>
                  <a:rPr lang="en-US" altLang="ja-JP" baseline="-250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/</a:t>
                </a:r>
                <a:r>
                  <a:rPr lang="el-GR" altLang="ja-JP" dirty="0">
                    <a:solidFill>
                      <a:schemeClr val="accent2"/>
                    </a:solidFill>
                  </a:rPr>
                  <a:t> θ</a:t>
                </a:r>
                <a:r>
                  <a:rPr lang="en-US" altLang="ja-JP" baseline="-250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altLang="ja-JP" baseline="30000" dirty="0">
                    <a:solidFill>
                      <a:schemeClr val="accent2"/>
                    </a:solidFill>
                  </a:rPr>
                  <a:t>’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= KL(</a:t>
                </a:r>
                <a:r>
                  <a:rPr lang="el-GR" altLang="ja-JP" dirty="0"/>
                  <a:t>θ</a:t>
                </a:r>
                <a:r>
                  <a:rPr lang="en-US" altLang="ja-JP" baseline="-25000" dirty="0"/>
                  <a:t>i</a:t>
                </a:r>
                <a:r>
                  <a:rPr lang="en-US" altLang="ja-JP" dirty="0"/>
                  <a:t>:</a:t>
                </a:r>
                <a:r>
                  <a:rPr lang="el-GR" altLang="ja-JP" dirty="0"/>
                  <a:t> θ</a:t>
                </a:r>
                <a:r>
                  <a:rPr lang="en-US" altLang="ja-JP" baseline="30000" dirty="0"/>
                  <a:t>’</a:t>
                </a:r>
                <a:r>
                  <a:rPr lang="en-US" altLang="ja-JP" dirty="0"/>
                  <a:t>)  since 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=</a:t>
                </a:r>
                <a:r>
                  <a:rPr lang="el-GR" altLang="ja-JP" dirty="0">
                    <a:solidFill>
                      <a:srgbClr val="202124"/>
                    </a:solidFill>
                  </a:rPr>
                  <a:t> Σ</a:t>
                </a:r>
                <a:r>
                  <a:rPr lang="en-US" altLang="ja-JP" baseline="-25000" dirty="0" err="1">
                    <a:solidFill>
                      <a:srgbClr val="202124"/>
                    </a:solidFill>
                  </a:rPr>
                  <a:t>i</a:t>
                </a:r>
                <a:r>
                  <a:rPr lang="el-GR" altLang="ja-JP" dirty="0"/>
                  <a:t> θ</a:t>
                </a:r>
                <a:r>
                  <a:rPr lang="en-US" altLang="ja-JP" baseline="-25000" dirty="0" err="1"/>
                  <a:t>i</a:t>
                </a:r>
                <a:r>
                  <a:rPr lang="en-US" altLang="ja-JP" dirty="0"/>
                  <a:t>’=1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DFFD1-A390-6667-424D-9967E702F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492213"/>
                <a:ext cx="11798710" cy="5380252"/>
              </a:xfr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4CF7679-F86F-62C2-2FDD-6FF534ED01DD}"/>
              </a:ext>
            </a:extLst>
          </p:cNvPr>
          <p:cNvSpPr txBox="1"/>
          <p:nvPr/>
        </p:nvSpPr>
        <p:spPr>
          <a:xfrm>
            <a:off x="1452718" y="1147278"/>
            <a:ext cx="10011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/>
              <a:t>B</a:t>
            </a:r>
            <a:r>
              <a:rPr lang="en-US" altLang="ja-JP" sz="2800" baseline="-25000" dirty="0"/>
              <a:t>F</a:t>
            </a:r>
            <a:r>
              <a:rPr lang="en-US" altLang="ja-JP" sz="2800" dirty="0"/>
              <a:t>(</a:t>
            </a:r>
            <a:r>
              <a:rPr lang="el-GR" altLang="ja-JP" sz="2800" dirty="0"/>
              <a:t>θ</a:t>
            </a:r>
            <a:r>
              <a:rPr lang="en-US" altLang="ja-JP" sz="2800" baseline="-25000" dirty="0"/>
              <a:t>1</a:t>
            </a:r>
            <a:r>
              <a:rPr lang="el-GR" altLang="ja-JP" sz="2800" dirty="0"/>
              <a:t> </a:t>
            </a:r>
            <a:r>
              <a:rPr lang="en-US" altLang="ja-JP" sz="2800" dirty="0"/>
              <a:t>:</a:t>
            </a:r>
            <a:r>
              <a:rPr lang="el-GR" altLang="ja-JP" sz="2800" dirty="0"/>
              <a:t> θ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) = F(</a:t>
            </a:r>
            <a:r>
              <a:rPr lang="el-GR" altLang="ja-JP" sz="2800" dirty="0"/>
              <a:t>θ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) - F(</a:t>
            </a:r>
            <a:r>
              <a:rPr lang="el-GR" altLang="ja-JP" sz="2800" dirty="0"/>
              <a:t>θ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) - &lt;</a:t>
            </a:r>
            <a:r>
              <a:rPr lang="el-GR" altLang="ja-JP" sz="2800" dirty="0"/>
              <a:t> θ</a:t>
            </a:r>
            <a:r>
              <a:rPr lang="en-US" altLang="ja-JP" sz="2800" baseline="-25000" dirty="0"/>
              <a:t>1</a:t>
            </a:r>
            <a:r>
              <a:rPr lang="el-GR" altLang="ja-JP" sz="2800" dirty="0"/>
              <a:t> </a:t>
            </a:r>
            <a:r>
              <a:rPr lang="en-US" altLang="ja-JP" sz="2800" dirty="0"/>
              <a:t>-</a:t>
            </a:r>
            <a:r>
              <a:rPr lang="el-GR" altLang="ja-JP" sz="2800" dirty="0"/>
              <a:t> θ</a:t>
            </a:r>
            <a:r>
              <a:rPr lang="en-US" altLang="ja-JP" sz="2800" baseline="-25000" dirty="0"/>
              <a:t>2 ,</a:t>
            </a:r>
            <a:r>
              <a:rPr lang="el-GR" altLang="ja-JP" sz="2800" dirty="0"/>
              <a:t> ∇</a:t>
            </a:r>
            <a:r>
              <a:rPr lang="en-US" altLang="ja-JP" sz="2800" dirty="0"/>
              <a:t>F(</a:t>
            </a:r>
            <a:r>
              <a:rPr lang="el-GR" altLang="ja-JP" sz="2800" dirty="0"/>
              <a:t>θ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)</a:t>
            </a:r>
            <a:r>
              <a:rPr lang="en-US" altLang="ja-JP" sz="2800" baseline="-25000" dirty="0"/>
              <a:t> </a:t>
            </a:r>
            <a:r>
              <a:rPr lang="en-US" altLang="ja-JP" sz="2800" dirty="0"/>
              <a:t>&gt; </a:t>
            </a:r>
            <a:endParaRPr lang="ja-JP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D1F84-D1F5-CFC5-0629-F75A654F595E}"/>
              </a:ext>
            </a:extLst>
          </p:cNvPr>
          <p:cNvSpPr txBox="1"/>
          <p:nvPr/>
        </p:nvSpPr>
        <p:spPr>
          <a:xfrm>
            <a:off x="6703307" y="2472841"/>
            <a:ext cx="497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0000FF"/>
                </a:solidFill>
              </a:rPr>
              <a:t>Computational geometry L</a:t>
            </a:r>
            <a:r>
              <a:rPr kumimoji="1" lang="en-US" altLang="ja-JP" sz="2800" baseline="-25000" dirty="0">
                <a:solidFill>
                  <a:srgbClr val="0000FF"/>
                </a:solidFill>
              </a:rPr>
              <a:t>2</a:t>
            </a:r>
            <a:r>
              <a:rPr kumimoji="1" lang="en-US" altLang="ja-JP" sz="2800" baseline="30000" dirty="0">
                <a:solidFill>
                  <a:srgbClr val="0000FF"/>
                </a:solidFill>
              </a:rPr>
              <a:t>2</a:t>
            </a:r>
            <a:endParaRPr kumimoji="1" lang="ja-JP" altLang="en-US" sz="2800" baseline="30000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592B4-6FD0-5DA2-0475-1FFBC3CFD866}"/>
              </a:ext>
            </a:extLst>
          </p:cNvPr>
          <p:cNvSpPr txBox="1"/>
          <p:nvPr/>
        </p:nvSpPr>
        <p:spPr>
          <a:xfrm>
            <a:off x="7836994" y="6214015"/>
            <a:ext cx="3738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0000FF"/>
                </a:solidFill>
              </a:rPr>
              <a:t>Information geometry</a:t>
            </a:r>
            <a:endParaRPr kumimoji="1" lang="ja-JP" altLang="en-US" sz="2800" baseline="30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64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4A84-DA39-775C-5820-4824F55F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53" y="112392"/>
            <a:ext cx="12609744" cy="964422"/>
          </a:xfrm>
        </p:spPr>
        <p:txBody>
          <a:bodyPr>
            <a:normAutofit/>
          </a:bodyPr>
          <a:lstStyle/>
          <a:p>
            <a:r>
              <a:rPr kumimoji="1" lang="en-US" altLang="ja-JP" sz="3600" b="1" dirty="0">
                <a:solidFill>
                  <a:srgbClr val="0000FF"/>
                </a:solidFill>
              </a:rPr>
              <a:t>Bregman divergences are the workhorses </a:t>
            </a:r>
            <a:r>
              <a:rPr lang="en-US" altLang="ja-JP" sz="3600" b="1" dirty="0">
                <a:solidFill>
                  <a:srgbClr val="0000FF"/>
                </a:solidFill>
              </a:rPr>
              <a:t>in ML and AI</a:t>
            </a:r>
            <a:endParaRPr kumimoji="1" lang="ja-JP" altLang="en-US" sz="3600" b="1" dirty="0">
              <a:solidFill>
                <a:srgbClr val="0000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27C65-7909-924F-6AEC-75320B670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599" y="834341"/>
            <a:ext cx="6399693" cy="58755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FCD7DC-AF68-C1AA-8686-98C47BD73BF8}"/>
              </a:ext>
            </a:extLst>
          </p:cNvPr>
          <p:cNvSpPr/>
          <p:nvPr/>
        </p:nvSpPr>
        <p:spPr>
          <a:xfrm>
            <a:off x="9721056" y="1943519"/>
            <a:ext cx="1633060" cy="53848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EAE2B-63D7-6EAC-11C3-E105C506E17F}"/>
              </a:ext>
            </a:extLst>
          </p:cNvPr>
          <p:cNvSpPr/>
          <p:nvPr/>
        </p:nvSpPr>
        <p:spPr>
          <a:xfrm>
            <a:off x="6748041" y="5022230"/>
            <a:ext cx="1559996" cy="4974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685CE1-F666-CB83-C985-3FCD5119E319}"/>
              </a:ext>
            </a:extLst>
          </p:cNvPr>
          <p:cNvSpPr txBox="1">
            <a:spLocks/>
          </p:cNvSpPr>
          <p:nvPr/>
        </p:nvSpPr>
        <p:spPr>
          <a:xfrm>
            <a:off x="-275971" y="2273247"/>
            <a:ext cx="6585995" cy="2997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200" b="1" dirty="0"/>
              <a:t>This talk describes </a:t>
            </a:r>
          </a:p>
          <a:p>
            <a:pPr algn="ctr"/>
            <a:r>
              <a:rPr lang="en-US" altLang="ja-JP" sz="3200" b="1" dirty="0"/>
              <a:t>two connections  of </a:t>
            </a:r>
          </a:p>
          <a:p>
            <a:pPr algn="ctr"/>
            <a:r>
              <a:rPr lang="en-US" altLang="ja-JP" sz="3200" b="1" dirty="0"/>
              <a:t>Bregman divergences with computational geometry:</a:t>
            </a:r>
          </a:p>
          <a:p>
            <a:pPr algn="ctr"/>
            <a:endParaRPr lang="en-US" altLang="ja-JP" sz="3200" b="1" dirty="0"/>
          </a:p>
          <a:p>
            <a:pPr marL="514350" indent="-514350" algn="ctr">
              <a:buFont typeface="+mj-lt"/>
              <a:buAutoNum type="arabicPeriod"/>
            </a:pPr>
            <a:r>
              <a:rPr lang="en-US" altLang="ja-JP" sz="3200" b="1" dirty="0"/>
              <a:t>Power distances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altLang="ja-JP" sz="3200" b="1" dirty="0"/>
              <a:t>Quadratic Polarities</a:t>
            </a:r>
            <a:endParaRPr lang="ja-JP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5D5A6-72A3-E39A-1213-70E878FA42B5}"/>
              </a:ext>
            </a:extLst>
          </p:cNvPr>
          <p:cNvSpPr txBox="1"/>
          <p:nvPr/>
        </p:nvSpPr>
        <p:spPr>
          <a:xfrm>
            <a:off x="10825920" y="6099277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Ecosystem</a:t>
            </a:r>
          </a:p>
          <a:p>
            <a:r>
              <a:rPr lang="en-US" altLang="ja-JP" dirty="0"/>
              <a:t>of dualities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608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46BA-1D97-5E4E-12CB-085DEB73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2A6C-D5D1-8B5C-2062-E527CFD3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18255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Dual Bregman/Fenchel-Young divergences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67ACD1-8EC4-263C-DD67-E762746F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24" y="1414180"/>
            <a:ext cx="11845317" cy="5443820"/>
          </a:xfrm>
        </p:spPr>
        <p:txBody>
          <a:bodyPr>
            <a:normAutofit fontScale="85000" lnSpcReduction="20000"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Gradient map </a:t>
            </a:r>
            <a:r>
              <a:rPr lang="el-GR" altLang="ja-JP" dirty="0"/>
              <a:t>∇</a:t>
            </a:r>
            <a:r>
              <a:rPr lang="en-US" altLang="ja-JP" dirty="0"/>
              <a:t>F yields </a:t>
            </a:r>
            <a:r>
              <a:rPr lang="en-US" altLang="ja-JP" b="1" dirty="0">
                <a:solidFill>
                  <a:srgbClr val="FF0000"/>
                </a:solidFill>
              </a:rPr>
              <a:t>dual parameterization </a:t>
            </a:r>
          </a:p>
          <a:p>
            <a:pPr marL="0" indent="0">
              <a:buNone/>
            </a:pPr>
            <a:r>
              <a:rPr lang="en-US" altLang="ja-JP" dirty="0"/>
              <a:t>                                                      </a:t>
            </a:r>
            <a:r>
              <a:rPr lang="el-GR" altLang="ja-JP" dirty="0"/>
              <a:t>η</a:t>
            </a:r>
            <a:r>
              <a:rPr lang="en-US" altLang="ja-JP" dirty="0"/>
              <a:t>=</a:t>
            </a:r>
            <a:r>
              <a:rPr lang="el-GR" altLang="ja-JP" dirty="0"/>
              <a:t> ∇</a:t>
            </a:r>
            <a:r>
              <a:rPr lang="en-US" altLang="ja-JP" dirty="0"/>
              <a:t>F (</a:t>
            </a:r>
            <a:r>
              <a:rPr lang="el-GR" altLang="ja-JP" dirty="0"/>
              <a:t>θ</a:t>
            </a:r>
            <a:r>
              <a:rPr lang="en-US" altLang="ja-JP" dirty="0"/>
              <a:t>)</a:t>
            </a:r>
          </a:p>
          <a:p>
            <a:endParaRPr lang="en-US" altLang="ja-JP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ja-JP" b="1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ja-JP" dirty="0"/>
              <a:t>Build the </a:t>
            </a:r>
            <a:r>
              <a:rPr lang="en-US" altLang="ja-JP" sz="2800" b="1" dirty="0">
                <a:solidFill>
                  <a:srgbClr val="FF0000"/>
                </a:solidFill>
              </a:rPr>
              <a:t>Fenchel-Young divergence </a:t>
            </a:r>
            <a:r>
              <a:rPr lang="en-US" altLang="ja-JP" sz="2800" dirty="0"/>
              <a:t>from Young inequality: 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  F (</a:t>
            </a:r>
            <a:r>
              <a:rPr lang="el-GR" altLang="ja-JP" dirty="0">
                <a:solidFill>
                  <a:schemeClr val="accent2"/>
                </a:solidFill>
              </a:rPr>
              <a:t>θ</a:t>
            </a:r>
            <a:r>
              <a:rPr lang="en-US" altLang="ja-JP" baseline="-25000" dirty="0">
                <a:solidFill>
                  <a:schemeClr val="accent2"/>
                </a:solidFill>
              </a:rPr>
              <a:t>1</a:t>
            </a:r>
            <a:r>
              <a:rPr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)  </a:t>
            </a:r>
            <a:r>
              <a:rPr lang="ja-JP" altLang="en-US" dirty="0">
                <a:solidFill>
                  <a:schemeClr val="accent2"/>
                </a:solidFill>
                <a:latin typeface="Source Sans Pro" panose="020B0503030403020204" pitchFamily="34" charset="0"/>
              </a:rPr>
              <a:t>≥   </a:t>
            </a:r>
            <a:r>
              <a:rPr lang="en-US" altLang="ja-JP" dirty="0">
                <a:solidFill>
                  <a:schemeClr val="accent2"/>
                </a:solidFill>
              </a:rPr>
              <a:t>&lt;</a:t>
            </a:r>
            <a:r>
              <a:rPr lang="el-GR" altLang="ja-JP" dirty="0">
                <a:solidFill>
                  <a:schemeClr val="accent2"/>
                </a:solidFill>
              </a:rPr>
              <a:t> θ</a:t>
            </a:r>
            <a:r>
              <a:rPr lang="en-US" altLang="ja-JP" baseline="-25000" dirty="0">
                <a:solidFill>
                  <a:schemeClr val="accent2"/>
                </a:solidFill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en-US" altLang="ja-JP" sz="2800" dirty="0"/>
              <a:t> </a:t>
            </a:r>
            <a:r>
              <a:rPr kumimoji="1" lang="en-US" altLang="ja-JP" dirty="0"/>
              <a:t>           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accent2"/>
                </a:solidFill>
              </a:rPr>
              <a:t>                                               Y</a:t>
            </a:r>
            <a:r>
              <a:rPr kumimoji="1" lang="en-US" altLang="ja-JP" baseline="-25000" dirty="0">
                <a:solidFill>
                  <a:schemeClr val="accent2"/>
                </a:solidFill>
              </a:rPr>
              <a:t>F, F*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= F 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 + 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- 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ja-JP" altLang="en-US" sz="2800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  </a:t>
            </a:r>
            <a:r>
              <a:rPr lang="ja-JP" altLang="en-US" sz="2800" i="0" dirty="0">
                <a:effectLst/>
                <a:latin typeface="Source Sans Pro" panose="020B0503030403020204" pitchFamily="34" charset="0"/>
              </a:rPr>
              <a:t>≥ </a:t>
            </a:r>
            <a:r>
              <a:rPr lang="en-US" altLang="ja-JP" sz="2800" i="0" dirty="0">
                <a:effectLst/>
                <a:latin typeface="Source Sans Pro" panose="020B0503030403020204" pitchFamily="34" charset="0"/>
              </a:rPr>
              <a:t>0</a:t>
            </a:r>
          </a:p>
          <a:p>
            <a:pPr marL="0" indent="0">
              <a:buNone/>
            </a:pPr>
            <a:endParaRPr lang="en-US" altLang="ja-JP" dirty="0">
              <a:solidFill>
                <a:srgbClr val="FF0000"/>
              </a:solidFill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en-US" altLang="ja-JP" dirty="0">
              <a:solidFill>
                <a:srgbClr val="FF0000"/>
              </a:solidFill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en-US" altLang="ja-JP" dirty="0">
              <a:solidFill>
                <a:srgbClr val="FF0000"/>
              </a:solidFill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ja-JP" dirty="0"/>
              <a:t>         where F* is the Legendre-Fenchel transform of F: 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                     F*(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= sup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l-GR" altLang="ja-JP" baseline="-25000" dirty="0">
                <a:solidFill>
                  <a:schemeClr val="accent2"/>
                </a:solidFill>
              </a:rPr>
              <a:t>θ ∈ ϴ</a:t>
            </a:r>
            <a:r>
              <a:rPr lang="en-US" altLang="ja-JP" baseline="-25000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{&lt;</a:t>
            </a:r>
            <a:r>
              <a:rPr lang="el-GR" altLang="ja-JP" dirty="0">
                <a:solidFill>
                  <a:schemeClr val="accent2"/>
                </a:solidFill>
              </a:rPr>
              <a:t> θ</a:t>
            </a:r>
            <a:r>
              <a:rPr lang="en-US" altLang="ja-JP" dirty="0">
                <a:solidFill>
                  <a:schemeClr val="accent2"/>
                </a:solidFill>
              </a:rPr>
              <a:t>,</a:t>
            </a:r>
            <a:r>
              <a:rPr lang="el-GR" altLang="ja-JP" dirty="0">
                <a:solidFill>
                  <a:schemeClr val="accent2"/>
                </a:solidFill>
              </a:rPr>
              <a:t> η </a:t>
            </a:r>
            <a:r>
              <a:rPr lang="en-US" altLang="ja-JP" dirty="0">
                <a:solidFill>
                  <a:schemeClr val="accent2"/>
                </a:solidFill>
              </a:rPr>
              <a:t>&gt;-F(</a:t>
            </a:r>
            <a:r>
              <a:rPr lang="el-GR" altLang="ja-JP" dirty="0">
                <a:solidFill>
                  <a:schemeClr val="accent2"/>
                </a:solidFill>
              </a:rPr>
              <a:t>θ</a:t>
            </a:r>
            <a:r>
              <a:rPr lang="en-US" altLang="ja-JP" dirty="0">
                <a:solidFill>
                  <a:schemeClr val="accent2"/>
                </a:solidFill>
              </a:rPr>
              <a:t>)}</a:t>
            </a:r>
          </a:p>
          <a:p>
            <a:pPr marL="0" indent="0">
              <a:buNone/>
            </a:pPr>
            <a:r>
              <a:rPr lang="en-US" altLang="ja-JP" dirty="0"/>
              <a:t>			    with  </a:t>
            </a:r>
            <a:r>
              <a:rPr lang="el-GR" altLang="ja-JP" dirty="0"/>
              <a:t>θ</a:t>
            </a:r>
            <a:r>
              <a:rPr lang="en-US" altLang="ja-JP" dirty="0"/>
              <a:t>=</a:t>
            </a:r>
            <a:r>
              <a:rPr lang="el-GR" altLang="ja-JP" dirty="0"/>
              <a:t>∇</a:t>
            </a:r>
            <a:r>
              <a:rPr lang="en-US" altLang="ja-JP" dirty="0"/>
              <a:t>F</a:t>
            </a:r>
            <a:r>
              <a:rPr lang="en-US" altLang="ja-JP" baseline="30000" dirty="0"/>
              <a:t>-1 </a:t>
            </a:r>
            <a:r>
              <a:rPr lang="en-US" altLang="ja-JP" dirty="0"/>
              <a:t>(</a:t>
            </a:r>
            <a:r>
              <a:rPr lang="el-GR" altLang="ja-JP" dirty="0"/>
              <a:t>η</a:t>
            </a:r>
            <a:r>
              <a:rPr lang="en-US" altLang="ja-JP" dirty="0"/>
              <a:t>)=</a:t>
            </a:r>
            <a:r>
              <a:rPr lang="el-GR" altLang="ja-JP" dirty="0"/>
              <a:t>∇</a:t>
            </a:r>
            <a:r>
              <a:rPr lang="en-US" altLang="ja-JP" dirty="0"/>
              <a:t>F* (</a:t>
            </a:r>
            <a:r>
              <a:rPr lang="el-GR" altLang="ja-JP" dirty="0"/>
              <a:t>η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C617003-D87B-F47B-D1D0-41ABEE00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1CF226C-95D4-40B8-9E1A-366D2434025F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D7CFB-E1A3-A3FC-E898-83404F07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103" y="4272339"/>
            <a:ext cx="8243962" cy="80717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9EE90-78E4-E673-20D4-1A5263EF9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170914"/>
            <a:ext cx="3326841" cy="17652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AAD04E-4C91-39C9-89DB-E8C089DDAB33}"/>
              </a:ext>
            </a:extLst>
          </p:cNvPr>
          <p:cNvSpPr/>
          <p:nvPr/>
        </p:nvSpPr>
        <p:spPr>
          <a:xfrm>
            <a:off x="2192103" y="4378372"/>
            <a:ext cx="8243962" cy="67282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44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341F-7EE6-1475-1032-1BD4343F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2293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Bregman divergences as power distances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2D40E-B402-6FA2-D4B5-0437327DD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721" y="1767313"/>
            <a:ext cx="5863249" cy="851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9D1F27-0842-796B-49EF-C93C24424140}"/>
              </a:ext>
            </a:extLst>
          </p:cNvPr>
          <p:cNvSpPr txBox="1"/>
          <p:nvPr/>
        </p:nvSpPr>
        <p:spPr>
          <a:xfrm>
            <a:off x="940546" y="1828351"/>
            <a:ext cx="3470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Then </a:t>
            </a:r>
            <a:r>
              <a:rPr lang="en-US" altLang="ja-JP" sz="3200" dirty="0"/>
              <a:t>u</a:t>
            </a:r>
            <a:r>
              <a:rPr kumimoji="1" lang="en-US" altLang="ja-JP" sz="3200" dirty="0"/>
              <a:t>se identity</a:t>
            </a:r>
            <a:endParaRPr kumimoji="1" lang="ja-JP" alt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A3808C-77BA-3F88-44A6-A0FB485F5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08" y="1150828"/>
            <a:ext cx="4945513" cy="565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0091F3-7435-C42D-16BE-E8DCB24E6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267" y="3722192"/>
            <a:ext cx="5781675" cy="962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575D11-366B-DED2-C6EA-0FA769903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297" y="2652148"/>
            <a:ext cx="6581775" cy="1000125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DCCB8E-E7DE-ADE7-AC5E-1BF70748F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76" y="5996885"/>
            <a:ext cx="4143375" cy="647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83A9A5-CF25-4ACE-3147-1AEC24EC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4364" y="6006640"/>
            <a:ext cx="4400550" cy="6572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D16F32-38BC-B2E5-B2F7-7E53EAFA1C59}"/>
              </a:ext>
            </a:extLst>
          </p:cNvPr>
          <p:cNvSpPr txBox="1"/>
          <p:nvPr/>
        </p:nvSpPr>
        <p:spPr>
          <a:xfrm>
            <a:off x="1220599" y="3829950"/>
            <a:ext cx="327846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Power distance</a:t>
            </a:r>
          </a:p>
          <a:p>
            <a:pPr algn="ctr"/>
            <a:r>
              <a:rPr lang="en-US" altLang="ja-JP" sz="2000" b="1" dirty="0"/>
              <a:t>(signed measure)</a:t>
            </a:r>
            <a:endParaRPr kumimoji="1" lang="ja-JP" altLang="en-US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4E14C-1096-78E0-9C9F-50AD806E50E4}"/>
              </a:ext>
            </a:extLst>
          </p:cNvPr>
          <p:cNvSpPr txBox="1"/>
          <p:nvPr/>
        </p:nvSpPr>
        <p:spPr>
          <a:xfrm>
            <a:off x="406891" y="5287288"/>
            <a:ext cx="10934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Weighted points expressed in </a:t>
            </a:r>
            <a:r>
              <a:rPr kumimoji="1" lang="en-US" altLang="ja-JP" sz="3200" b="1" dirty="0">
                <a:solidFill>
                  <a:srgbClr val="FF0000"/>
                </a:solidFill>
              </a:rPr>
              <a:t>mixed parameterizations</a:t>
            </a:r>
            <a:r>
              <a:rPr kumimoji="1" lang="en-US" altLang="ja-JP" sz="3200" dirty="0"/>
              <a:t>:</a:t>
            </a:r>
            <a:endParaRPr kumimoji="1" lang="ja-JP" altLang="en-US" sz="3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139C24-29C8-7F56-6137-0876143E0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242" y="4645911"/>
            <a:ext cx="1415517" cy="4462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18DF1D6-7194-29F0-EE06-1A60D4D439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9316" y="4632750"/>
            <a:ext cx="1645626" cy="5020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E975D4-1BB8-1579-B5E5-3FF284FA6A82}"/>
              </a:ext>
            </a:extLst>
          </p:cNvPr>
          <p:cNvSpPr txBox="1"/>
          <p:nvPr/>
        </p:nvSpPr>
        <p:spPr>
          <a:xfrm>
            <a:off x="10358242" y="6300394"/>
            <a:ext cx="1541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2607.24197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CBD3F-CCAB-FBE4-2865-988A58255B3F}"/>
              </a:ext>
            </a:extLst>
          </p:cNvPr>
          <p:cNvSpPr txBox="1"/>
          <p:nvPr/>
        </p:nvSpPr>
        <p:spPr>
          <a:xfrm>
            <a:off x="0" y="1128807"/>
            <a:ext cx="6933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BD from Fenchel-Young divergence</a:t>
            </a:r>
            <a:endParaRPr kumimoji="1" lang="ja-JP" alt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0D3C9-6D15-E46E-D850-DDEF0B8D5A24}"/>
              </a:ext>
            </a:extLst>
          </p:cNvPr>
          <p:cNvSpPr txBox="1"/>
          <p:nvPr/>
        </p:nvSpPr>
        <p:spPr>
          <a:xfrm>
            <a:off x="1081939" y="2940961"/>
            <a:ext cx="3555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a</a:t>
            </a:r>
            <a:r>
              <a:rPr kumimoji="1" lang="en-US" altLang="ja-JP" sz="3200" dirty="0"/>
              <a:t>nd get BD as PD</a:t>
            </a:r>
            <a:endParaRPr kumimoji="1" lang="ja-JP" altLang="en-US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9F2612-FF26-1605-A647-DE416033D874}"/>
              </a:ext>
            </a:extLst>
          </p:cNvPr>
          <p:cNvSpPr/>
          <p:nvPr/>
        </p:nvSpPr>
        <p:spPr>
          <a:xfrm>
            <a:off x="4783751" y="2619043"/>
            <a:ext cx="7207621" cy="133234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57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97AE-922B-E90C-182C-F972C19D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-96991"/>
            <a:ext cx="1166843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Bregman divergences as power distances: CG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0ADCC-BC5C-43D6-F65D-4C9A87F42C55}"/>
              </a:ext>
            </a:extLst>
          </p:cNvPr>
          <p:cNvSpPr txBox="1"/>
          <p:nvPr/>
        </p:nvSpPr>
        <p:spPr>
          <a:xfrm>
            <a:off x="675806" y="920481"/>
            <a:ext cx="1148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FF0000"/>
                </a:solidFill>
              </a:rPr>
              <a:t>Use </a:t>
            </a:r>
            <a:r>
              <a:rPr lang="en-US" altLang="ja-JP" sz="2800" b="1" dirty="0">
                <a:solidFill>
                  <a:srgbClr val="FF0000"/>
                </a:solidFill>
              </a:rPr>
              <a:t>toolbox of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computational geometry in information geometry!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BA315-F238-4A33-3F78-8794AB1CC1EF}"/>
              </a:ext>
            </a:extLst>
          </p:cNvPr>
          <p:cNvSpPr txBox="1"/>
          <p:nvPr/>
        </p:nvSpPr>
        <p:spPr>
          <a:xfrm>
            <a:off x="7535120" y="5166307"/>
            <a:ext cx="4535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a</a:t>
            </a:r>
            <a:r>
              <a:rPr kumimoji="1" lang="en-US" altLang="ja-JP" sz="3200" dirty="0"/>
              <a:t>s</a:t>
            </a:r>
            <a:r>
              <a:rPr lang="en-US" altLang="ja-JP" sz="3200" dirty="0"/>
              <a:t> Power </a:t>
            </a:r>
            <a:r>
              <a:rPr lang="en-US" altLang="ja-JP" sz="3200" dirty="0" err="1"/>
              <a:t>miniball</a:t>
            </a:r>
            <a:r>
              <a:rPr lang="en-US" altLang="ja-JP" sz="3200" dirty="0"/>
              <a:t> in </a:t>
            </a:r>
            <a:r>
              <a:rPr lang="el-GR" altLang="ja-JP" sz="3200" dirty="0">
                <a:solidFill>
                  <a:schemeClr val="accent2"/>
                </a:solidFill>
              </a:rPr>
              <a:t>η</a:t>
            </a:r>
            <a:endParaRPr kumimoji="1" lang="ja-JP" alt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E4406-A5B4-5A7C-1ADB-E54DC1291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979" y="1531828"/>
            <a:ext cx="3721221" cy="3634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3D1B9E-A9A3-FD39-B048-6B57DC7A58DE}"/>
              </a:ext>
            </a:extLst>
          </p:cNvPr>
          <p:cNvSpPr txBox="1"/>
          <p:nvPr/>
        </p:nvSpPr>
        <p:spPr>
          <a:xfrm>
            <a:off x="10764223" y="6573107"/>
            <a:ext cx="1541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2607.24197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7904E-5646-CFBF-5136-46EBA6FAE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36" y="1652206"/>
            <a:ext cx="3941485" cy="3236621"/>
          </a:xfrm>
          <a:prstGeom prst="rect">
            <a:avLst/>
          </a:prstGeom>
        </p:spPr>
      </p:pic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5A619F4-1A6F-32E7-53B3-EB3CE5B83BB8}"/>
              </a:ext>
            </a:extLst>
          </p:cNvPr>
          <p:cNvSpPr/>
          <p:nvPr/>
        </p:nvSpPr>
        <p:spPr>
          <a:xfrm>
            <a:off x="4880830" y="3027061"/>
            <a:ext cx="2654290" cy="1243997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2D9B2-1BDB-BCF8-B3AF-D07668806979}"/>
              </a:ext>
            </a:extLst>
          </p:cNvPr>
          <p:cNvSpPr txBox="1"/>
          <p:nvPr/>
        </p:nvSpPr>
        <p:spPr>
          <a:xfrm>
            <a:off x="675806" y="5088256"/>
            <a:ext cx="6169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200" dirty="0"/>
              <a:t>Bregman </a:t>
            </a:r>
            <a:r>
              <a:rPr kumimoji="1" lang="en-US" altLang="ja-JP" sz="3200" dirty="0" err="1"/>
              <a:t>miniball</a:t>
            </a:r>
            <a:r>
              <a:rPr lang="en-US" altLang="ja-JP" sz="3200" dirty="0"/>
              <a:t> in</a:t>
            </a:r>
            <a:r>
              <a:rPr lang="el-GR" altLang="ja-JP" sz="3200" dirty="0">
                <a:solidFill>
                  <a:schemeClr val="accent2"/>
                </a:solidFill>
              </a:rPr>
              <a:t>θ</a:t>
            </a:r>
            <a:r>
              <a:rPr kumimoji="1" lang="en-US" altLang="ja-JP" sz="3200" dirty="0"/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B6CB97-6F59-F057-2D0E-1D0407DFC020}"/>
              </a:ext>
            </a:extLst>
          </p:cNvPr>
          <p:cNvGrpSpPr/>
          <p:nvPr/>
        </p:nvGrpSpPr>
        <p:grpSpPr>
          <a:xfrm>
            <a:off x="4476596" y="1789952"/>
            <a:ext cx="3618528" cy="752475"/>
            <a:chOff x="4476596" y="1789952"/>
            <a:chExt cx="3618528" cy="7524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3802F4-C44A-A02A-F1BF-835ECB7C3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76596" y="1827012"/>
              <a:ext cx="2019300" cy="6096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4BA78E2-846C-C0D6-93B2-EE2D323A4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8724" y="1789952"/>
              <a:ext cx="1676400" cy="752475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9D405E6-4795-7248-F65A-590B2F7E7432}"/>
              </a:ext>
            </a:extLst>
          </p:cNvPr>
          <p:cNvSpPr txBox="1"/>
          <p:nvPr/>
        </p:nvSpPr>
        <p:spPr>
          <a:xfrm>
            <a:off x="794473" y="5799946"/>
            <a:ext cx="10827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 information theory/ML,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redundancy </a:t>
            </a:r>
            <a:r>
              <a:rPr kumimoji="1" lang="en-US" altLang="ja-JP" sz="2800" dirty="0"/>
              <a:t>measure amounts to BD 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9915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E16D-C8B5-3F03-8DC0-D1C5B49C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D4164D-E22A-99E9-0A39-9AA29BFE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602" y="365125"/>
            <a:ext cx="9020175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A68C6A-4BC8-7460-A480-BD805FF06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4395"/>
            <a:ext cx="12192000" cy="14490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86CCD4-BBC5-ACA1-0038-53A91062D33A}"/>
              </a:ext>
            </a:extLst>
          </p:cNvPr>
          <p:cNvSpPr txBox="1"/>
          <p:nvPr/>
        </p:nvSpPr>
        <p:spPr>
          <a:xfrm>
            <a:off x="7246374" y="6330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Canadian Journal of Mathematics, 1949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1E8D9-5533-C8E2-6D71-0BA8FEB75E33}"/>
              </a:ext>
            </a:extLst>
          </p:cNvPr>
          <p:cNvSpPr/>
          <p:nvPr/>
        </p:nvSpPr>
        <p:spPr>
          <a:xfrm>
            <a:off x="2710995" y="4982624"/>
            <a:ext cx="1328442" cy="53392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80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EF07-2722-A25E-3B64-8C19CCE52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0"/>
            <a:ext cx="1108885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Convex conjugates from quadratic polarities*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ECDC4-BD11-1E7D-DF26-9EEF85AC79FC}"/>
              </a:ext>
            </a:extLst>
          </p:cNvPr>
          <p:cNvSpPr txBox="1"/>
          <p:nvPr/>
        </p:nvSpPr>
        <p:spPr>
          <a:xfrm>
            <a:off x="1153731" y="1085064"/>
            <a:ext cx="10067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*Joint work with Basile Plus-Gourdon and Mahito Sugiyama</a:t>
            </a:r>
            <a:endParaRPr kumimoji="1" lang="ja-JP" alt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AC00B-7E74-5FDF-9757-0293EBF8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91" y="5066661"/>
            <a:ext cx="2997528" cy="1073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19967C-2917-C426-D873-528593278D6E}"/>
              </a:ext>
            </a:extLst>
          </p:cNvPr>
          <p:cNvSpPr txBox="1"/>
          <p:nvPr/>
        </p:nvSpPr>
        <p:spPr>
          <a:xfrm>
            <a:off x="3055819" y="5244725"/>
            <a:ext cx="3079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Legendre polarity</a:t>
            </a:r>
            <a:endParaRPr kumimoji="1" lang="ja-JP" alt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9C6DE-C3F3-E0F7-95FA-1B8DC3B9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8" y="3727993"/>
            <a:ext cx="11816661" cy="12394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792BFC-A63C-63F9-2677-AB30542D5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86" y="2109194"/>
            <a:ext cx="7477125" cy="381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F2A67D-DFFE-7FD2-EF78-6BEB276B70FB}"/>
              </a:ext>
            </a:extLst>
          </p:cNvPr>
          <p:cNvSpPr txBox="1"/>
          <p:nvPr/>
        </p:nvSpPr>
        <p:spPr>
          <a:xfrm>
            <a:off x="227178" y="2038084"/>
            <a:ext cx="3329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Polarity of a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set</a:t>
            </a:r>
            <a:r>
              <a:rPr kumimoji="1" lang="en-US" altLang="ja-JP" sz="2800" dirty="0"/>
              <a:t> A: </a:t>
            </a:r>
            <a:endParaRPr kumimoji="1" lang="ja-JP" altLang="en-US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3172D8-1C3D-B019-4C9F-B7620EB9E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194" y="2729994"/>
            <a:ext cx="2790825" cy="4476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69CA07-60B2-875E-CCFB-E329C18C2139}"/>
              </a:ext>
            </a:extLst>
          </p:cNvPr>
          <p:cNvSpPr txBox="1"/>
          <p:nvPr/>
        </p:nvSpPr>
        <p:spPr>
          <a:xfrm>
            <a:off x="3743786" y="2772915"/>
            <a:ext cx="4312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FF0000"/>
                </a:solidFill>
              </a:rPr>
              <a:t>Quadratic polarity </a:t>
            </a:r>
            <a:r>
              <a:rPr kumimoji="1" lang="en-US" altLang="ja-JP" sz="2800" dirty="0"/>
              <a:t>when</a:t>
            </a:r>
            <a:endParaRPr kumimoji="1" lang="ja-JP" alt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0FB60-B1CB-1273-ABA5-FEC86D91DE0B}"/>
              </a:ext>
            </a:extLst>
          </p:cNvPr>
          <p:cNvSpPr txBox="1"/>
          <p:nvPr/>
        </p:nvSpPr>
        <p:spPr>
          <a:xfrm>
            <a:off x="215223" y="6239659"/>
            <a:ext cx="11761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n-variate function  </a:t>
            </a:r>
            <a:r>
              <a:rPr lang="ja-JP" altLang="ja-JP" sz="2000" dirty="0"/>
              <a:t>→</a:t>
            </a:r>
            <a:r>
              <a:rPr lang="en-US" altLang="ja-JP" sz="2000" dirty="0"/>
              <a:t> Graph (n+1)-dim </a:t>
            </a:r>
            <a:r>
              <a:rPr lang="ja-JP" altLang="ja-JP" sz="2000" dirty="0"/>
              <a:t>→</a:t>
            </a:r>
            <a:r>
              <a:rPr lang="en-US" altLang="ja-JP" sz="2000" dirty="0"/>
              <a:t>  Projective space/homogeneous coordinates (n+2)-dim</a:t>
            </a:r>
            <a:endParaRPr kumimoji="1" lang="ja-JP" alt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7A196F-8E27-1264-B202-ECE0EFF5A4DE}"/>
              </a:ext>
            </a:extLst>
          </p:cNvPr>
          <p:cNvSpPr txBox="1"/>
          <p:nvPr/>
        </p:nvSpPr>
        <p:spPr>
          <a:xfrm>
            <a:off x="227178" y="4493813"/>
            <a:ext cx="277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[Fenchel 1949]</a:t>
            </a:r>
            <a:endParaRPr kumimoji="1" lang="ja-JP" alt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113FC-3E89-83F8-653C-9E222C03EB53}"/>
              </a:ext>
            </a:extLst>
          </p:cNvPr>
          <p:cNvSpPr/>
          <p:nvPr/>
        </p:nvSpPr>
        <p:spPr>
          <a:xfrm>
            <a:off x="4205498" y="4469997"/>
            <a:ext cx="3660308" cy="59666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34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0D77-BC16-AB71-E0E3-1477BC04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B6966-0702-9E0B-65A3-A2A5FE2EC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76DBF-A579-F1B5-DCF8-C1A1C26DC55C}"/>
              </a:ext>
            </a:extLst>
          </p:cNvPr>
          <p:cNvSpPr txBox="1"/>
          <p:nvPr/>
        </p:nvSpPr>
        <p:spPr>
          <a:xfrm>
            <a:off x="1241323" y="6427216"/>
            <a:ext cx="10950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"Generalized Legendre Transforms Have Roots in Information Geometry." Entropy 28.1 (2025)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1ACB0-BA66-FC61-6441-7C6CBE94F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3" y="-6578"/>
            <a:ext cx="7381873" cy="2937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BE601-C73E-2329-D416-F348D7EA0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388" y="2930525"/>
            <a:ext cx="8708922" cy="31839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710BB1-2830-5A57-AC35-EA65939D2A10}"/>
              </a:ext>
            </a:extLst>
          </p:cNvPr>
          <p:cNvSpPr/>
          <p:nvPr/>
        </p:nvSpPr>
        <p:spPr>
          <a:xfrm>
            <a:off x="5215037" y="1433538"/>
            <a:ext cx="2690098" cy="50740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501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0049-6A5F-516A-84D7-893CFBD6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82" y="-88781"/>
            <a:ext cx="11936361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Legendre transform and gauge transformations*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4E0D1-3D8B-77AC-4361-04927B98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91" y="1734009"/>
            <a:ext cx="10779760" cy="1920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304590-7968-FAE6-DC99-4867374E0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0" y="4049451"/>
            <a:ext cx="10779761" cy="17188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EDE464-BAC1-76D1-F976-F94FD30C8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994" y="5765042"/>
            <a:ext cx="3171825" cy="514350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88756579-64D5-6014-5245-22F58B0EA543}"/>
              </a:ext>
            </a:extLst>
          </p:cNvPr>
          <p:cNvSpPr/>
          <p:nvPr/>
        </p:nvSpPr>
        <p:spPr>
          <a:xfrm>
            <a:off x="6512830" y="5901687"/>
            <a:ext cx="1422400" cy="3777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181FF1-D0C3-F252-5372-1939CA2F2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634" y="5819078"/>
            <a:ext cx="3171825" cy="5429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B59579-107E-3B30-A11C-7C037AE67E76}"/>
              </a:ext>
            </a:extLst>
          </p:cNvPr>
          <p:cNvSpPr txBox="1"/>
          <p:nvPr/>
        </p:nvSpPr>
        <p:spPr>
          <a:xfrm>
            <a:off x="445351" y="1277198"/>
            <a:ext cx="11243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</a:rPr>
              <a:t>Quadratic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Polarity realized as  Legendre Polarity </a:t>
            </a:r>
            <a:r>
              <a:rPr lang="ja-JP" altLang="ja-JP" dirty="0"/>
              <a:t>→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 Deformation 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FBCDA1-3B23-CEE8-ABFE-63C93913F131}"/>
              </a:ext>
            </a:extLst>
          </p:cNvPr>
          <p:cNvSpPr txBox="1"/>
          <p:nvPr/>
        </p:nvSpPr>
        <p:spPr>
          <a:xfrm>
            <a:off x="408385" y="3717775"/>
            <a:ext cx="11375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</a:rPr>
              <a:t>Quadratic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Polarity realized as Deformation</a:t>
            </a:r>
            <a:r>
              <a:rPr lang="en-US" altLang="ja-JP" sz="2800" b="1" dirty="0">
                <a:solidFill>
                  <a:srgbClr val="FF0000"/>
                </a:solidFill>
              </a:rPr>
              <a:t> </a:t>
            </a:r>
            <a:r>
              <a:rPr lang="ja-JP" altLang="ja-JP" dirty="0"/>
              <a:t>→ </a:t>
            </a:r>
            <a:r>
              <a:rPr lang="en-US" altLang="ja-JP" dirty="0"/>
              <a:t> </a:t>
            </a:r>
            <a:r>
              <a:rPr lang="en-US" altLang="ja-JP" sz="2800" b="1" dirty="0">
                <a:solidFill>
                  <a:srgbClr val="FF0000"/>
                </a:solidFill>
              </a:rPr>
              <a:t>Legendre Polarity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 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9C9C6-A0A3-07B5-B78C-21D68F65D700}"/>
              </a:ext>
            </a:extLst>
          </p:cNvPr>
          <p:cNvSpPr txBox="1"/>
          <p:nvPr/>
        </p:nvSpPr>
        <p:spPr>
          <a:xfrm>
            <a:off x="191916" y="5808736"/>
            <a:ext cx="286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w</a:t>
            </a:r>
            <a:r>
              <a:rPr kumimoji="1" lang="en-US" altLang="ja-JP" sz="2000" dirty="0"/>
              <a:t>ith correspondences:</a:t>
            </a:r>
            <a:endParaRPr kumimoji="1" lang="ja-JP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931EE-08AE-5A24-471A-D22F4381433C}"/>
              </a:ext>
            </a:extLst>
          </p:cNvPr>
          <p:cNvSpPr txBox="1"/>
          <p:nvPr/>
        </p:nvSpPr>
        <p:spPr>
          <a:xfrm>
            <a:off x="3051994" y="775117"/>
            <a:ext cx="8648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*Joint work with Basile Plus-Gourdon and Mahito Sugiyama</a:t>
            </a:r>
            <a:endParaRPr kumimoji="1" lang="ja-JP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B7FB3-0C14-A677-994E-84F7932798C5}"/>
              </a:ext>
            </a:extLst>
          </p:cNvPr>
          <p:cNvSpPr txBox="1"/>
          <p:nvPr/>
        </p:nvSpPr>
        <p:spPr>
          <a:xfrm>
            <a:off x="4936506" y="6421849"/>
            <a:ext cx="48317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Gauge freedom with matrix pipeline 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75227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821C-B742-7671-D7C6-CD9453C2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82B7-2B1D-ABFA-61E9-0B5245F9F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EE322044-165F-2832-7A3F-EB79DD65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" y="77388"/>
            <a:ext cx="12054421" cy="67806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5262F1-A09E-B0FA-5C2D-F31BE7C56614}"/>
              </a:ext>
            </a:extLst>
          </p:cNvPr>
          <p:cNvSpPr/>
          <p:nvPr/>
        </p:nvSpPr>
        <p:spPr>
          <a:xfrm>
            <a:off x="378541" y="77388"/>
            <a:ext cx="11434916" cy="9451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23E984-FF19-C113-3F38-1A1643C0FD10}"/>
              </a:ext>
            </a:extLst>
          </p:cNvPr>
          <p:cNvSpPr txBox="1">
            <a:spLocks/>
          </p:cNvSpPr>
          <p:nvPr/>
        </p:nvSpPr>
        <p:spPr>
          <a:xfrm>
            <a:off x="-59013" y="-112811"/>
            <a:ext cx="123100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solidFill>
                  <a:srgbClr val="0000FF"/>
                </a:solidFill>
              </a:rPr>
              <a:t>Fenchel-Young divergences as inner products </a:t>
            </a:r>
            <a:r>
              <a:rPr lang="en-US" altLang="ja-JP" sz="3600" b="1" dirty="0">
                <a:solidFill>
                  <a:srgbClr val="0000FF"/>
                </a:solidFill>
              </a:rPr>
              <a:t>(GPU)</a:t>
            </a:r>
            <a:endParaRPr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419C0-E7A9-1C0E-FF24-CD40AD55AED5}"/>
              </a:ext>
            </a:extLst>
          </p:cNvPr>
          <p:cNvSpPr txBox="1"/>
          <p:nvPr/>
        </p:nvSpPr>
        <p:spPr>
          <a:xfrm>
            <a:off x="6884119" y="2598003"/>
            <a:ext cx="5044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Inner product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on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graph points 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using homogeneous coordinates</a:t>
            </a:r>
          </a:p>
        </p:txBody>
      </p:sp>
    </p:spTree>
    <p:extLst>
      <p:ext uri="{BB962C8B-B14F-4D97-AF65-F5344CB8AC3E}">
        <p14:creationId xmlns:p14="http://schemas.microsoft.com/office/powerpoint/2010/main" val="1680780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99A5-1664-DFA1-E9FF-0E2D9A01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9" y="0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Convex conjugates F* via neural networks*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37FED-E247-D0AD-58FA-240A2AA77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36" y="1725279"/>
            <a:ext cx="12101564" cy="5029482"/>
          </a:xfrm>
        </p:spPr>
        <p:txBody>
          <a:bodyPr>
            <a:normAutofit/>
          </a:bodyPr>
          <a:lstStyle/>
          <a:p>
            <a:r>
              <a:rPr lang="en-US" altLang="ja-JP" dirty="0"/>
              <a:t>Conjugate </a:t>
            </a:r>
            <a:r>
              <a:rPr lang="en-US" altLang="ja-JP" dirty="0">
                <a:solidFill>
                  <a:schemeClr val="accent2"/>
                </a:solidFill>
              </a:rPr>
              <a:t>F*(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=  &lt;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</a:rPr>
              <a:t>∇</a:t>
            </a:r>
            <a:r>
              <a:rPr lang="en-US" altLang="ja-JP" dirty="0">
                <a:solidFill>
                  <a:schemeClr val="accent2"/>
                </a:solidFill>
              </a:rPr>
              <a:t>F)</a:t>
            </a:r>
            <a:r>
              <a:rPr lang="en-US" altLang="ja-JP" baseline="30000" dirty="0">
                <a:solidFill>
                  <a:schemeClr val="accent2"/>
                </a:solidFill>
              </a:rPr>
              <a:t>-1</a:t>
            </a:r>
            <a:r>
              <a:rPr lang="en-US" altLang="ja-JP" dirty="0">
                <a:solidFill>
                  <a:schemeClr val="accent2"/>
                </a:solidFill>
              </a:rPr>
              <a:t>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),</a:t>
            </a:r>
            <a:r>
              <a:rPr lang="el-GR" altLang="ja-JP" dirty="0">
                <a:solidFill>
                  <a:schemeClr val="accent2"/>
                </a:solidFill>
              </a:rPr>
              <a:t> η </a:t>
            </a:r>
            <a:r>
              <a:rPr lang="en-US" altLang="ja-JP" dirty="0">
                <a:solidFill>
                  <a:schemeClr val="accent2"/>
                </a:solidFill>
              </a:rPr>
              <a:t>&gt; - F( (</a:t>
            </a:r>
            <a:r>
              <a:rPr lang="el-GR" altLang="ja-JP" dirty="0">
                <a:solidFill>
                  <a:schemeClr val="accent2"/>
                </a:solidFill>
              </a:rPr>
              <a:t>∇</a:t>
            </a:r>
            <a:r>
              <a:rPr lang="en-US" altLang="ja-JP" dirty="0">
                <a:solidFill>
                  <a:schemeClr val="accent2"/>
                </a:solidFill>
              </a:rPr>
              <a:t>F)</a:t>
            </a:r>
            <a:r>
              <a:rPr lang="en-US" altLang="ja-JP" baseline="30000" dirty="0">
                <a:solidFill>
                  <a:schemeClr val="accent2"/>
                </a:solidFill>
              </a:rPr>
              <a:t>-1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) </a:t>
            </a:r>
          </a:p>
          <a:p>
            <a:pPr marL="0" indent="0">
              <a:buNone/>
            </a:pPr>
            <a:r>
              <a:rPr lang="en-US" altLang="ja-JP" dirty="0"/>
              <a:t>may not be in closed form when (</a:t>
            </a:r>
            <a:r>
              <a:rPr lang="el-GR" altLang="ja-JP" dirty="0"/>
              <a:t>∇</a:t>
            </a:r>
            <a:r>
              <a:rPr lang="en-US" altLang="ja-JP" dirty="0"/>
              <a:t>F)</a:t>
            </a:r>
            <a:r>
              <a:rPr lang="en-US" altLang="ja-JP" baseline="30000" dirty="0"/>
              <a:t>-1</a:t>
            </a:r>
            <a:r>
              <a:rPr lang="en-US" altLang="ja-JP" dirty="0"/>
              <a:t> not available or computationally intractable: Often the case in ML and optimal transport.</a:t>
            </a:r>
          </a:p>
          <a:p>
            <a:r>
              <a:rPr lang="en-US" altLang="ja-JP" dirty="0"/>
              <a:t>Conjugation map: </a:t>
            </a:r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Train NN with loss function :</a:t>
            </a:r>
          </a:p>
          <a:p>
            <a:r>
              <a:rPr lang="en-US" altLang="ja-JP" dirty="0"/>
              <a:t>Once trained, we </a:t>
            </a:r>
            <a:r>
              <a:rPr lang="en-US" altLang="ja-JP" i="1" dirty="0"/>
              <a:t>approximate the convex conjugate </a:t>
            </a:r>
            <a:r>
              <a:rPr lang="en-US" altLang="ja-JP" dirty="0"/>
              <a:t>by </a:t>
            </a:r>
          </a:p>
          <a:p>
            <a:endParaRPr lang="en-US" altLang="ja-JP" dirty="0"/>
          </a:p>
          <a:p>
            <a:r>
              <a:rPr lang="en-US" altLang="ja-JP" dirty="0"/>
              <a:t>We use </a:t>
            </a:r>
            <a:r>
              <a:rPr lang="en-US" altLang="ja-JP" b="1" dirty="0">
                <a:solidFill>
                  <a:srgbClr val="FF0000"/>
                </a:solidFill>
              </a:rPr>
              <a:t>gauge freedom </a:t>
            </a:r>
            <a:r>
              <a:rPr lang="en-US" altLang="ja-JP" dirty="0"/>
              <a:t>to </a:t>
            </a:r>
            <a:r>
              <a:rPr lang="en-US" altLang="ja-JP" b="1" dirty="0">
                <a:solidFill>
                  <a:srgbClr val="FF0000"/>
                </a:solidFill>
              </a:rPr>
              <a:t>stabilize numerically </a:t>
            </a:r>
            <a:r>
              <a:rPr lang="en-US" altLang="ja-JP" dirty="0"/>
              <a:t>the NN learning…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B468D-6EBC-FE4F-51DE-C0A6F464B16C}"/>
              </a:ext>
            </a:extLst>
          </p:cNvPr>
          <p:cNvSpPr txBox="1"/>
          <p:nvPr/>
        </p:nvSpPr>
        <p:spPr>
          <a:xfrm>
            <a:off x="4750200" y="894625"/>
            <a:ext cx="5480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*Joint work with Basile Plus-Gourdon</a:t>
            </a:r>
            <a:endParaRPr kumimoji="1" lang="ja-JP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FBA57-5BCA-95BF-01FB-DF8D7655136F}"/>
              </a:ext>
            </a:extLst>
          </p:cNvPr>
          <p:cNvSpPr txBox="1"/>
          <p:nvPr/>
        </p:nvSpPr>
        <p:spPr>
          <a:xfrm>
            <a:off x="10599174" y="1424396"/>
            <a:ext cx="1661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2606.09077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E7554A-5152-9699-C8D3-48B491BC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059" y="2990640"/>
            <a:ext cx="5495310" cy="765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8BCEE7-2C55-8902-B624-27EBECC37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4" y="3776177"/>
            <a:ext cx="11228439" cy="341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AF4DCF-A08F-05F4-E814-AD844CD8D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729" y="4496463"/>
            <a:ext cx="5143500" cy="752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28B22A-D7C5-6AE7-E7FB-67CD8A4ED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252" y="5579216"/>
            <a:ext cx="4352925" cy="676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19C1A-9B82-415E-33BF-FC2EA8CB4826}"/>
              </a:ext>
            </a:extLst>
          </p:cNvPr>
          <p:cNvSpPr txBox="1"/>
          <p:nvPr/>
        </p:nvSpPr>
        <p:spPr>
          <a:xfrm>
            <a:off x="783227" y="4100492"/>
            <a:ext cx="10895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Motivation: Half quadratic paraboloid yield identity, linear gradient map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78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2BF278-8AA6-84AD-A036-27F0AFA528FC}"/>
              </a:ext>
            </a:extLst>
          </p:cNvPr>
          <p:cNvSpPr txBox="1">
            <a:spLocks/>
          </p:cNvSpPr>
          <p:nvPr/>
        </p:nvSpPr>
        <p:spPr>
          <a:xfrm>
            <a:off x="422787" y="47000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b="1" dirty="0">
                <a:solidFill>
                  <a:srgbClr val="0000FF"/>
                </a:solidFill>
              </a:rPr>
              <a:t>References</a:t>
            </a:r>
            <a:endParaRPr lang="ja-JP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B3C5C-B343-6148-A73E-8E7CFF8EA3E6}"/>
              </a:ext>
            </a:extLst>
          </p:cNvPr>
          <p:cNvSpPr txBox="1"/>
          <p:nvPr/>
        </p:nvSpPr>
        <p:spPr>
          <a:xfrm>
            <a:off x="422787" y="60255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Neural Legendre-Fenchel transform with Hessian Preconditioning</a:t>
            </a:r>
            <a:r>
              <a:rPr lang="en-US" altLang="ja-JP" sz="2000" dirty="0"/>
              <a:t>, arXiv:2606.09077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Minimum enclosing Bregman balls made easy</a:t>
            </a:r>
            <a:r>
              <a:rPr lang="en-US" altLang="ja-JP" sz="2000" dirty="0"/>
              <a:t>,</a:t>
            </a:r>
            <a:r>
              <a:rPr lang="ja-JP" altLang="en-US" sz="2000" dirty="0"/>
              <a:t> </a:t>
            </a:r>
            <a:r>
              <a:rPr lang="en-US" altLang="ja-JP" sz="2000" dirty="0"/>
              <a:t>arXiv:2607.24197</a:t>
            </a:r>
            <a:endParaRPr lang="ja-JP" altLang="ja-JP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82577D5-E5B2-87F8-720F-94CA7E41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341644"/>
            <a:ext cx="1165533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Computational geometry for Machine Learning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02B341-F938-98E0-A960-F1A7819CEE11}"/>
              </a:ext>
            </a:extLst>
          </p:cNvPr>
          <p:cNvSpPr txBox="1"/>
          <p:nvPr/>
        </p:nvSpPr>
        <p:spPr>
          <a:xfrm>
            <a:off x="422787" y="1422048"/>
            <a:ext cx="115843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/>
              <a:t>Kullback</a:t>
            </a:r>
            <a:r>
              <a:rPr lang="en-US" altLang="ja-JP" sz="2800" dirty="0"/>
              <a:t>-Leibler minimax called redundancy in information theory solved as equivalent  smallest enclosing power balls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/>
              <a:t>Computational convexity with NNs</a:t>
            </a:r>
            <a:endParaRPr lang="ja-JP" altLang="ja-JP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E30AFF-0308-9210-1EAE-008929CE9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892" y="2444804"/>
            <a:ext cx="3411726" cy="353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9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92D9-636A-C7C1-CD4A-146D02DF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2F16-3096-BC9A-C677-7C9677ED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-96991"/>
            <a:ext cx="1166843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Bregman divergences as power distances: CG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ED326-9308-6885-8A65-8124CFCF52DE}"/>
              </a:ext>
            </a:extLst>
          </p:cNvPr>
          <p:cNvSpPr txBox="1"/>
          <p:nvPr/>
        </p:nvSpPr>
        <p:spPr>
          <a:xfrm>
            <a:off x="675806" y="920481"/>
            <a:ext cx="1148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FF0000"/>
                </a:solidFill>
              </a:rPr>
              <a:t>Use </a:t>
            </a:r>
            <a:r>
              <a:rPr lang="en-US" altLang="ja-JP" sz="2800" b="1" dirty="0">
                <a:solidFill>
                  <a:srgbClr val="FF0000"/>
                </a:solidFill>
              </a:rPr>
              <a:t>toolbox of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computational geometry in information geometry!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4F950-9A85-7B4D-0EBE-76E9C3C1A72D}"/>
              </a:ext>
            </a:extLst>
          </p:cNvPr>
          <p:cNvSpPr txBox="1"/>
          <p:nvPr/>
        </p:nvSpPr>
        <p:spPr>
          <a:xfrm>
            <a:off x="468745" y="5663813"/>
            <a:ext cx="105031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200" dirty="0"/>
          </a:p>
          <a:p>
            <a:r>
              <a:rPr kumimoji="1" lang="en-US" altLang="ja-JP" sz="3200" dirty="0"/>
              <a:t>Bregman Voronoi in</a:t>
            </a:r>
            <a:r>
              <a:rPr lang="el-GR" altLang="ja-JP" sz="3200" dirty="0">
                <a:solidFill>
                  <a:schemeClr val="accent2"/>
                </a:solidFill>
              </a:rPr>
              <a:t>θ </a:t>
            </a:r>
            <a:r>
              <a:rPr kumimoji="1" lang="en-US" altLang="ja-JP" sz="3200" dirty="0"/>
              <a:t>as </a:t>
            </a:r>
            <a:r>
              <a:rPr lang="en-US" altLang="ja-JP" sz="3200" dirty="0"/>
              <a:t>clipped power diagrams in </a:t>
            </a:r>
            <a:r>
              <a:rPr lang="el-GR" altLang="ja-JP" sz="3200" dirty="0">
                <a:solidFill>
                  <a:schemeClr val="accent2"/>
                </a:solidFill>
              </a:rPr>
              <a:t>η</a:t>
            </a:r>
            <a:endParaRPr kumimoji="1" lang="ja-JP" alt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72025-D060-70C4-C404-ACE39637A937}"/>
              </a:ext>
            </a:extLst>
          </p:cNvPr>
          <p:cNvSpPr txBox="1"/>
          <p:nvPr/>
        </p:nvSpPr>
        <p:spPr>
          <a:xfrm>
            <a:off x="10764223" y="6573107"/>
            <a:ext cx="1541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2607.24197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26E5D0-77B3-781A-1090-E98EBB6CA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98" y="1443701"/>
            <a:ext cx="4729571" cy="47587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B02479-0FE4-C2E6-09C4-ADABE21A0C30}"/>
              </a:ext>
            </a:extLst>
          </p:cNvPr>
          <p:cNvSpPr txBox="1"/>
          <p:nvPr/>
        </p:nvSpPr>
        <p:spPr>
          <a:xfrm>
            <a:off x="468745" y="5202148"/>
            <a:ext cx="4934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Kullback</a:t>
            </a:r>
            <a:r>
              <a:rPr kumimoji="1" lang="en-US" altLang="ja-JP" sz="2400" dirty="0"/>
              <a:t>-Leibler Voronoi diagram</a:t>
            </a:r>
            <a:endParaRPr kumimoji="1" lang="ja-JP" alt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3D570A-4612-DFF6-F6CC-DD0B8D37E5C0}"/>
              </a:ext>
            </a:extLst>
          </p:cNvPr>
          <p:cNvGrpSpPr/>
          <p:nvPr/>
        </p:nvGrpSpPr>
        <p:grpSpPr>
          <a:xfrm>
            <a:off x="1190298" y="1979083"/>
            <a:ext cx="3618528" cy="752475"/>
            <a:chOff x="4476596" y="1789952"/>
            <a:chExt cx="3618528" cy="7524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E3C37C-A6C9-B089-CF3A-5ED8E6D44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76596" y="1827012"/>
              <a:ext cx="2019300" cy="609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BE8105-BBA3-8C9E-EEF7-391C060FE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18724" y="1789952"/>
              <a:ext cx="1676400" cy="752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0450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FD68-1F64-9A17-E1DB-50AE97BA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1611-C23F-EC41-3642-31D8B16D8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95FF7-BAC6-0FF9-D0A0-39FE8DAC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25" y="0"/>
            <a:ext cx="10638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81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9AEC-8FE5-E361-3DD8-2B16B7D2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01416E-18A7-DD63-8964-4D188497C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1837" y="2127249"/>
            <a:ext cx="5648325" cy="733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53EC5A-A431-1AD7-206A-837D8EF3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1" y="2690813"/>
            <a:ext cx="11687175" cy="3933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576265-C698-CBBB-4AF2-65C6800FD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555" y="0"/>
            <a:ext cx="8858250" cy="22002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0FF49D-939E-29BF-8961-AB3BE8C1B037}"/>
              </a:ext>
            </a:extLst>
          </p:cNvPr>
          <p:cNvSpPr txBox="1"/>
          <p:nvPr/>
        </p:nvSpPr>
        <p:spPr>
          <a:xfrm>
            <a:off x="6949770" y="6363028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800" b="1" dirty="0">
                <a:solidFill>
                  <a:schemeClr val="accent6"/>
                </a:solidFill>
              </a:rPr>
              <a:t>Geom. Funct. Anal 18 (2008)</a:t>
            </a:r>
            <a:endParaRPr lang="ja-JP" altLang="en-US" sz="2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2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22A7-B785-2F76-A806-D4DB7CA7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6" y="285136"/>
            <a:ext cx="11995354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Recap: </a:t>
            </a:r>
            <a:r>
              <a:rPr lang="en-US" altLang="ja-JP" sz="4000" b="1" dirty="0">
                <a:solidFill>
                  <a:srgbClr val="0000FF"/>
                </a:solidFill>
              </a:rPr>
              <a:t>On polarities and computational convexity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8835-A3C3-F643-9276-DDEEFE05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6" y="1876170"/>
            <a:ext cx="11838038" cy="5606179"/>
          </a:xfrm>
        </p:spPr>
        <p:txBody>
          <a:bodyPr/>
          <a:lstStyle/>
          <a:p>
            <a:r>
              <a:rPr kumimoji="1" lang="en-US" altLang="ja-JP" dirty="0"/>
              <a:t>Bregman divergences</a:t>
            </a:r>
            <a:r>
              <a:rPr lang="en-US" altLang="ja-JP" dirty="0"/>
              <a:t> and convex duality </a:t>
            </a:r>
          </a:p>
          <a:p>
            <a:endParaRPr lang="en-US" altLang="ja-JP" dirty="0"/>
          </a:p>
          <a:p>
            <a:r>
              <a:rPr lang="en-US" altLang="ja-JP" dirty="0"/>
              <a:t>Bregman divergences as power distances  </a:t>
            </a:r>
          </a:p>
          <a:p>
            <a:endParaRPr lang="en-US" altLang="ja-JP" dirty="0"/>
          </a:p>
          <a:p>
            <a:r>
              <a:rPr lang="en-US" altLang="ja-JP" dirty="0"/>
              <a:t>Conjugate functions: quadratic polarities &amp; gauge freedom</a:t>
            </a:r>
          </a:p>
          <a:p>
            <a:endParaRPr lang="en-US" altLang="ja-JP" dirty="0"/>
          </a:p>
          <a:p>
            <a:r>
              <a:rPr lang="en-US" altLang="ja-JP" dirty="0"/>
              <a:t>Neural computational convexity:</a:t>
            </a:r>
          </a:p>
          <a:p>
            <a:pPr marL="0" indent="0">
              <a:buNone/>
            </a:pPr>
            <a:r>
              <a:rPr lang="en-US" altLang="ja-JP" dirty="0"/>
              <a:t>  (Approximating </a:t>
            </a:r>
            <a:r>
              <a:rPr lang="en-US" altLang="ja-JP" dirty="0" err="1"/>
              <a:t>untractable</a:t>
            </a:r>
            <a:r>
              <a:rPr lang="en-US" altLang="ja-JP" dirty="0"/>
              <a:t> convex conjugates with neural networks)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9250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2315-34DB-D2ED-1131-4E3CB9AC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6D699-FC80-8930-3C53-8927E0AE0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237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CF82-AA95-B8B8-0F9D-0DF28AFA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29037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Summary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368387-3A1C-97DC-9599-AF934D917336}"/>
              </a:ext>
            </a:extLst>
          </p:cNvPr>
          <p:cNvSpPr txBox="1">
            <a:spLocks/>
          </p:cNvSpPr>
          <p:nvPr/>
        </p:nvSpPr>
        <p:spPr>
          <a:xfrm>
            <a:off x="285136" y="1174872"/>
            <a:ext cx="11729884" cy="46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dirty="0"/>
              <a:t>Bregman divergences are coordinatization of “point distance” on Hessian manifolds expressed in dual charts as dual Bregman divergences or in the mixed parameterization as a Fenchel-Young divergence or equivalently power distance in a domain of R</a:t>
            </a:r>
            <a:r>
              <a:rPr lang="en-US" altLang="ja-JP" sz="2400" baseline="30000" dirty="0"/>
              <a:t>n</a:t>
            </a:r>
            <a:r>
              <a:rPr lang="en-US" altLang="ja-JP" sz="2400" dirty="0"/>
              <a:t>. </a:t>
            </a:r>
          </a:p>
          <a:p>
            <a:pPr marL="0" indent="0">
              <a:buNone/>
            </a:pPr>
            <a:r>
              <a:rPr lang="en-US" altLang="ja-JP" sz="2400" dirty="0"/>
              <a:t>   </a:t>
            </a:r>
            <a:r>
              <a:rPr lang="ja-JP" altLang="ja-JP" sz="2400" dirty="0"/>
              <a:t>→</a:t>
            </a:r>
            <a:r>
              <a:rPr lang="en-US" altLang="ja-JP" sz="2400" dirty="0"/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Computational Hessian information geometry from power distance CG </a:t>
            </a:r>
            <a:endParaRPr lang="en-US" altLang="ja-JP" sz="2400" dirty="0"/>
          </a:p>
          <a:p>
            <a:r>
              <a:rPr lang="en-US" altLang="ja-JP" sz="2400" dirty="0"/>
              <a:t>Conjugate functions defined via quadratic polarity allows one to express the divergence as inner products (fast on GPU)  and consider affine deformations</a:t>
            </a:r>
          </a:p>
          <a:p>
            <a:endParaRPr lang="en-US" altLang="ja-JP" sz="2400" dirty="0"/>
          </a:p>
          <a:p>
            <a:r>
              <a:rPr lang="en-US" altLang="ja-JP" sz="2400" dirty="0"/>
              <a:t>When not available in closed form, conjugates can be approximated using neural networks where the gauge freedom is used to stabilize the learning/accuracy. </a:t>
            </a:r>
          </a:p>
          <a:p>
            <a:pPr marL="0" indent="0">
              <a:buNone/>
            </a:pPr>
            <a:r>
              <a:rPr lang="en-US" altLang="ja-JP" sz="2400" dirty="0"/>
              <a:t>   </a:t>
            </a:r>
            <a:r>
              <a:rPr lang="ja-JP" altLang="ja-JP" sz="2400" dirty="0"/>
              <a:t>→</a:t>
            </a:r>
            <a:r>
              <a:rPr lang="en-US" altLang="ja-JP" sz="2400" dirty="0"/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Neural information geometry = NN-approximations of IG</a:t>
            </a:r>
          </a:p>
          <a:p>
            <a:endParaRPr lang="ja-JP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4146CA-7E8D-958B-3F71-DACA0C0A547F}"/>
              </a:ext>
            </a:extLst>
          </p:cNvPr>
          <p:cNvSpPr txBox="1">
            <a:spLocks/>
          </p:cNvSpPr>
          <p:nvPr/>
        </p:nvSpPr>
        <p:spPr>
          <a:xfrm>
            <a:off x="285135" y="52400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b="1" dirty="0">
                <a:solidFill>
                  <a:srgbClr val="0000FF"/>
                </a:solidFill>
              </a:rPr>
              <a:t>References</a:t>
            </a:r>
            <a:endParaRPr lang="ja-JP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8BAA-2C14-5284-EAE5-8FF9152085AF}"/>
              </a:ext>
            </a:extLst>
          </p:cNvPr>
          <p:cNvSpPr txBox="1"/>
          <p:nvPr/>
        </p:nvSpPr>
        <p:spPr>
          <a:xfrm>
            <a:off x="312173" y="615011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Neural Legendre-Fenchel transform with Hessian Preconditioning</a:t>
            </a:r>
            <a:r>
              <a:rPr lang="en-US" altLang="ja-JP" sz="2000" dirty="0"/>
              <a:t>, arXiv:2606.09077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000" dirty="0"/>
              <a:t>Minimum enclosing Bregman balls made easy</a:t>
            </a:r>
            <a:r>
              <a:rPr lang="en-US" altLang="ja-JP" sz="2000" dirty="0"/>
              <a:t>,</a:t>
            </a:r>
            <a:r>
              <a:rPr lang="ja-JP" altLang="en-US" sz="2000" dirty="0"/>
              <a:t> </a:t>
            </a:r>
            <a:r>
              <a:rPr lang="en-US" altLang="ja-JP" sz="2000" dirty="0"/>
              <a:t>arXiv:2607.24197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632997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C34-2584-D474-F155-B238F83D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-103703"/>
            <a:ext cx="1106932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Preconditioning Neural Legendre transform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BD135-A182-17BF-DC89-A6410C25D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381" y="883084"/>
            <a:ext cx="10515600" cy="677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ED739-FC8E-1EED-39CC-5B780431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140" y="1605495"/>
            <a:ext cx="1914525" cy="60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BD3BDC-AAC3-077B-0580-7B187190F2E9}"/>
              </a:ext>
            </a:extLst>
          </p:cNvPr>
          <p:cNvSpPr txBox="1"/>
          <p:nvPr/>
        </p:nvSpPr>
        <p:spPr>
          <a:xfrm>
            <a:off x="926454" y="1649727"/>
            <a:ext cx="4977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w</a:t>
            </a:r>
            <a:r>
              <a:rPr kumimoji="1" lang="en-US" altLang="ja-JP" sz="2800" dirty="0"/>
              <a:t>ith conjugate map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identity</a:t>
            </a:r>
            <a:r>
              <a:rPr kumimoji="1" lang="en-US" altLang="ja-JP" sz="2800" dirty="0"/>
              <a:t>:</a:t>
            </a:r>
            <a:endParaRPr kumimoji="1" lang="ja-JP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C51A0-8FE7-A2FB-05BF-68C8FD53EAEE}"/>
              </a:ext>
            </a:extLst>
          </p:cNvPr>
          <p:cNvSpPr txBox="1"/>
          <p:nvPr/>
        </p:nvSpPr>
        <p:spPr>
          <a:xfrm>
            <a:off x="8217073" y="1682350"/>
            <a:ext cx="3618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(initialization in NN)</a:t>
            </a:r>
            <a:endParaRPr kumimoji="1" lang="ja-JP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814418-9212-4F57-40CE-F658B4C44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783166"/>
            <a:ext cx="9334500" cy="8953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34D47C-96E1-130F-62CF-1201ADF2FAB7}"/>
              </a:ext>
            </a:extLst>
          </p:cNvPr>
          <p:cNvSpPr txBox="1"/>
          <p:nvPr/>
        </p:nvSpPr>
        <p:spPr>
          <a:xfrm>
            <a:off x="710381" y="2262039"/>
            <a:ext cx="3778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Taylor approximation:</a:t>
            </a:r>
            <a:endParaRPr kumimoji="1" lang="ja-JP" alt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EBE3FC-C593-D0B2-F28F-C9628FA12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54" y="3659014"/>
            <a:ext cx="11265546" cy="5406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A262BA-49B0-B04E-81F6-E89CAE4109A4}"/>
              </a:ext>
            </a:extLst>
          </p:cNvPr>
          <p:cNvSpPr txBox="1"/>
          <p:nvPr/>
        </p:nvSpPr>
        <p:spPr>
          <a:xfrm>
            <a:off x="284480" y="4552271"/>
            <a:ext cx="11799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400" dirty="0"/>
              <a:t>learning task in </a:t>
            </a:r>
            <a:r>
              <a:rPr lang="ja-JP" altLang="ja-JP" sz="2400" b="1" dirty="0">
                <a:solidFill>
                  <a:srgbClr val="FF0000"/>
                </a:solidFill>
              </a:rPr>
              <a:t>z-space </a:t>
            </a:r>
            <a:r>
              <a:rPr lang="ja-JP" altLang="ja-JP" sz="2400" dirty="0"/>
              <a:t>is approximately that of the canonical paraboloid</a:t>
            </a:r>
            <a:r>
              <a:rPr lang="en-US" altLang="ja-JP" sz="2400" dirty="0"/>
              <a:t> (stable!)</a:t>
            </a:r>
            <a:endParaRPr lang="ja-JP" alt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3D0CA4-4004-D111-016F-34334E079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279" y="5005387"/>
            <a:ext cx="7400925" cy="6477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E2460B-ED08-B87A-B6E2-5F7808912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6" y="5653087"/>
            <a:ext cx="5893385" cy="11024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44B56C9-FC6D-73D2-8865-3C62D73E22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290" y="6003031"/>
            <a:ext cx="50006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90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246D-C165-C39F-78A1-38E78EFF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" y="0"/>
            <a:ext cx="1175512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Convex duality via Legendre-</a:t>
            </a:r>
            <a:r>
              <a:rPr kumimoji="1" lang="en-US" altLang="ja-JP" b="1" dirty="0" err="1">
                <a:solidFill>
                  <a:srgbClr val="0000FF"/>
                </a:solidFill>
              </a:rPr>
              <a:t>Fenchel</a:t>
            </a:r>
            <a:r>
              <a:rPr kumimoji="1" lang="en-US" altLang="ja-JP" b="1" dirty="0">
                <a:solidFill>
                  <a:srgbClr val="0000FF"/>
                </a:solidFill>
              </a:rPr>
              <a:t> transform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6F79-85AC-40D5-939D-60CC273C8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" y="1325563"/>
            <a:ext cx="11938000" cy="5753903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Legendre-</a:t>
            </a:r>
            <a:r>
              <a:rPr kumimoji="1" lang="en-US" altLang="ja-JP" dirty="0" err="1"/>
              <a:t>Fenchel</a:t>
            </a:r>
            <a:r>
              <a:rPr kumimoji="1" lang="en-US" altLang="ja-JP" dirty="0"/>
              <a:t> transform of a convex function F: 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           F*(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= sup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</a:t>
            </a:r>
            <a:r>
              <a:rPr lang="el-GR" altLang="ja-JP" i="0" baseline="-25000" dirty="0">
                <a:solidFill>
                  <a:schemeClr val="accent2"/>
                </a:solidFill>
                <a:effectLst/>
              </a:rPr>
              <a:t>θ ∈ 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{&lt;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θ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,</a:t>
            </a:r>
            <a:r>
              <a:rPr lang="el-GR" altLang="ja-JP" dirty="0">
                <a:solidFill>
                  <a:schemeClr val="accent2"/>
                </a:solidFill>
              </a:rPr>
              <a:t> η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&gt;-F(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)}  = </a:t>
            </a:r>
            <a:r>
              <a:rPr lang="en-US" altLang="ja-JP" dirty="0">
                <a:solidFill>
                  <a:schemeClr val="accent2"/>
                </a:solidFill>
              </a:rPr>
              <a:t>sup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l-GR" altLang="ja-JP" baseline="-25000" dirty="0">
                <a:solidFill>
                  <a:schemeClr val="accent2"/>
                </a:solidFill>
              </a:rPr>
              <a:t>θ ∈ ϴ</a:t>
            </a:r>
            <a:r>
              <a:rPr lang="en-US" altLang="ja-JP" baseline="-25000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{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H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l-GR" altLang="ja-JP" baseline="-25000" dirty="0">
                <a:solidFill>
                  <a:schemeClr val="accent2"/>
                </a:solidFill>
              </a:rPr>
              <a:t>θ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}</a:t>
            </a:r>
            <a:endParaRPr lang="en-US" altLang="ja-JP" i="0" dirty="0">
              <a:solidFill>
                <a:schemeClr val="accent2"/>
              </a:solidFill>
              <a:effectLst/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sz="2400" dirty="0"/>
              <a:t>Supremum of affine functions. </a:t>
            </a:r>
            <a:r>
              <a:rPr lang="en-US" altLang="ja-JP" dirty="0"/>
              <a:t>Involution (F</a:t>
            </a:r>
            <a:r>
              <a:rPr lang="en-US" altLang="ja-JP" baseline="30000" dirty="0"/>
              <a:t>*</a:t>
            </a:r>
            <a:r>
              <a:rPr lang="en-US" altLang="ja-JP" dirty="0"/>
              <a:t>)</a:t>
            </a:r>
            <a:r>
              <a:rPr lang="en-US" altLang="ja-JP" baseline="30000" dirty="0"/>
              <a:t>*</a:t>
            </a:r>
            <a:r>
              <a:rPr lang="en-US" altLang="ja-JP" dirty="0"/>
              <a:t>=F, </a:t>
            </a:r>
            <a:r>
              <a:rPr lang="en-US" altLang="ja-JP" b="1" dirty="0">
                <a:solidFill>
                  <a:srgbClr val="FF0000"/>
                </a:solidFill>
              </a:rPr>
              <a:t>H/V rep of polytopes</a:t>
            </a:r>
          </a:p>
          <a:p>
            <a:pPr marL="0" indent="0">
              <a:buNone/>
            </a:pPr>
            <a:r>
              <a:rPr lang="en-US" altLang="ja-JP" dirty="0"/>
              <a:t>Graph(F): </a:t>
            </a:r>
            <a:r>
              <a:rPr lang="ja-JP" altLang="ja-JP" dirty="0"/>
              <a:t>pointwise supremum of all affine functions majorized by</a:t>
            </a:r>
            <a:r>
              <a:rPr lang="en-US" altLang="ja-JP" dirty="0"/>
              <a:t> F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/>
              <a:t>Convex conjugate: </a:t>
            </a:r>
            <a:r>
              <a:rPr lang="en-US" altLang="ja-JP" dirty="0">
                <a:solidFill>
                  <a:schemeClr val="accent2"/>
                </a:solidFill>
              </a:rPr>
              <a:t>F*(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= 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(</a:t>
            </a:r>
            <a:r>
              <a:rPr kumimoji="1" lang="el-GR" altLang="ja-JP" dirty="0">
                <a:solidFill>
                  <a:schemeClr val="accent2"/>
                </a:solidFill>
              </a:rPr>
              <a:t>∇</a:t>
            </a:r>
            <a:r>
              <a:rPr kumimoji="1" lang="en-US" altLang="ja-JP" dirty="0">
                <a:solidFill>
                  <a:schemeClr val="accent2"/>
                </a:solidFill>
              </a:rPr>
              <a:t>F)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-1</a:t>
            </a:r>
            <a:r>
              <a:rPr kumimoji="1" lang="en-US" altLang="ja-JP" dirty="0">
                <a:solidFill>
                  <a:schemeClr val="accent2"/>
                </a:solidFill>
              </a:rPr>
              <a:t>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kumimoji="1" lang="en-US" altLang="ja-JP" dirty="0">
                <a:solidFill>
                  <a:schemeClr val="accent2"/>
                </a:solidFill>
              </a:rPr>
              <a:t>)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,</a:t>
            </a:r>
            <a:r>
              <a:rPr lang="el-GR" altLang="ja-JP" dirty="0">
                <a:solidFill>
                  <a:schemeClr val="accent2"/>
                </a:solidFill>
              </a:rPr>
              <a:t> η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&gt; - F( (</a:t>
            </a:r>
            <a:r>
              <a:rPr kumimoji="1" lang="el-GR" altLang="ja-JP" dirty="0">
                <a:solidFill>
                  <a:schemeClr val="accent2"/>
                </a:solidFill>
              </a:rPr>
              <a:t>∇</a:t>
            </a:r>
            <a:r>
              <a:rPr kumimoji="1" lang="en-US" altLang="ja-JP" dirty="0">
                <a:solidFill>
                  <a:schemeClr val="accent2"/>
                </a:solidFill>
              </a:rPr>
              <a:t>F)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-1</a:t>
            </a:r>
            <a:r>
              <a:rPr kumimoji="1"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kumimoji="1" lang="en-US" altLang="ja-JP" dirty="0">
                <a:solidFill>
                  <a:schemeClr val="accent2"/>
                </a:solidFill>
              </a:rPr>
              <a:t>) </a:t>
            </a:r>
            <a:r>
              <a:rPr lang="en-US" altLang="ja-JP" i="0" dirty="0">
                <a:solidFill>
                  <a:schemeClr val="accent2"/>
                </a:solidFill>
                <a:effectLst/>
              </a:rPr>
              <a:t>) </a:t>
            </a:r>
          </a:p>
          <a:p>
            <a:pPr marL="0" indent="0">
              <a:buNone/>
            </a:pPr>
            <a:r>
              <a:rPr lang="en-US" altLang="ja-JP" sz="2600" dirty="0">
                <a:solidFill>
                  <a:schemeClr val="accent2"/>
                </a:solidFill>
              </a:rPr>
              <a:t>   </a:t>
            </a:r>
            <a:r>
              <a:rPr lang="en-US" altLang="ja-JP" sz="2600" i="0" dirty="0">
                <a:effectLst/>
              </a:rPr>
              <a:t>since supremum is obtained when</a:t>
            </a:r>
            <a:r>
              <a:rPr lang="en-US" altLang="ja-JP" i="0" dirty="0">
                <a:effectLst/>
              </a:rPr>
              <a:t> </a:t>
            </a:r>
            <a:r>
              <a:rPr kumimoji="1" lang="el-GR" altLang="ja-JP" dirty="0"/>
              <a:t>∇</a:t>
            </a:r>
            <a:r>
              <a:rPr kumimoji="1" lang="en-US" altLang="ja-JP" dirty="0"/>
              <a:t>F (</a:t>
            </a:r>
            <a:r>
              <a:rPr lang="el-GR" altLang="ja-JP" i="0" dirty="0">
                <a:effectLst/>
              </a:rPr>
              <a:t>θ</a:t>
            </a:r>
            <a:r>
              <a:rPr kumimoji="1" lang="en-US" altLang="ja-JP" dirty="0"/>
              <a:t>)=</a:t>
            </a:r>
            <a:r>
              <a:rPr lang="el-GR" altLang="ja-JP" dirty="0"/>
              <a:t>η</a:t>
            </a:r>
            <a:r>
              <a:rPr kumimoji="1" lang="en-US" altLang="ja-JP" dirty="0"/>
              <a:t>.  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b="1" dirty="0">
                <a:solidFill>
                  <a:srgbClr val="FF0000"/>
                </a:solidFill>
              </a:rPr>
              <a:t>Dual Bregman divergences</a:t>
            </a:r>
            <a:r>
              <a:rPr lang="en-US" altLang="ja-JP" dirty="0"/>
              <a:t>/</a:t>
            </a:r>
            <a:r>
              <a:rPr lang="en-US" altLang="ja-JP" sz="2400" dirty="0"/>
              <a:t>swapping param</a:t>
            </a:r>
            <a:r>
              <a:rPr lang="en-US" altLang="ja-JP" dirty="0"/>
              <a:t>.: </a:t>
            </a:r>
            <a:r>
              <a:rPr lang="en-US" altLang="ja-JP" dirty="0">
                <a:solidFill>
                  <a:schemeClr val="accent2"/>
                </a:solidFill>
              </a:rPr>
              <a:t>B</a:t>
            </a:r>
            <a:r>
              <a:rPr lang="en-US" altLang="ja-JP" baseline="-25000" dirty="0">
                <a:solidFill>
                  <a:schemeClr val="accent2"/>
                </a:solidFill>
              </a:rPr>
              <a:t>F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  <a:latin typeface="Source Sans Pro" panose="020B0503030403020204" pitchFamily="34" charset="0"/>
              </a:rPr>
              <a:t>θ</a:t>
            </a:r>
            <a:r>
              <a:rPr lang="en-US" altLang="ja-JP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1</a:t>
            </a:r>
            <a:r>
              <a:rPr lang="el-GR" altLang="ja-JP" dirty="0">
                <a:solidFill>
                  <a:schemeClr val="accent2"/>
                </a:solidFill>
                <a:latin typeface="Source Sans Pro" panose="020B0503030403020204" pitchFamily="34" charset="0"/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:</a:t>
            </a:r>
            <a:r>
              <a:rPr lang="el-GR" altLang="ja-JP" dirty="0">
                <a:solidFill>
                  <a:schemeClr val="accent2"/>
                </a:solidFill>
                <a:latin typeface="Source Sans Pro" panose="020B0503030403020204" pitchFamily="34" charset="0"/>
              </a:rPr>
              <a:t> θ</a:t>
            </a:r>
            <a:r>
              <a:rPr lang="en-US" altLang="ja-JP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)=B</a:t>
            </a:r>
            <a:r>
              <a:rPr lang="en-US" altLang="ja-JP" baseline="-25000" dirty="0">
                <a:solidFill>
                  <a:schemeClr val="accent2"/>
                </a:solidFill>
              </a:rPr>
              <a:t>F*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2 </a:t>
            </a:r>
            <a:r>
              <a:rPr lang="en-US" altLang="ja-JP" dirty="0">
                <a:solidFill>
                  <a:schemeClr val="accent2"/>
                </a:solidFill>
              </a:rPr>
              <a:t>:</a:t>
            </a:r>
            <a:r>
              <a:rPr lang="el-GR" altLang="ja-JP" dirty="0">
                <a:solidFill>
                  <a:schemeClr val="accent2"/>
                </a:solidFill>
              </a:rPr>
              <a:t>η </a:t>
            </a:r>
            <a:r>
              <a:rPr lang="en-US" altLang="ja-JP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1</a:t>
            </a:r>
            <a:r>
              <a:rPr lang="el-GR" altLang="ja-JP" dirty="0">
                <a:solidFill>
                  <a:schemeClr val="accent2"/>
                </a:solidFill>
                <a:latin typeface="Source Sans Pro" panose="020B0503030403020204" pitchFamily="34" charset="0"/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0E6EC-3CAF-908B-8FC1-FC67CA65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226C-95D4-40B8-9E1A-366D2434025F}" type="slidenum">
              <a:rPr kumimoji="1" lang="ja-JP" altLang="en-US" smtClean="0"/>
              <a:t>24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01245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8CB1-DD99-F527-5C2D-0CCE58C8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2C92-AFF8-36AE-38C2-2DA3032F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" y="0"/>
            <a:ext cx="12411919" cy="1325563"/>
          </a:xfrm>
        </p:spPr>
        <p:txBody>
          <a:bodyPr/>
          <a:lstStyle/>
          <a:p>
            <a:r>
              <a:rPr lang="en-US" altLang="ja-JP" b="1" dirty="0">
                <a:solidFill>
                  <a:srgbClr val="0000FF"/>
                </a:solidFill>
              </a:rPr>
              <a:t> Dual Fenchel-Young/Bregman divergences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E6388-B832-44D6-C711-0E6F4558A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0" y="1162971"/>
            <a:ext cx="11582400" cy="5867093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Young inequality: </a:t>
            </a:r>
            <a:r>
              <a:rPr kumimoji="1" lang="en-US" altLang="ja-JP" dirty="0">
                <a:solidFill>
                  <a:schemeClr val="accent2"/>
                </a:solidFill>
              </a:rPr>
              <a:t>F 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 </a:t>
            </a:r>
            <a:r>
              <a:rPr lang="ja-JP" altLang="en-US" sz="2800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≥   </a:t>
            </a:r>
            <a:r>
              <a:rPr kumimoji="1" lang="en-US" altLang="ja-JP" dirty="0">
                <a:solidFill>
                  <a:schemeClr val="accent2"/>
                </a:solidFill>
              </a:rPr>
              <a:t>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ja-JP" altLang="en-US" sz="2800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altLang="ja-JP" sz="2800" i="0" dirty="0">
              <a:solidFill>
                <a:schemeClr val="accent2"/>
              </a:solidFill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kumimoji="1" lang="en-US" altLang="ja-JP" dirty="0"/>
              <a:t>                                                           with equality </a:t>
            </a:r>
            <a:r>
              <a:rPr kumimoji="1" lang="en-US" altLang="ja-JP" dirty="0" err="1"/>
              <a:t>iff</a:t>
            </a:r>
            <a:r>
              <a:rPr kumimoji="1" lang="en-US" altLang="ja-JP" dirty="0"/>
              <a:t>. </a:t>
            </a:r>
            <a:r>
              <a:rPr lang="en-US" altLang="ja-JP" dirty="0"/>
              <a:t> </a:t>
            </a:r>
            <a:r>
              <a:rPr lang="el-GR" altLang="ja-JP" dirty="0"/>
              <a:t>η</a:t>
            </a:r>
            <a:r>
              <a:rPr lang="en-US" altLang="ja-JP" baseline="-25000" dirty="0"/>
              <a:t>2 </a:t>
            </a:r>
            <a:r>
              <a:rPr lang="en-US" altLang="ja-JP" dirty="0"/>
              <a:t>=</a:t>
            </a:r>
            <a:r>
              <a:rPr lang="el-GR" altLang="ja-JP" dirty="0"/>
              <a:t> </a:t>
            </a:r>
            <a:r>
              <a:rPr kumimoji="1" lang="el-GR" altLang="ja-JP" dirty="0"/>
              <a:t>∇</a:t>
            </a:r>
            <a:r>
              <a:rPr kumimoji="1" lang="en-US" altLang="ja-JP" dirty="0"/>
              <a:t>F (</a:t>
            </a:r>
            <a:r>
              <a:rPr lang="el-GR" altLang="ja-JP" i="0" dirty="0">
                <a:effectLst/>
              </a:rPr>
              <a:t>θ</a:t>
            </a:r>
            <a:r>
              <a:rPr lang="en-US" altLang="ja-JP" baseline="-25000" dirty="0"/>
              <a:t>1</a:t>
            </a:r>
            <a:r>
              <a:rPr kumimoji="1" lang="en-US" altLang="ja-JP" dirty="0"/>
              <a:t>)</a:t>
            </a:r>
            <a:r>
              <a:rPr kumimoji="1" lang="el-GR" altLang="ja-JP" dirty="0"/>
              <a:t> 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 Build the </a:t>
            </a:r>
            <a:r>
              <a:rPr lang="en-US" altLang="ja-JP" sz="2800" dirty="0">
                <a:solidFill>
                  <a:srgbClr val="FF0000"/>
                </a:solidFill>
              </a:rPr>
              <a:t>Fenchel-Young divergence </a:t>
            </a:r>
            <a:r>
              <a:rPr lang="en-US" altLang="ja-JP" sz="2800" dirty="0"/>
              <a:t>from this inequality: </a:t>
            </a:r>
            <a:r>
              <a:rPr lang="en-US" altLang="ja-JP" sz="2800" dirty="0" err="1"/>
              <a:t>lhs-rhs</a:t>
            </a:r>
            <a:r>
              <a:rPr lang="ja-JP" altLang="en-US" sz="2800" i="0" dirty="0">
                <a:effectLst/>
                <a:latin typeface="Source Sans Pro" panose="020B0503030403020204" pitchFamily="34" charset="0"/>
              </a:rPr>
              <a:t> ≥</a:t>
            </a:r>
            <a:r>
              <a:rPr lang="en-US" altLang="ja-JP" sz="2800" i="0" dirty="0">
                <a:effectLst/>
                <a:latin typeface="Source Sans Pro" panose="020B0503030403020204" pitchFamily="34" charset="0"/>
              </a:rPr>
              <a:t>0</a:t>
            </a:r>
            <a:r>
              <a:rPr kumimoji="1" lang="en-US" altLang="ja-JP" dirty="0"/>
              <a:t>           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accent2"/>
                </a:solidFill>
              </a:rPr>
              <a:t>   Y</a:t>
            </a:r>
            <a:r>
              <a:rPr kumimoji="1" lang="en-US" altLang="ja-JP" baseline="-25000" dirty="0">
                <a:solidFill>
                  <a:schemeClr val="accent2"/>
                </a:solidFill>
              </a:rPr>
              <a:t>F, F*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= F 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 + 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- 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ja-JP" altLang="en-US" sz="2800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  </a:t>
            </a:r>
            <a:r>
              <a:rPr lang="ja-JP" altLang="en-US" sz="2800" i="0" dirty="0">
                <a:effectLst/>
                <a:latin typeface="Source Sans Pro" panose="020B0503030403020204" pitchFamily="34" charset="0"/>
              </a:rPr>
              <a:t>≥ </a:t>
            </a:r>
            <a:r>
              <a:rPr lang="en-US" altLang="ja-JP" sz="2800" i="0" dirty="0">
                <a:effectLst/>
                <a:latin typeface="Source Sans Pro" panose="020B0503030403020204" pitchFamily="34" charset="0"/>
              </a:rPr>
              <a:t>0</a:t>
            </a:r>
            <a:endParaRPr lang="en-US" altLang="ja-JP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sz="2800" dirty="0"/>
              <a:t> </a:t>
            </a:r>
            <a:r>
              <a:rPr lang="en-US" altLang="ja-JP" dirty="0"/>
              <a:t>M</a:t>
            </a:r>
            <a:r>
              <a:rPr lang="en-US" altLang="ja-JP" sz="2800" dirty="0"/>
              <a:t>ixed and dual parameterizations of an underlying geometric divergence  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43F5A-B76D-016F-C438-7FADF2F8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F226C-95D4-40B8-9E1A-366D2434025F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02E20-079E-499D-4B12-81A374D9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467186"/>
            <a:ext cx="9081325" cy="88916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F077DF-0CC0-F75E-3A85-883EBCEFCF77}"/>
              </a:ext>
            </a:extLst>
          </p:cNvPr>
          <p:cNvSpPr txBox="1"/>
          <p:nvPr/>
        </p:nvSpPr>
        <p:spPr>
          <a:xfrm>
            <a:off x="2769173" y="4635975"/>
            <a:ext cx="624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400" dirty="0"/>
              <a:t>η</a:t>
            </a:r>
            <a:r>
              <a:rPr lang="en-US" altLang="ja-JP" sz="2400" dirty="0"/>
              <a:t>=</a:t>
            </a:r>
            <a:r>
              <a:rPr kumimoji="1" lang="el-GR" altLang="ja-JP" sz="2400" dirty="0"/>
              <a:t> ∇</a:t>
            </a:r>
            <a:r>
              <a:rPr kumimoji="1" lang="en-US" altLang="ja-JP" sz="2400" dirty="0"/>
              <a:t>F (</a:t>
            </a:r>
            <a:r>
              <a:rPr lang="el-GR" altLang="ja-JP" sz="2400" i="0" dirty="0">
                <a:effectLst/>
              </a:rPr>
              <a:t>θ</a:t>
            </a:r>
            <a:r>
              <a:rPr kumimoji="1" lang="en-US" altLang="ja-JP" sz="2400" dirty="0"/>
              <a:t>)</a:t>
            </a:r>
            <a:r>
              <a:rPr kumimoji="1" lang="el-GR" altLang="ja-JP" sz="2400" dirty="0"/>
              <a:t> </a:t>
            </a:r>
            <a:r>
              <a:rPr kumimoji="1" lang="en-US" altLang="ja-JP" sz="2400" dirty="0"/>
              <a:t> and </a:t>
            </a:r>
            <a:r>
              <a:rPr lang="el-GR" altLang="ja-JP" sz="2400" i="0" dirty="0">
                <a:effectLst/>
              </a:rPr>
              <a:t>θ</a:t>
            </a:r>
            <a:r>
              <a:rPr lang="en-US" altLang="ja-JP" sz="2400" dirty="0"/>
              <a:t>=</a:t>
            </a:r>
            <a:r>
              <a:rPr kumimoji="1" lang="el-GR" altLang="ja-JP" sz="2400" dirty="0"/>
              <a:t>∇</a:t>
            </a:r>
            <a:r>
              <a:rPr kumimoji="1" lang="en-US" altLang="ja-JP" sz="2400" dirty="0"/>
              <a:t>F* (</a:t>
            </a:r>
            <a:r>
              <a:rPr lang="el-GR" altLang="ja-JP" sz="2400" dirty="0"/>
              <a:t>η</a:t>
            </a:r>
            <a:r>
              <a:rPr kumimoji="1" lang="en-US" altLang="ja-JP" sz="2400" dirty="0"/>
              <a:t>) 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41862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4DD2-74C7-340C-84A7-D00C8C65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18255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Dual Bregman/Fenchel-Young divergences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D86E78-A076-56F1-22D8-A88F3619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24" y="1414180"/>
            <a:ext cx="11845317" cy="5867093"/>
          </a:xfrm>
        </p:spPr>
        <p:txBody>
          <a:bodyPr>
            <a:normAutofit lnSpcReduction="10000"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Gradient map </a:t>
            </a:r>
            <a:r>
              <a:rPr lang="el-GR" altLang="ja-JP" dirty="0"/>
              <a:t>∇</a:t>
            </a:r>
            <a:r>
              <a:rPr lang="en-US" altLang="ja-JP" dirty="0"/>
              <a:t>F yields </a:t>
            </a:r>
            <a:r>
              <a:rPr lang="en-US" altLang="ja-JP" b="1" dirty="0">
                <a:solidFill>
                  <a:srgbClr val="FF0000"/>
                </a:solidFill>
              </a:rPr>
              <a:t>dual parameterization </a:t>
            </a:r>
          </a:p>
          <a:p>
            <a:pPr marL="0" indent="0">
              <a:buNone/>
            </a:pPr>
            <a:r>
              <a:rPr lang="en-US" altLang="ja-JP" dirty="0"/>
              <a:t>                                                      </a:t>
            </a:r>
            <a:r>
              <a:rPr lang="el-GR" altLang="ja-JP" dirty="0"/>
              <a:t>η</a:t>
            </a:r>
            <a:r>
              <a:rPr lang="en-US" altLang="ja-JP" dirty="0"/>
              <a:t>=</a:t>
            </a:r>
            <a:r>
              <a:rPr lang="el-GR" altLang="ja-JP" dirty="0"/>
              <a:t> ∇</a:t>
            </a:r>
            <a:r>
              <a:rPr lang="en-US" altLang="ja-JP" dirty="0"/>
              <a:t>F (</a:t>
            </a:r>
            <a:r>
              <a:rPr lang="el-GR" altLang="ja-JP" dirty="0"/>
              <a:t>θ</a:t>
            </a:r>
            <a:r>
              <a:rPr lang="en-US" altLang="ja-JP" dirty="0"/>
              <a:t>)</a:t>
            </a:r>
          </a:p>
          <a:p>
            <a:endParaRPr lang="en-US" altLang="ja-JP" b="1" dirty="0">
              <a:solidFill>
                <a:srgbClr val="FF0000"/>
              </a:solidFill>
            </a:endParaRPr>
          </a:p>
          <a:p>
            <a:r>
              <a:rPr lang="en-US" altLang="ja-JP" b="1" dirty="0">
                <a:solidFill>
                  <a:srgbClr val="FF0000"/>
                </a:solidFill>
              </a:rPr>
              <a:t>Dual Bregman divergences</a:t>
            </a:r>
            <a:r>
              <a:rPr lang="en-US" altLang="ja-JP" dirty="0"/>
              <a:t>: </a:t>
            </a:r>
            <a:r>
              <a:rPr lang="en-US" altLang="ja-JP" sz="2400" dirty="0">
                <a:solidFill>
                  <a:schemeClr val="accent2"/>
                </a:solidFill>
              </a:rPr>
              <a:t>B</a:t>
            </a:r>
            <a:r>
              <a:rPr lang="en-US" altLang="ja-JP" sz="2400" baseline="-25000" dirty="0">
                <a:solidFill>
                  <a:schemeClr val="accent2"/>
                </a:solidFill>
              </a:rPr>
              <a:t>F</a:t>
            </a:r>
            <a:r>
              <a:rPr lang="en-US" altLang="ja-JP" sz="2400" dirty="0">
                <a:solidFill>
                  <a:schemeClr val="accent2"/>
                </a:solidFill>
              </a:rPr>
              <a:t>(</a:t>
            </a:r>
            <a:r>
              <a:rPr lang="el-GR" altLang="ja-JP" sz="2400" dirty="0">
                <a:solidFill>
                  <a:schemeClr val="accent2"/>
                </a:solidFill>
                <a:latin typeface="Source Sans Pro" panose="020B0503030403020204" pitchFamily="34" charset="0"/>
              </a:rPr>
              <a:t>θ</a:t>
            </a:r>
            <a:r>
              <a:rPr lang="en-US" altLang="ja-JP" sz="2400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1</a:t>
            </a:r>
            <a:r>
              <a:rPr lang="el-GR" altLang="ja-JP" sz="2400" dirty="0">
                <a:solidFill>
                  <a:schemeClr val="accent2"/>
                </a:solidFill>
                <a:latin typeface="Source Sans Pro" panose="020B0503030403020204" pitchFamily="34" charset="0"/>
              </a:rPr>
              <a:t> </a:t>
            </a:r>
            <a:r>
              <a:rPr lang="en-US" altLang="ja-JP" sz="2400" dirty="0">
                <a:solidFill>
                  <a:schemeClr val="accent2"/>
                </a:solidFill>
              </a:rPr>
              <a:t>:</a:t>
            </a:r>
            <a:r>
              <a:rPr lang="el-GR" altLang="ja-JP" sz="2400" dirty="0">
                <a:solidFill>
                  <a:schemeClr val="accent2"/>
                </a:solidFill>
                <a:latin typeface="Source Sans Pro" panose="020B0503030403020204" pitchFamily="34" charset="0"/>
              </a:rPr>
              <a:t> θ</a:t>
            </a:r>
            <a:r>
              <a:rPr lang="en-US" altLang="ja-JP" sz="2400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2</a:t>
            </a:r>
            <a:r>
              <a:rPr lang="en-US" altLang="ja-JP" sz="2400" dirty="0">
                <a:solidFill>
                  <a:schemeClr val="accent2"/>
                </a:solidFill>
              </a:rPr>
              <a:t>)=B</a:t>
            </a:r>
            <a:r>
              <a:rPr lang="en-US" altLang="ja-JP" sz="2400" baseline="-25000" dirty="0">
                <a:solidFill>
                  <a:schemeClr val="accent2"/>
                </a:solidFill>
              </a:rPr>
              <a:t>F*</a:t>
            </a:r>
            <a:r>
              <a:rPr lang="en-US" altLang="ja-JP" sz="2400" dirty="0">
                <a:solidFill>
                  <a:schemeClr val="accent2"/>
                </a:solidFill>
              </a:rPr>
              <a:t>(</a:t>
            </a:r>
            <a:r>
              <a:rPr lang="el-GR" altLang="ja-JP" sz="2400" dirty="0">
                <a:solidFill>
                  <a:schemeClr val="accent2"/>
                </a:solidFill>
              </a:rPr>
              <a:t>η</a:t>
            </a:r>
            <a:r>
              <a:rPr lang="en-US" altLang="ja-JP" sz="2400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2 </a:t>
            </a:r>
            <a:r>
              <a:rPr lang="en-US" altLang="ja-JP" sz="2400" dirty="0">
                <a:solidFill>
                  <a:schemeClr val="accent2"/>
                </a:solidFill>
              </a:rPr>
              <a:t>:</a:t>
            </a:r>
            <a:r>
              <a:rPr lang="el-GR" altLang="ja-JP" sz="2400" dirty="0">
                <a:solidFill>
                  <a:schemeClr val="accent2"/>
                </a:solidFill>
              </a:rPr>
              <a:t>η </a:t>
            </a:r>
            <a:r>
              <a:rPr lang="en-US" altLang="ja-JP" sz="2400" baseline="-25000" dirty="0">
                <a:solidFill>
                  <a:schemeClr val="accent2"/>
                </a:solidFill>
                <a:latin typeface="Source Sans Pro" panose="020B0503030403020204" pitchFamily="34" charset="0"/>
              </a:rPr>
              <a:t>1</a:t>
            </a:r>
            <a:r>
              <a:rPr lang="el-GR" altLang="ja-JP" sz="2400" dirty="0">
                <a:solidFill>
                  <a:schemeClr val="accent2"/>
                </a:solidFill>
                <a:latin typeface="Source Sans Pro" panose="020B0503030403020204" pitchFamily="34" charset="0"/>
              </a:rPr>
              <a:t> </a:t>
            </a:r>
            <a:r>
              <a:rPr lang="en-US" altLang="ja-JP" sz="2400" dirty="0">
                <a:solidFill>
                  <a:schemeClr val="accent2"/>
                </a:solidFill>
              </a:rPr>
              <a:t>) 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         </a:t>
            </a:r>
            <a:r>
              <a:rPr lang="en-US" altLang="ja-JP" sz="2400" dirty="0"/>
              <a:t>where F* is the Legendre-Fenchel transform of F: 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           F*(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dirty="0">
                <a:solidFill>
                  <a:schemeClr val="accent2"/>
                </a:solidFill>
              </a:rPr>
              <a:t>) = sup</a:t>
            </a:r>
            <a:r>
              <a:rPr lang="el-GR" altLang="ja-JP" dirty="0">
                <a:solidFill>
                  <a:schemeClr val="accent2"/>
                </a:solidFill>
              </a:rPr>
              <a:t> </a:t>
            </a:r>
            <a:r>
              <a:rPr lang="el-GR" altLang="ja-JP" baseline="-25000" dirty="0">
                <a:solidFill>
                  <a:schemeClr val="accent2"/>
                </a:solidFill>
              </a:rPr>
              <a:t>θ ∈ ϴ</a:t>
            </a:r>
            <a:r>
              <a:rPr lang="en-US" altLang="ja-JP" baseline="-25000" dirty="0">
                <a:solidFill>
                  <a:schemeClr val="accent2"/>
                </a:solidFill>
              </a:rPr>
              <a:t> </a:t>
            </a:r>
            <a:r>
              <a:rPr lang="en-US" altLang="ja-JP" dirty="0">
                <a:solidFill>
                  <a:schemeClr val="accent2"/>
                </a:solidFill>
              </a:rPr>
              <a:t>{&lt;</a:t>
            </a:r>
            <a:r>
              <a:rPr lang="el-GR" altLang="ja-JP" dirty="0">
                <a:solidFill>
                  <a:schemeClr val="accent2"/>
                </a:solidFill>
              </a:rPr>
              <a:t> θ</a:t>
            </a:r>
            <a:r>
              <a:rPr lang="en-US" altLang="ja-JP" dirty="0">
                <a:solidFill>
                  <a:schemeClr val="accent2"/>
                </a:solidFill>
              </a:rPr>
              <a:t>,</a:t>
            </a:r>
            <a:r>
              <a:rPr lang="el-GR" altLang="ja-JP" dirty="0">
                <a:solidFill>
                  <a:schemeClr val="accent2"/>
                </a:solidFill>
              </a:rPr>
              <a:t> η </a:t>
            </a:r>
            <a:r>
              <a:rPr lang="en-US" altLang="ja-JP" dirty="0">
                <a:solidFill>
                  <a:schemeClr val="accent2"/>
                </a:solidFill>
              </a:rPr>
              <a:t>&gt;-F(</a:t>
            </a:r>
            <a:r>
              <a:rPr lang="el-GR" altLang="ja-JP" dirty="0">
                <a:solidFill>
                  <a:schemeClr val="accent2"/>
                </a:solidFill>
              </a:rPr>
              <a:t>θ</a:t>
            </a:r>
            <a:r>
              <a:rPr lang="en-US" altLang="ja-JP" dirty="0">
                <a:solidFill>
                  <a:schemeClr val="accent2"/>
                </a:solidFill>
              </a:rPr>
              <a:t>)}</a:t>
            </a:r>
          </a:p>
          <a:p>
            <a:pPr marL="0" indent="0">
              <a:buNone/>
            </a:pPr>
            <a:r>
              <a:rPr lang="en-US" altLang="ja-JP" dirty="0"/>
              <a:t>			</a:t>
            </a:r>
            <a:r>
              <a:rPr lang="en-US" altLang="ja-JP" sz="2400" dirty="0"/>
              <a:t>with  </a:t>
            </a:r>
            <a:r>
              <a:rPr lang="el-GR" altLang="ja-JP" sz="2400" dirty="0"/>
              <a:t>θ</a:t>
            </a:r>
            <a:r>
              <a:rPr lang="en-US" altLang="ja-JP" sz="2400" dirty="0"/>
              <a:t>=</a:t>
            </a:r>
            <a:r>
              <a:rPr lang="el-GR" altLang="ja-JP" sz="2400" dirty="0"/>
              <a:t>∇</a:t>
            </a:r>
            <a:r>
              <a:rPr lang="en-US" altLang="ja-JP" sz="2400" dirty="0"/>
              <a:t>F</a:t>
            </a:r>
            <a:r>
              <a:rPr lang="en-US" altLang="ja-JP" sz="2400" baseline="30000" dirty="0"/>
              <a:t>-1 </a:t>
            </a:r>
            <a:r>
              <a:rPr lang="en-US" altLang="ja-JP" sz="2400" dirty="0"/>
              <a:t>(</a:t>
            </a:r>
            <a:r>
              <a:rPr lang="el-GR" altLang="ja-JP" sz="2400" dirty="0"/>
              <a:t>η</a:t>
            </a:r>
            <a:r>
              <a:rPr lang="en-US" altLang="ja-JP" sz="2400" dirty="0"/>
              <a:t>)=</a:t>
            </a:r>
            <a:r>
              <a:rPr lang="el-GR" altLang="ja-JP" sz="2400" dirty="0"/>
              <a:t>∇</a:t>
            </a:r>
            <a:r>
              <a:rPr lang="en-US" altLang="ja-JP" sz="2400" dirty="0"/>
              <a:t>F* (</a:t>
            </a:r>
            <a:r>
              <a:rPr lang="el-GR" altLang="ja-JP" sz="2400" dirty="0"/>
              <a:t>η</a:t>
            </a:r>
            <a:r>
              <a:rPr lang="en-US" altLang="ja-JP" sz="2400" dirty="0"/>
              <a:t>)</a:t>
            </a:r>
            <a:endParaRPr lang="en-US" altLang="ja-JP" dirty="0"/>
          </a:p>
          <a:p>
            <a:r>
              <a:rPr lang="en-US" altLang="ja-JP" dirty="0"/>
              <a:t> Build the </a:t>
            </a:r>
            <a:r>
              <a:rPr lang="en-US" altLang="ja-JP" sz="2800" b="1" dirty="0">
                <a:solidFill>
                  <a:srgbClr val="FF0000"/>
                </a:solidFill>
              </a:rPr>
              <a:t>Fenchel-Young divergence </a:t>
            </a:r>
            <a:r>
              <a:rPr lang="en-US" altLang="ja-JP" sz="2800" dirty="0"/>
              <a:t>from Young inequality: 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   F (</a:t>
            </a:r>
            <a:r>
              <a:rPr lang="el-GR" altLang="ja-JP" dirty="0">
                <a:solidFill>
                  <a:schemeClr val="accent2"/>
                </a:solidFill>
              </a:rPr>
              <a:t>θ</a:t>
            </a:r>
            <a:r>
              <a:rPr lang="en-US" altLang="ja-JP" baseline="-25000" dirty="0">
                <a:solidFill>
                  <a:schemeClr val="accent2"/>
                </a:solidFill>
              </a:rPr>
              <a:t>1</a:t>
            </a:r>
            <a:r>
              <a:rPr lang="en-US" altLang="ja-JP" dirty="0">
                <a:solidFill>
                  <a:schemeClr val="accent2"/>
                </a:solidFill>
              </a:rPr>
              <a:t>)+F*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)  </a:t>
            </a:r>
            <a:r>
              <a:rPr lang="ja-JP" altLang="en-US" dirty="0">
                <a:solidFill>
                  <a:schemeClr val="accent2"/>
                </a:solidFill>
                <a:latin typeface="Source Sans Pro" panose="020B0503030403020204" pitchFamily="34" charset="0"/>
              </a:rPr>
              <a:t>≥   </a:t>
            </a:r>
            <a:r>
              <a:rPr lang="en-US" altLang="ja-JP" dirty="0">
                <a:solidFill>
                  <a:schemeClr val="accent2"/>
                </a:solidFill>
              </a:rPr>
              <a:t>&lt;</a:t>
            </a:r>
            <a:r>
              <a:rPr lang="el-GR" altLang="ja-JP" dirty="0">
                <a:solidFill>
                  <a:schemeClr val="accent2"/>
                </a:solidFill>
              </a:rPr>
              <a:t> θ</a:t>
            </a:r>
            <a:r>
              <a:rPr lang="en-US" altLang="ja-JP" baseline="-25000" dirty="0">
                <a:solidFill>
                  <a:schemeClr val="accent2"/>
                </a:solidFill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en-US" altLang="ja-JP" sz="2800" dirty="0"/>
              <a:t> </a:t>
            </a:r>
            <a:r>
              <a:rPr kumimoji="1" lang="en-US" altLang="ja-JP" dirty="0"/>
              <a:t>           </a:t>
            </a:r>
          </a:p>
          <a:p>
            <a:pPr marL="0" indent="0">
              <a:buNone/>
            </a:pPr>
            <a:r>
              <a:rPr kumimoji="1" lang="en-US" altLang="ja-JP" dirty="0">
                <a:solidFill>
                  <a:schemeClr val="accent2"/>
                </a:solidFill>
              </a:rPr>
              <a:t>   Y</a:t>
            </a:r>
            <a:r>
              <a:rPr kumimoji="1" lang="en-US" altLang="ja-JP" baseline="-25000" dirty="0">
                <a:solidFill>
                  <a:schemeClr val="accent2"/>
                </a:solidFill>
              </a:rPr>
              <a:t>F, F*</a:t>
            </a:r>
            <a:r>
              <a:rPr lang="en-US" altLang="ja-JP" dirty="0">
                <a:solidFill>
                  <a:schemeClr val="accent2"/>
                </a:solidFill>
              </a:rPr>
              <a:t>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= F (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</a:t>
            </a:r>
            <a:r>
              <a:rPr kumimoji="1" lang="en-US" altLang="ja-JP" dirty="0">
                <a:solidFill>
                  <a:schemeClr val="accent2"/>
                </a:solidFill>
              </a:rPr>
              <a:t>) + F* (</a:t>
            </a:r>
            <a:r>
              <a:rPr lang="el-GR" altLang="ja-JP" dirty="0">
                <a:solidFill>
                  <a:schemeClr val="accent2"/>
                </a:solidFill>
              </a:rPr>
              <a:t>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kumimoji="1" lang="en-US" altLang="ja-JP" dirty="0">
                <a:solidFill>
                  <a:schemeClr val="accent2"/>
                </a:solidFill>
              </a:rPr>
              <a:t>) - &lt;</a:t>
            </a:r>
            <a:r>
              <a:rPr lang="el-GR" altLang="ja-JP" i="0" dirty="0">
                <a:solidFill>
                  <a:schemeClr val="accent2"/>
                </a:solidFill>
                <a:effectLst/>
              </a:rPr>
              <a:t> θ</a:t>
            </a:r>
            <a:r>
              <a:rPr lang="en-US" altLang="ja-JP" i="0" baseline="-25000" dirty="0">
                <a:solidFill>
                  <a:schemeClr val="accent2"/>
                </a:solidFill>
                <a:effectLst/>
              </a:rPr>
              <a:t>1 ,</a:t>
            </a:r>
            <a:r>
              <a:rPr lang="el-GR" altLang="ja-JP" dirty="0">
                <a:solidFill>
                  <a:schemeClr val="accent2"/>
                </a:solidFill>
              </a:rPr>
              <a:t> η</a:t>
            </a:r>
            <a:r>
              <a:rPr lang="en-US" altLang="ja-JP" baseline="-25000" dirty="0">
                <a:solidFill>
                  <a:schemeClr val="accent2"/>
                </a:solidFill>
              </a:rPr>
              <a:t>2</a:t>
            </a:r>
            <a:r>
              <a:rPr lang="en-US" altLang="ja-JP" dirty="0">
                <a:solidFill>
                  <a:schemeClr val="accent2"/>
                </a:solidFill>
              </a:rPr>
              <a:t>&gt;</a:t>
            </a:r>
            <a:r>
              <a:rPr lang="ja-JP" altLang="en-US" sz="2800" i="0" dirty="0">
                <a:solidFill>
                  <a:schemeClr val="accent2"/>
                </a:solidFill>
                <a:effectLst/>
                <a:latin typeface="Source Sans Pro" panose="020B0503030403020204" pitchFamily="34" charset="0"/>
              </a:rPr>
              <a:t>   </a:t>
            </a:r>
            <a:r>
              <a:rPr lang="ja-JP" altLang="en-US" sz="2800" i="0" dirty="0">
                <a:effectLst/>
                <a:latin typeface="Source Sans Pro" panose="020B0503030403020204" pitchFamily="34" charset="0"/>
              </a:rPr>
              <a:t>≥ </a:t>
            </a:r>
            <a:r>
              <a:rPr lang="en-US" altLang="ja-JP" sz="2800" i="0" dirty="0">
                <a:effectLst/>
                <a:latin typeface="Source Sans Pro" panose="020B0503030403020204" pitchFamily="34" charset="0"/>
              </a:rPr>
              <a:t>0</a:t>
            </a:r>
            <a:endParaRPr lang="en-US" altLang="ja-JP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sz="2800" dirty="0"/>
              <a:t> </a:t>
            </a:r>
            <a:endParaRPr kumimoji="1" lang="ja-JP" alt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93D24E-06E9-B630-24BA-7043759B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1CF226C-95D4-40B8-9E1A-366D2434025F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5746B-2358-7028-D587-B254D1ED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58" y="6004846"/>
            <a:ext cx="8243962" cy="80717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A3026-2D89-F51C-62A8-9B0155911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170914"/>
            <a:ext cx="3326841" cy="17652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2071C3-FBFB-98CC-9343-03F2DCD14991}"/>
              </a:ext>
            </a:extLst>
          </p:cNvPr>
          <p:cNvSpPr/>
          <p:nvPr/>
        </p:nvSpPr>
        <p:spPr>
          <a:xfrm>
            <a:off x="2030058" y="6087108"/>
            <a:ext cx="8243962" cy="67282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724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E45B-42A4-C5D9-6EC3-9DDC55B7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9060-6842-C9F9-FD86-F7416812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-96991"/>
            <a:ext cx="1166843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Bregman divergences as power distances: CG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D6282-5B1E-EEFA-510D-9C6D6583D5FB}"/>
              </a:ext>
            </a:extLst>
          </p:cNvPr>
          <p:cNvSpPr txBox="1"/>
          <p:nvPr/>
        </p:nvSpPr>
        <p:spPr>
          <a:xfrm>
            <a:off x="675806" y="920481"/>
            <a:ext cx="1148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FF0000"/>
                </a:solidFill>
              </a:rPr>
              <a:t>Use </a:t>
            </a:r>
            <a:r>
              <a:rPr lang="en-US" altLang="ja-JP" sz="2800" b="1" dirty="0">
                <a:solidFill>
                  <a:srgbClr val="FF0000"/>
                </a:solidFill>
              </a:rPr>
              <a:t>toolbox of </a:t>
            </a:r>
            <a:r>
              <a:rPr kumimoji="1" lang="en-US" altLang="ja-JP" sz="2800" b="1" dirty="0">
                <a:solidFill>
                  <a:srgbClr val="FF0000"/>
                </a:solidFill>
              </a:rPr>
              <a:t>computational geometry in information geometry!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888874-6869-73B9-4CFC-B81E6133F214}"/>
              </a:ext>
            </a:extLst>
          </p:cNvPr>
          <p:cNvSpPr txBox="1"/>
          <p:nvPr/>
        </p:nvSpPr>
        <p:spPr>
          <a:xfrm>
            <a:off x="515044" y="5615140"/>
            <a:ext cx="59089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Ex. 1:Bregman Voronoi in</a:t>
            </a:r>
            <a:r>
              <a:rPr lang="el-GR" altLang="ja-JP" sz="3200" dirty="0">
                <a:solidFill>
                  <a:schemeClr val="accent2"/>
                </a:solidFill>
              </a:rPr>
              <a:t>θ </a:t>
            </a:r>
            <a:r>
              <a:rPr kumimoji="1" lang="en-US" altLang="ja-JP" sz="3200" dirty="0"/>
              <a:t>as</a:t>
            </a:r>
          </a:p>
          <a:p>
            <a:r>
              <a:rPr lang="en-US" altLang="ja-JP" sz="3200" dirty="0"/>
              <a:t>clipped power diagrams in </a:t>
            </a:r>
            <a:r>
              <a:rPr lang="el-GR" altLang="ja-JP" sz="3200" dirty="0">
                <a:solidFill>
                  <a:schemeClr val="accent2"/>
                </a:solidFill>
              </a:rPr>
              <a:t>η</a:t>
            </a:r>
            <a:endParaRPr kumimoji="1" lang="ja-JP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E2955-28BF-0E6B-C6E9-649921FA4885}"/>
              </a:ext>
            </a:extLst>
          </p:cNvPr>
          <p:cNvSpPr txBox="1"/>
          <p:nvPr/>
        </p:nvSpPr>
        <p:spPr>
          <a:xfrm>
            <a:off x="6673074" y="5610931"/>
            <a:ext cx="55066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Ex. 2:Bregman </a:t>
            </a:r>
            <a:r>
              <a:rPr kumimoji="1" lang="en-US" altLang="ja-JP" sz="3200" dirty="0" err="1"/>
              <a:t>miniball</a:t>
            </a:r>
            <a:r>
              <a:rPr lang="en-US" altLang="ja-JP" sz="3200" dirty="0"/>
              <a:t> in</a:t>
            </a:r>
            <a:r>
              <a:rPr lang="el-GR" altLang="ja-JP" sz="3200" dirty="0">
                <a:solidFill>
                  <a:schemeClr val="accent2"/>
                </a:solidFill>
              </a:rPr>
              <a:t>θ</a:t>
            </a:r>
            <a:r>
              <a:rPr kumimoji="1" lang="en-US" altLang="ja-JP" sz="3200" dirty="0"/>
              <a:t> </a:t>
            </a:r>
          </a:p>
          <a:p>
            <a:r>
              <a:rPr kumimoji="1" lang="en-US" altLang="ja-JP" sz="3200" dirty="0"/>
              <a:t>As</a:t>
            </a:r>
            <a:r>
              <a:rPr lang="en-US" altLang="ja-JP" sz="3200" dirty="0"/>
              <a:t> Power </a:t>
            </a:r>
            <a:r>
              <a:rPr lang="en-US" altLang="ja-JP" sz="3200" dirty="0" err="1"/>
              <a:t>miniball</a:t>
            </a:r>
            <a:r>
              <a:rPr lang="en-US" altLang="ja-JP" sz="3200" dirty="0"/>
              <a:t> in </a:t>
            </a:r>
            <a:r>
              <a:rPr lang="el-GR" altLang="ja-JP" sz="3200" dirty="0">
                <a:solidFill>
                  <a:schemeClr val="accent2"/>
                </a:solidFill>
              </a:rPr>
              <a:t>η</a:t>
            </a:r>
            <a:endParaRPr kumimoji="1" lang="ja-JP" alt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882FBE-7652-C844-DF22-3D0FF27D4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975" y="1531828"/>
            <a:ext cx="4086225" cy="39909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193597-3370-842A-58FC-9F809E0212DF}"/>
              </a:ext>
            </a:extLst>
          </p:cNvPr>
          <p:cNvSpPr txBox="1"/>
          <p:nvPr/>
        </p:nvSpPr>
        <p:spPr>
          <a:xfrm>
            <a:off x="10764223" y="6573107"/>
            <a:ext cx="1541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accent6"/>
                </a:solidFill>
              </a:rPr>
              <a:t>2607.24197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52A478-02E3-9A4E-E441-1D1857F16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86" y="1471609"/>
            <a:ext cx="4086226" cy="41114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6E944A-1FCA-DDFE-F0E6-5E851B880D87}"/>
              </a:ext>
            </a:extLst>
          </p:cNvPr>
          <p:cNvSpPr txBox="1"/>
          <p:nvPr/>
        </p:nvSpPr>
        <p:spPr>
          <a:xfrm>
            <a:off x="1084110" y="5038913"/>
            <a:ext cx="3748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Kullback</a:t>
            </a:r>
            <a:r>
              <a:rPr kumimoji="1" lang="en-US" altLang="ja-JP" dirty="0"/>
              <a:t>-Leibler Voronoi diagram</a:t>
            </a: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644A5-E826-8A37-E870-20028C459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369" y="3274142"/>
            <a:ext cx="2149099" cy="1764771"/>
          </a:xfrm>
          <a:prstGeom prst="rect">
            <a:avLst/>
          </a:prstGeom>
        </p:spPr>
      </p:pic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9101AE43-5374-7C1D-0562-9A9BEC8C179D}"/>
              </a:ext>
            </a:extLst>
          </p:cNvPr>
          <p:cNvSpPr/>
          <p:nvPr/>
        </p:nvSpPr>
        <p:spPr>
          <a:xfrm>
            <a:off x="7160484" y="3998874"/>
            <a:ext cx="1140542" cy="442452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099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2527</TotalTime>
  <Words>1816</Words>
  <Application>Microsoft Office PowerPoint</Application>
  <PresentationFormat>Widescreen</PresentationFormat>
  <Paragraphs>219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-apple-system</vt:lpstr>
      <vt:lpstr>Google Sans</vt:lpstr>
      <vt:lpstr>Inter</vt:lpstr>
      <vt:lpstr>游ゴシック</vt:lpstr>
      <vt:lpstr>游ゴシック Light</vt:lpstr>
      <vt:lpstr>Arial</vt:lpstr>
      <vt:lpstr>Cambria Math</vt:lpstr>
      <vt:lpstr>Georgia</vt:lpstr>
      <vt:lpstr>Source Sans Pro</vt:lpstr>
      <vt:lpstr>Office Theme</vt:lpstr>
      <vt:lpstr>On polarities and computational convexity</vt:lpstr>
      <vt:lpstr>Background: G (1998) → GG (2007) → GGG (2026)</vt:lpstr>
      <vt:lpstr>A view of the squared Euclidean distance</vt:lpstr>
      <vt:lpstr>Bregman divergences: Convex potential functions</vt:lpstr>
      <vt:lpstr>Bregman divergences unify important distortions</vt:lpstr>
      <vt:lpstr>Bregman divergences are the workhorses in ML and AI</vt:lpstr>
      <vt:lpstr>Dual Bregman/Fenchel-Young divergences</vt:lpstr>
      <vt:lpstr>Bregman divergences as power distances</vt:lpstr>
      <vt:lpstr>Bregman divergences as power distances: CG</vt:lpstr>
      <vt:lpstr>PowerPoint Presentation</vt:lpstr>
      <vt:lpstr>Convex conjugates from quadratic polarities*</vt:lpstr>
      <vt:lpstr>PowerPoint Presentation</vt:lpstr>
      <vt:lpstr>Legendre transform and gauge transformations*</vt:lpstr>
      <vt:lpstr>PowerPoint Presentation</vt:lpstr>
      <vt:lpstr>Convex conjugates F* via neural networks*</vt:lpstr>
      <vt:lpstr>Computational geometry for Machine Learning</vt:lpstr>
      <vt:lpstr>Bregman divergences as power distances: CG</vt:lpstr>
      <vt:lpstr>PowerPoint Presentation</vt:lpstr>
      <vt:lpstr>PowerPoint Presentation</vt:lpstr>
      <vt:lpstr>Recap: On polarities and computational convexity</vt:lpstr>
      <vt:lpstr>PowerPoint Presentation</vt:lpstr>
      <vt:lpstr>Summary</vt:lpstr>
      <vt:lpstr>Preconditioning Neural Legendre transform</vt:lpstr>
      <vt:lpstr>Convex duality via Legendre-Fenchel transform</vt:lpstr>
      <vt:lpstr> Dual Fenchel-Young/Bregman divergences</vt:lpstr>
      <vt:lpstr>Dual Bregman/Fenchel-Young divergences</vt:lpstr>
      <vt:lpstr>Bregman divergences as power distances: CG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25</cp:revision>
  <dcterms:created xsi:type="dcterms:W3CDTF">2026-08-19T02:09:54Z</dcterms:created>
  <dcterms:modified xsi:type="dcterms:W3CDTF">2026-09-09T11:29:14Z</dcterms:modified>
</cp:coreProperties>
</file>
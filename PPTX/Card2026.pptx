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61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239C9-9374-ABAD-0AE0-C761C09893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AAAC97-168E-4A16-9328-6927A76D1B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A66067-F7AA-E339-6389-7147A2919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6BB78-D315-06BE-2981-3F816A22F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F9057-AFD4-0043-3CCC-56DF53B6D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2689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AFD40-B809-3C9F-EE67-2028530F9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B31E3-1474-74BF-D02A-BB4E77A0B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EA3D6E-9811-D6E8-74EC-E4012802D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94ABE-996D-491B-8A98-116333B03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E6061-609E-42DA-0FD3-65A634584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0103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023DB-A5AF-65AF-3075-CC26A744C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EC59E4-FAA5-274A-57E0-F51F38C51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C804F-C02F-2E44-FBC8-FF45288A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255B0-0D08-7232-C728-1367A8496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3519B6-9EA0-944B-026A-8C817FC61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2411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361D3-4761-DCB0-FA6D-05DEB65EC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E815E-A8FC-70C3-8F1D-8B4DCED553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B3AEA7-FD8E-070A-EC09-F679DA0B9C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3E8143-961E-F3C0-52A0-BB0475FF4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5CC5D6-9E40-0F8E-4A39-64EB85F8B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1A5366-7AC9-8D07-5543-69A8A634A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583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82C60-C718-6D23-2961-7DE5A4F6A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CF17AC-4A7E-8605-6569-20C7ACAC32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E1A491-6428-DE09-3387-BBD1BF9B45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6CFD77-A493-55EA-31B4-2840F551E9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957F5C-7CE9-05E0-BF89-4235CCB53A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450C7B-8F90-1469-9302-ABC80D22D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5260D0-6DE9-3168-1CB1-1293D2461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897E96-6138-E26D-0768-A02A95206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4688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41D55-9246-7932-A26D-7FE0267ED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3B9E1F-6E53-6435-06D0-FD76A5914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E20CD1-7DD9-8A77-9A61-65A9CE109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A834D4-B5A7-32E6-A148-8B675D6BB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6769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D2D3A4-A59B-7439-3ECF-BBFCB4218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58BCDD-663C-1BC6-DBA3-C550B2A3B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D1B1E6-A0E4-2BC7-84F0-14863A1EA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643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97CAC-4F1B-8698-1E0F-B7B24BD52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88E64-70A6-C4A6-A41F-38958E65A7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5EC94C-847F-6A46-44B1-1533F1409D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3D6538-4F24-5099-DA45-6F07BE585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3DB032-BA4B-5E71-5A3E-055BA6B02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3D3ECB-33C5-CD16-0F52-5921B82BE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240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91F1B-CAC4-8373-3110-87D2A99BD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22604E-A63E-0C72-42C8-FABC73552C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DC517B-6ED5-329B-7077-8A4913E4B8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EB503-174F-4E2D-FA22-4135107C1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449F94-2A27-1343-F35A-4B65C7A3A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60442C-58ED-81FC-32E1-604D9AD35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9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79ED9-366A-E882-8D39-8DE71F325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158CB5-DF20-D0F3-07FF-F6F517DB6C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F4532-E5AA-3B1E-9840-A83AB11F7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A9219A-4DD0-2BCA-35BA-A32F0C434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DC28C-38EF-E40D-0876-2E100A066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3024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F768D81-99F4-EBE4-5A91-83E8A592FA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B327B0-7422-639A-CB02-A5F1FA29B6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2F8968-5531-4AAA-EA6A-4F00D0EF5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F6E655-73BE-475C-A322-465F16C35255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1D896-3C3D-59B6-3EB3-C5D4501DD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6E8E09-171D-E064-24B4-66C4960A8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3054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02C27-AFD3-6510-8360-D7C1B263F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46DE2-7FB2-ED32-EA57-F082C6FE65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4ECB99-595E-F2CF-D842-AA8C6E261B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F6E655-73BE-475C-A322-465F16C35255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62FEE-24B9-A49A-F568-18D01898EA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6C5F1-A8FC-4D99-B665-8FD6423A3A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304A8A-96AA-48CE-A230-EC5A965794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7562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1FE334-BA97-927E-F01A-42763909B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425" y="178313"/>
            <a:ext cx="11894575" cy="1325563"/>
          </a:xfrm>
        </p:spPr>
        <p:txBody>
          <a:bodyPr>
            <a:normAutofit fontScale="90000"/>
          </a:bodyPr>
          <a:lstStyle/>
          <a:p>
            <a:r>
              <a:rPr lang="en-US" altLang="ja-JP" b="1" dirty="0">
                <a:solidFill>
                  <a:schemeClr val="accent4"/>
                </a:solidFill>
              </a:rPr>
              <a:t>Fenchel-Young divergence interpreted as </a:t>
            </a:r>
            <a:br>
              <a:rPr lang="en-US" altLang="ja-JP" b="1" dirty="0">
                <a:solidFill>
                  <a:schemeClr val="accent4"/>
                </a:solidFill>
              </a:rPr>
            </a:br>
            <a:r>
              <a:rPr lang="en-US" altLang="ja-JP" b="1" dirty="0">
                <a:solidFill>
                  <a:schemeClr val="accent4"/>
                </a:solidFill>
              </a:rPr>
              <a:t>matrix-vector/inner product operations (GPU friendly)</a:t>
            </a:r>
            <a:endParaRPr lang="ja-JP" altLang="en-US" b="1" dirty="0">
              <a:solidFill>
                <a:schemeClr val="accent4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F0D1F3-4FD8-E5D2-C2BB-9A61E20DFA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788" y="1965541"/>
            <a:ext cx="6808300" cy="6885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1DF80A-74FA-222A-7623-8949B10DA7F1}"/>
              </a:ext>
            </a:extLst>
          </p:cNvPr>
          <p:cNvSpPr txBox="1"/>
          <p:nvPr/>
        </p:nvSpPr>
        <p:spPr>
          <a:xfrm>
            <a:off x="548640" y="1503876"/>
            <a:ext cx="98427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F a Legendre-type strictly convex function with convex conjugate F*</a:t>
            </a:r>
            <a:endParaRPr kumimoji="1" lang="ja-JP" altLang="en-US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CC0262-8ADA-D748-7E51-0EAEC4663DC6}"/>
              </a:ext>
            </a:extLst>
          </p:cNvPr>
          <p:cNvSpPr txBox="1"/>
          <p:nvPr/>
        </p:nvSpPr>
        <p:spPr>
          <a:xfrm>
            <a:off x="403122" y="2061286"/>
            <a:ext cx="47099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Fenchel-Young divergence:</a:t>
            </a:r>
            <a:endParaRPr kumimoji="1" lang="ja-JP" alt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197DEA-9262-1572-FFAD-E55AC1FB948A}"/>
              </a:ext>
            </a:extLst>
          </p:cNvPr>
          <p:cNvSpPr txBox="1"/>
          <p:nvPr/>
        </p:nvSpPr>
        <p:spPr>
          <a:xfrm>
            <a:off x="473741" y="2680436"/>
            <a:ext cx="115419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/>
              <a:t>H</a:t>
            </a:r>
            <a:r>
              <a:rPr kumimoji="1" lang="en-US" altLang="ja-JP" sz="2800" dirty="0"/>
              <a:t>omogeneous vectors of points on the graphs of potential functions:</a:t>
            </a:r>
            <a:endParaRPr kumimoji="1" lang="ja-JP" altLang="en-US" sz="2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24A2A8-9367-9BA9-F871-70FA720289C1}"/>
              </a:ext>
            </a:extLst>
          </p:cNvPr>
          <p:cNvSpPr txBox="1"/>
          <p:nvPr/>
        </p:nvSpPr>
        <p:spPr>
          <a:xfrm>
            <a:off x="297426" y="4296575"/>
            <a:ext cx="110850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Rewrite FY divergence using matrix vector/inner  products (GPU):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4BBCA7-652B-1322-87C3-7A26A8E8E4DF}"/>
              </a:ext>
            </a:extLst>
          </p:cNvPr>
          <p:cNvSpPr txBox="1"/>
          <p:nvPr/>
        </p:nvSpPr>
        <p:spPr>
          <a:xfrm>
            <a:off x="336912" y="5912714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/>
              <a:t>(stems from polarity viewpoint)</a:t>
            </a:r>
            <a:endParaRPr kumimoji="1" lang="ja-JP" altLang="en-US" sz="24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DC5818B-B1EF-FE8E-4D96-2782305BFE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3886" y="4841695"/>
            <a:ext cx="5071202" cy="1109107"/>
          </a:xfrm>
          <a:prstGeom prst="rect">
            <a:avLst/>
          </a:prstGeom>
        </p:spPr>
      </p:pic>
      <p:sp>
        <p:nvSpPr>
          <p:cNvPr id="21" name="Arrow: Right 20">
            <a:extLst>
              <a:ext uri="{FF2B5EF4-FFF2-40B4-BE49-F238E27FC236}">
                <a16:creationId xmlns:a16="http://schemas.microsoft.com/office/drawing/2014/main" id="{7D6302DF-DE69-5CD1-D4F2-D326C3A83990}"/>
              </a:ext>
            </a:extLst>
          </p:cNvPr>
          <p:cNvSpPr/>
          <p:nvPr/>
        </p:nvSpPr>
        <p:spPr>
          <a:xfrm>
            <a:off x="5934784" y="5157962"/>
            <a:ext cx="849102" cy="4616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C62C0A-3893-F923-15DB-A04A9853BD8F}"/>
              </a:ext>
            </a:extLst>
          </p:cNvPr>
          <p:cNvSpPr txBox="1"/>
          <p:nvPr/>
        </p:nvSpPr>
        <p:spPr>
          <a:xfrm>
            <a:off x="2597508" y="6383960"/>
            <a:ext cx="9724103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99"/>
              </a:lnSpc>
              <a:spcAft>
                <a:spcPts val="900"/>
              </a:spcAft>
            </a:pPr>
            <a:r>
              <a:rPr lang="en-US" altLang="ja-JP" b="1" i="0" dirty="0">
                <a:solidFill>
                  <a:schemeClr val="accent6"/>
                </a:solidFill>
                <a:effectLst/>
                <a:latin typeface="Lucida Grande"/>
              </a:rPr>
              <a:t>Neural Legendre-Fenchel transform with Hessian Preconditioning, </a:t>
            </a:r>
            <a:r>
              <a:rPr lang="en-US" altLang="ja-JP" b="1" i="0" dirty="0" err="1">
                <a:solidFill>
                  <a:schemeClr val="accent6"/>
                </a:solidFill>
                <a:effectLst/>
                <a:latin typeface="Lucida Grande"/>
              </a:rPr>
              <a:t>arXiv</a:t>
            </a:r>
            <a:r>
              <a:rPr lang="en-US" altLang="ja-JP" b="1" i="0" dirty="0">
                <a:solidFill>
                  <a:schemeClr val="accent6"/>
                </a:solidFill>
                <a:effectLst/>
                <a:latin typeface="Lucida Grande"/>
              </a:rPr>
              <a:t>: 2606.09077</a:t>
            </a:r>
          </a:p>
          <a:p>
            <a:pPr>
              <a:buNone/>
            </a:pPr>
            <a:br>
              <a:rPr lang="en-US" altLang="ja-JP" dirty="0"/>
            </a:br>
            <a:endParaRPr lang="ja-JP" altLang="en-US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E914219-50B1-7BA7-EFA9-1B3CFDD2C7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4822" y="3184031"/>
            <a:ext cx="4320356" cy="109064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6F5072C-7646-5ACA-B654-A615BC6D16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04" y="4839486"/>
            <a:ext cx="5111356" cy="105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929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70D42-9909-A818-A011-A73D8A1E2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568" y="0"/>
            <a:ext cx="12022394" cy="1325563"/>
          </a:xfrm>
        </p:spPr>
        <p:txBody>
          <a:bodyPr>
            <a:normAutofit/>
          </a:bodyPr>
          <a:lstStyle/>
          <a:p>
            <a:r>
              <a:rPr kumimoji="1" lang="en-US" altLang="ja-JP" sz="4000" b="1" dirty="0">
                <a:solidFill>
                  <a:srgbClr val="00B0F0"/>
                </a:solidFill>
              </a:rPr>
              <a:t>Fenchel-Young divergences as inner products (GPU)</a:t>
            </a:r>
            <a:endParaRPr kumimoji="1" lang="ja-JP" altLang="en-US" sz="4000" b="1" dirty="0">
              <a:solidFill>
                <a:srgbClr val="00B0F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62D0F0-1F62-CD90-25BE-181BDD1BF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5658" y="1973928"/>
            <a:ext cx="7231774" cy="15699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9A205B-6AC4-860E-7955-9E3D566B1805}"/>
              </a:ext>
            </a:extLst>
          </p:cNvPr>
          <p:cNvSpPr txBox="1"/>
          <p:nvPr/>
        </p:nvSpPr>
        <p:spPr>
          <a:xfrm>
            <a:off x="369016" y="981685"/>
            <a:ext cx="111445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400" dirty="0"/>
              <a:t>F a Legendre-type strictly convex function with convex conjugate F*, (F*)*=F</a:t>
            </a:r>
            <a:endParaRPr kumimoji="1" lang="ja-JP" alt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C8DAA3-0DBE-84C3-8DBB-32B622C57627}"/>
              </a:ext>
            </a:extLst>
          </p:cNvPr>
          <p:cNvSpPr txBox="1"/>
          <p:nvPr/>
        </p:nvSpPr>
        <p:spPr>
          <a:xfrm>
            <a:off x="268083" y="3552820"/>
            <a:ext cx="111445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400" dirty="0"/>
              <a:t>Geometric interpretation: Legendre transform considered as a </a:t>
            </a:r>
            <a:r>
              <a:rPr kumimoji="1" lang="en-US" altLang="ja-JP" sz="2400" dirty="0">
                <a:solidFill>
                  <a:srgbClr val="FF0000"/>
                </a:solidFill>
              </a:rPr>
              <a:t>polarity</a:t>
            </a:r>
            <a:endParaRPr kumimoji="1" lang="ja-JP" altLang="en-US" sz="2400" dirty="0">
              <a:solidFill>
                <a:srgbClr val="FF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030CDD-2AFF-551F-4A5C-89FDC984DF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9994" y="4168372"/>
            <a:ext cx="5071202" cy="1109107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4D54A6F5-5FCD-E031-CE5F-E279CFE8467A}"/>
              </a:ext>
            </a:extLst>
          </p:cNvPr>
          <p:cNvSpPr/>
          <p:nvPr/>
        </p:nvSpPr>
        <p:spPr>
          <a:xfrm>
            <a:off x="6080892" y="4484639"/>
            <a:ext cx="849102" cy="4616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C6229C-E636-EE8A-CC6C-F7F7718C8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12" y="4166163"/>
            <a:ext cx="5111356" cy="105353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871917C-DC52-18EA-002E-DCDC76547D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144" y="5330993"/>
            <a:ext cx="4320356" cy="10906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739D140-0395-7EFD-B89D-A54189561025}"/>
              </a:ext>
            </a:extLst>
          </p:cNvPr>
          <p:cNvSpPr txBox="1"/>
          <p:nvPr/>
        </p:nvSpPr>
        <p:spPr>
          <a:xfrm>
            <a:off x="161461" y="5593746"/>
            <a:ext cx="1114455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sz="2400" dirty="0"/>
              <a:t>where</a:t>
            </a:r>
            <a:endParaRPr kumimoji="1" lang="ja-JP" altLang="en-US" sz="3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E12884-4D9A-F039-A85C-761C95F26053}"/>
              </a:ext>
            </a:extLst>
          </p:cNvPr>
          <p:cNvSpPr txBox="1"/>
          <p:nvPr/>
        </p:nvSpPr>
        <p:spPr>
          <a:xfrm>
            <a:off x="5941294" y="5460816"/>
            <a:ext cx="837201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/>
              <a:t>are h</a:t>
            </a:r>
            <a:r>
              <a:rPr kumimoji="1" lang="en-US" altLang="ja-JP" sz="2400" dirty="0"/>
              <a:t>omogeneous vectors of </a:t>
            </a:r>
          </a:p>
          <a:p>
            <a:r>
              <a:rPr kumimoji="1" lang="en-US" altLang="ja-JP" sz="2400" dirty="0"/>
              <a:t>points on the graphs of potential functions</a:t>
            </a:r>
            <a:endParaRPr lang="ja-JP" altLang="en-US" sz="2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A490AD-BF52-E682-8C58-A64CAFB3A019}"/>
              </a:ext>
            </a:extLst>
          </p:cNvPr>
          <p:cNvSpPr txBox="1"/>
          <p:nvPr/>
        </p:nvSpPr>
        <p:spPr>
          <a:xfrm>
            <a:off x="2597508" y="6383960"/>
            <a:ext cx="9724103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99"/>
              </a:lnSpc>
              <a:spcAft>
                <a:spcPts val="900"/>
              </a:spcAft>
            </a:pPr>
            <a:r>
              <a:rPr lang="en-US" altLang="ja-JP" b="1" i="0" dirty="0">
                <a:solidFill>
                  <a:schemeClr val="accent6"/>
                </a:solidFill>
                <a:effectLst/>
                <a:latin typeface="Lucida Grande"/>
              </a:rPr>
              <a:t>Neural Legendre-Fenchel transform with Hessian Preconditioning, </a:t>
            </a:r>
            <a:r>
              <a:rPr lang="en-US" altLang="ja-JP" b="1" i="0" dirty="0" err="1">
                <a:solidFill>
                  <a:schemeClr val="accent6"/>
                </a:solidFill>
                <a:effectLst/>
                <a:latin typeface="Lucida Grande"/>
              </a:rPr>
              <a:t>arXiv</a:t>
            </a:r>
            <a:r>
              <a:rPr lang="en-US" altLang="ja-JP" b="1" i="0" dirty="0">
                <a:solidFill>
                  <a:schemeClr val="accent6"/>
                </a:solidFill>
                <a:effectLst/>
                <a:latin typeface="Lucida Grande"/>
              </a:rPr>
              <a:t>: 2606.09077</a:t>
            </a:r>
          </a:p>
          <a:p>
            <a:pPr>
              <a:buNone/>
            </a:pPr>
            <a:br>
              <a:rPr lang="en-US" altLang="ja-JP" dirty="0"/>
            </a:br>
            <a:endParaRPr lang="ja-JP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D68F7E-71D4-D5BA-DDF1-0C9F2CFDB6C8}"/>
              </a:ext>
            </a:extLst>
          </p:cNvPr>
          <p:cNvSpPr txBox="1"/>
          <p:nvPr/>
        </p:nvSpPr>
        <p:spPr>
          <a:xfrm>
            <a:off x="369016" y="1360585"/>
            <a:ext cx="109370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400" dirty="0"/>
              <a:t>Fenchel-Young divergences are equivalent to Bregman divergences:</a:t>
            </a:r>
            <a:endParaRPr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041938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D7578-C7AB-615D-31A5-D51B8CDDA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3520E1-E08A-352B-00AE-CFBA5343A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0" y="809942"/>
            <a:ext cx="5506865" cy="53968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C39EEF-7948-7AE9-CFF0-8E81E2C32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960" y="809942"/>
            <a:ext cx="6147885" cy="5396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68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f8e20e6-048a-4bad-a26b-318dd1cd4d47}" enabled="1" method="Privileged" siteId="{66c65d8a-9158-4521-a2d8-664963db48e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1635</TotalTime>
  <Words>131</Words>
  <Application>Microsoft Office PowerPoint</Application>
  <PresentationFormat>Widescreen</PresentationFormat>
  <Paragraphs>17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Lucida Grande</vt:lpstr>
      <vt:lpstr>游ゴシック</vt:lpstr>
      <vt:lpstr>游ゴシック Light</vt:lpstr>
      <vt:lpstr>Arial</vt:lpstr>
      <vt:lpstr>Office Theme</vt:lpstr>
      <vt:lpstr>Fenchel-Young divergence interpreted as  matrix-vector/inner product operations (GPU friendly)</vt:lpstr>
      <vt:lpstr>Fenchel-Young divergences as inner products (GPU)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Nielsen, Frank (SonyCSL)</dc:creator>
  <cp:lastModifiedBy>Nielsen, Frank (SonyCSL)</cp:lastModifiedBy>
  <cp:revision>4</cp:revision>
  <dcterms:created xsi:type="dcterms:W3CDTF">2026-06-10T01:18:57Z</dcterms:created>
  <dcterms:modified xsi:type="dcterms:W3CDTF">2026-06-23T03:59:02Z</dcterms:modified>
</cp:coreProperties>
</file>
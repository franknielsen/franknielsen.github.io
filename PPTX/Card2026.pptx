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248" autoAdjust="0"/>
  </p:normalViewPr>
  <p:slideViewPr>
    <p:cSldViewPr snapToGrid="0">
      <p:cViewPr varScale="1">
        <p:scale>
          <a:sx n="61" d="100"/>
          <a:sy n="61" d="100"/>
        </p:scale>
        <p:origin x="149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6D387C-1801-43CF-AF88-1F3BDBE77E2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AAD82C-0174-463E-B2F4-286F3D6C61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85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$$\Delta x \times \Delta </a:t>
                </a:r>
                <a:r>
                  <a:rPr kumimoji="1" lang="en-US" altLang="ja-JP" dirty="0" err="1"/>
                  <a:t>p_x</a:t>
                </a:r>
                <a:r>
                  <a:rPr kumimoji="1" lang="en-US" altLang="ja-JP" dirty="0"/>
                  <a:t> \</a:t>
                </a:r>
                <a:r>
                  <a:rPr kumimoji="1" lang="en-US" altLang="ja-JP" dirty="0" err="1"/>
                  <a:t>geq</a:t>
                </a:r>
                <a:r>
                  <a:rPr kumimoji="1" lang="en-US" altLang="ja-JP" dirty="0"/>
                  <a:t> \frac{h}{4\pi},\quad h := 6.62607015\times 10^{-34}$$$$\Delta I=k \ln \frac{\#\mbox{Possible cases}_{\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{before}}}{\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{Possible cases}_{\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{after}}}$$$$\underbrace{\Delta S}_{\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{Increase in entropy}} \</a:t>
                </a:r>
                <a:r>
                  <a:rPr kumimoji="1" lang="en-US" altLang="ja-JP" dirty="0" err="1"/>
                  <a:t>geq</a:t>
                </a:r>
                <a:r>
                  <a:rPr kumimoji="1" lang="en-US" altLang="ja-JP" dirty="0"/>
                  <a:t> \underbrace{\Delta I}_{\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{gained by observation}}$$$$\Delta E \Delta x\</a:t>
                </a:r>
                <a:r>
                  <a:rPr kumimoji="1" lang="en-US" altLang="ja-JP" dirty="0" err="1"/>
                  <a:t>geq</a:t>
                </a:r>
                <a:r>
                  <a:rPr kumimoji="1" lang="en-US" altLang="ja-JP" dirty="0"/>
                  <a:t> \frac{1}{2} </a:t>
                </a:r>
                <a:r>
                  <a:rPr kumimoji="1" lang="en-US" altLang="ja-JP" dirty="0" err="1"/>
                  <a:t>hc</a:t>
                </a:r>
                <a:r>
                  <a:rPr kumimoji="1" lang="en-US" altLang="ja-JP" dirty="0"/>
                  <a:t>$$</a:t>
                </a:r>
              </a:p>
              <a:p>
                <a:endParaRPr kumimoji="1" lang="en-US" altLang="ja-JP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en-US" altLang="ja-JP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en-US" altLang="ja-JP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en-US" altLang="ja-JP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ja-JP" i="0" dirty="0" smtClean="0">
                          <a:latin typeface="Cambria Math" panose="02040503050406030204" pitchFamily="18" charset="0"/>
                        </a:rPr>
                        <m:t>≤0, </m:t>
                      </m:r>
                      <m:r>
                        <m:rPr>
                          <m:sty m:val="p"/>
                        </m:rPr>
                        <a:rPr kumimoji="1" lang="en-US" altLang="ja-JP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en-US" altLang="ja-JP" i="0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kumimoji="1" lang="en-US" altLang="ja-JP" i="0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kumimoji="1" lang="ja-JP" altLang="en-US" dirty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ja-JP" altLang="en-US" i="1" dirty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kumimoji="1" lang="ja-JP" altLang="en-US" i="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1" lang="ja-JP" altLang="en-US" i="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ja-JP" altLang="en-US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ja-JP" altLang="en-US" i="0" dirty="0">
                          <a:latin typeface="Cambria Math" panose="02040503050406030204" pitchFamily="18" charset="0"/>
                        </a:rPr>
                        <m:t>≤0, </m:t>
                      </m:r>
                      <m:r>
                        <m:rPr>
                          <m:sty m:val="p"/>
                        </m:rPr>
                        <a:rPr kumimoji="1" lang="ja-JP" altLang="en-US" i="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ja-JP" altLang="en-US" i="1" dirty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kumimoji="1" lang="ja-JP" altLang="en-US" i="0" dirty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kumimoji="1" lang="ja-JP" altLang="en-US" i="0" dirty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kumimoji="1" lang="ja-JP" altLang="en-US" i="1" dirty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en-US" altLang="ja-JP" dirty="0"/>
                  <a:t>$$\Delta x \times \Delta </a:t>
                </a:r>
                <a:r>
                  <a:rPr kumimoji="1" lang="en-US" altLang="ja-JP" dirty="0" err="1"/>
                  <a:t>p_x</a:t>
                </a:r>
                <a:r>
                  <a:rPr kumimoji="1" lang="en-US" altLang="ja-JP" dirty="0"/>
                  <a:t> \</a:t>
                </a:r>
                <a:r>
                  <a:rPr kumimoji="1" lang="en-US" altLang="ja-JP" dirty="0" err="1"/>
                  <a:t>geq</a:t>
                </a:r>
                <a:r>
                  <a:rPr kumimoji="1" lang="en-US" altLang="ja-JP" dirty="0"/>
                  <a:t> \frac{h}{4\pi},\quad h := 6.62607015\times 10^{-34}$$$$\Delta I=k \ln \frac{\#\mbox{Possible cases}_{\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{before}}}{\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{Possible cases}_{\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{after}}}$$$$\underbrace{\Delta S}_{\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{Increase in entropy}} \</a:t>
                </a:r>
                <a:r>
                  <a:rPr kumimoji="1" lang="en-US" altLang="ja-JP" dirty="0" err="1"/>
                  <a:t>geq</a:t>
                </a:r>
                <a:r>
                  <a:rPr kumimoji="1" lang="en-US" altLang="ja-JP" dirty="0"/>
                  <a:t> \underbrace{\Delta I}_{\</a:t>
                </a:r>
                <a:r>
                  <a:rPr kumimoji="1" lang="en-US" altLang="ja-JP" dirty="0" err="1"/>
                  <a:t>mbox</a:t>
                </a:r>
                <a:r>
                  <a:rPr kumimoji="1" lang="en-US" altLang="ja-JP" dirty="0"/>
                  <a:t>{gained by observation}}$$$$\Delta E \Delta x\</a:t>
                </a:r>
                <a:r>
                  <a:rPr kumimoji="1" lang="en-US" altLang="ja-JP" dirty="0" err="1"/>
                  <a:t>geq</a:t>
                </a:r>
                <a:r>
                  <a:rPr kumimoji="1" lang="en-US" altLang="ja-JP" dirty="0"/>
                  <a:t> \frac{1}{2} </a:t>
                </a:r>
                <a:r>
                  <a:rPr kumimoji="1" lang="en-US" altLang="ja-JP" dirty="0" err="1"/>
                  <a:t>hc</a:t>
                </a:r>
                <a:r>
                  <a:rPr kumimoji="1" lang="en-US" altLang="ja-JP" dirty="0"/>
                  <a:t>$$</a:t>
                </a:r>
              </a:p>
              <a:p>
                <a:endParaRPr kumimoji="1" lang="en-US" altLang="ja-JP" dirty="0"/>
              </a:p>
              <a:p>
                <a:r>
                  <a:rPr kumimoji="1" lang="en-US" altLang="ja-JP" i="0" dirty="0">
                    <a:latin typeface="Cambria Math" panose="02040503050406030204" pitchFamily="18" charset="0"/>
                  </a:rPr>
                  <a:t>Δ𝐼+Δ𝑁≤0, Δ𝑁=−Δ𝑆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i="0" dirty="0">
                    <a:latin typeface="Cambria Math" panose="02040503050406030204" pitchFamily="18" charset="0"/>
                  </a:rPr>
                  <a:t>Δ𝐼+Δ𝑁≤0, Δ𝑁=−Δ𝑆</a:t>
                </a:r>
                <a:endParaRPr kumimoji="1" lang="ja-JP" alt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AAD82C-0174-463E-B2F4-286F3D6C615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855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239C9-9374-ABAD-0AE0-C761C0989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AAC97-168E-4A16-9328-6927A76D1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66067-F7AA-E339-6389-7147A2919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6BB78-D315-06BE-2981-3F816A22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F9057-AFD4-0043-3CCC-56DF53B6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689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FD40-B809-3C9F-EE67-2028530F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31E3-1474-74BF-D02A-BB4E77A0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A3D6E-9811-D6E8-74EC-E4012802D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94ABE-996D-491B-8A98-116333B0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6061-609E-42DA-0FD3-65A63458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010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023DB-A5AF-65AF-3075-CC26A744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59E4-FAA5-274A-57E0-F51F38C51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C804F-C02F-2E44-FBC8-FF45288A6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255B0-0D08-7232-C728-1367A849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519B6-9EA0-944B-026A-8C817FC6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411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61D3-4761-DCB0-FA6D-05DEB65EC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E815E-A8FC-70C3-8F1D-8B4DCED55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B3AEA7-FD8E-070A-EC09-F679DA0B9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E8143-961E-F3C0-52A0-BB0475FF4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CC5D6-9E40-0F8E-4A39-64EB85F8B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A5366-7AC9-8D07-5543-69A8A634A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583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2C60-C718-6D23-2961-7DE5A4F6A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F17AC-4A7E-8605-6569-20C7ACAC3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E1A491-6428-DE09-3387-BBD1BF9B4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CFD77-A493-55EA-31B4-2840F551E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957F5C-7CE9-05E0-BF89-4235CCB53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450C7B-8F90-1469-9302-ABC80D22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5260D0-6DE9-3168-1CB1-1293D246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97E96-6138-E26D-0768-A02A95206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468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41D55-9246-7932-A26D-7FE0267ED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B9E1F-6E53-6435-06D0-FD76A591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20CD1-7DD9-8A77-9A61-65A9CE10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A834D4-B5A7-32E6-A148-8B675D6B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769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2D3A4-A59B-7439-3ECF-BBFCB421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58BCDD-663C-1BC6-DBA3-C550B2A3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1B1E6-A0E4-2BC7-84F0-14863A1E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643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97CAC-4F1B-8698-1E0F-B7B24BD5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88E64-70A6-C4A6-A41F-38958E65A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C94C-847F-6A46-44B1-1533F1409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D6538-4F24-5099-DA45-6F07BE585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DB032-BA4B-5E71-5A3E-055BA6B0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D3ECB-33C5-CD16-0F52-5921B82B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24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91F1B-CAC4-8373-3110-87D2A99B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22604E-A63E-0C72-42C8-FABC73552C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C517B-6ED5-329B-7077-8A4913E4B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EB503-174F-4E2D-FA22-4135107C1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49F94-2A27-1343-F35A-4B65C7A3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0442C-58ED-81FC-32E1-604D9AD35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79ED9-366A-E882-8D39-8DE71F325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58CB5-DF20-D0F3-07FF-F6F517DB6C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F4532-E5AA-3B1E-9840-A83AB11F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9219A-4DD0-2BCA-35BA-A32F0C43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DC28C-38EF-E40D-0876-2E100A066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3024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68D81-99F4-EBE4-5A91-83E8A592F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327B0-7422-639A-CB02-A5F1FA29B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F8968-5531-4AAA-EA6A-4F00D0EF5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1D896-3C3D-59B6-3EB3-C5D4501DD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E8E09-171D-E064-24B4-66C4960A8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305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02C27-AFD3-6510-8360-D7C1B26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46DE2-7FB2-ED32-EA57-F082C6FE6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ECB99-595E-F2CF-D842-AA8C6E261B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6E655-73BE-475C-A322-465F16C35255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62FEE-24B9-A49A-F568-18D01898E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6C5F1-A8FC-4D99-B665-8FD6423A3A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04A8A-96AA-48CE-A230-EC5A965794C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756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1FE334-BA97-927E-F01A-42763909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425" y="178313"/>
            <a:ext cx="11894575" cy="1325563"/>
          </a:xfrm>
        </p:spPr>
        <p:txBody>
          <a:bodyPr>
            <a:normAutofit fontScale="90000"/>
          </a:bodyPr>
          <a:lstStyle/>
          <a:p>
            <a:r>
              <a:rPr lang="en-US" altLang="ja-JP" b="1" dirty="0">
                <a:solidFill>
                  <a:schemeClr val="accent4"/>
                </a:solidFill>
              </a:rPr>
              <a:t>Fenchel-Young divergence interpreted as </a:t>
            </a:r>
            <a:br>
              <a:rPr lang="en-US" altLang="ja-JP" b="1" dirty="0">
                <a:solidFill>
                  <a:schemeClr val="accent4"/>
                </a:solidFill>
              </a:rPr>
            </a:br>
            <a:r>
              <a:rPr lang="en-US" altLang="ja-JP" b="1" dirty="0">
                <a:solidFill>
                  <a:schemeClr val="accent4"/>
                </a:solidFill>
              </a:rPr>
              <a:t>matrix-vector/inner product operations (GPU friendly)</a:t>
            </a:r>
            <a:endParaRPr lang="ja-JP" altLang="en-US" b="1" dirty="0">
              <a:solidFill>
                <a:schemeClr val="accent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F0D1F3-4FD8-E5D2-C2BB-9A61E20D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788" y="1965541"/>
            <a:ext cx="6808300" cy="688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1DF80A-74FA-222A-7623-8949B10DA7F1}"/>
              </a:ext>
            </a:extLst>
          </p:cNvPr>
          <p:cNvSpPr txBox="1"/>
          <p:nvPr/>
        </p:nvSpPr>
        <p:spPr>
          <a:xfrm>
            <a:off x="548640" y="1503876"/>
            <a:ext cx="9842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 a Legendre-type strictly convex function with convex conjugate F*</a:t>
            </a:r>
            <a:endParaRPr kumimoji="1" lang="ja-JP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CC0262-8ADA-D748-7E51-0EAEC4663DC6}"/>
              </a:ext>
            </a:extLst>
          </p:cNvPr>
          <p:cNvSpPr txBox="1"/>
          <p:nvPr/>
        </p:nvSpPr>
        <p:spPr>
          <a:xfrm>
            <a:off x="403122" y="2061286"/>
            <a:ext cx="4709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Fenchel-Young divergence:</a:t>
            </a:r>
            <a:endParaRPr kumimoji="1" lang="ja-JP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197DEA-9262-1572-FFAD-E55AC1FB948A}"/>
              </a:ext>
            </a:extLst>
          </p:cNvPr>
          <p:cNvSpPr txBox="1"/>
          <p:nvPr/>
        </p:nvSpPr>
        <p:spPr>
          <a:xfrm>
            <a:off x="473741" y="2680436"/>
            <a:ext cx="11541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H</a:t>
            </a:r>
            <a:r>
              <a:rPr kumimoji="1" lang="en-US" altLang="ja-JP" sz="2800" dirty="0"/>
              <a:t>omogeneous vectors of points on the graphs of potential functions:</a:t>
            </a:r>
            <a:endParaRPr kumimoji="1" lang="ja-JP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24A2A8-9367-9BA9-F871-70FA720289C1}"/>
              </a:ext>
            </a:extLst>
          </p:cNvPr>
          <p:cNvSpPr txBox="1"/>
          <p:nvPr/>
        </p:nvSpPr>
        <p:spPr>
          <a:xfrm>
            <a:off x="297426" y="4296575"/>
            <a:ext cx="11085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Rewrite FY divergence using matrix vector/inner  products (GPU):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4BBCA7-652B-1322-87C3-7A26A8E8E4DF}"/>
              </a:ext>
            </a:extLst>
          </p:cNvPr>
          <p:cNvSpPr txBox="1"/>
          <p:nvPr/>
        </p:nvSpPr>
        <p:spPr>
          <a:xfrm>
            <a:off x="336912" y="59127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(stems from polarity viewpoint)</a:t>
            </a:r>
            <a:endParaRPr kumimoji="1" lang="ja-JP" alt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DC5818B-B1EF-FE8E-4D96-2782305BF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886" y="4841695"/>
            <a:ext cx="5071202" cy="1109107"/>
          </a:xfrm>
          <a:prstGeom prst="rect">
            <a:avLst/>
          </a:prstGeom>
        </p:spPr>
      </p:pic>
      <p:sp>
        <p:nvSpPr>
          <p:cNvPr id="21" name="Arrow: Right 20">
            <a:extLst>
              <a:ext uri="{FF2B5EF4-FFF2-40B4-BE49-F238E27FC236}">
                <a16:creationId xmlns:a16="http://schemas.microsoft.com/office/drawing/2014/main" id="{7D6302DF-DE69-5CD1-D4F2-D326C3A83990}"/>
              </a:ext>
            </a:extLst>
          </p:cNvPr>
          <p:cNvSpPr/>
          <p:nvPr/>
        </p:nvSpPr>
        <p:spPr>
          <a:xfrm>
            <a:off x="5934784" y="5157962"/>
            <a:ext cx="849102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C62C0A-3893-F923-15DB-A04A9853BD8F}"/>
              </a:ext>
            </a:extLst>
          </p:cNvPr>
          <p:cNvSpPr txBox="1"/>
          <p:nvPr/>
        </p:nvSpPr>
        <p:spPr>
          <a:xfrm>
            <a:off x="2597508" y="6383960"/>
            <a:ext cx="9724103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99"/>
              </a:lnSpc>
              <a:spcAft>
                <a:spcPts val="900"/>
              </a:spcAft>
            </a:pPr>
            <a:r>
              <a:rPr lang="en-US" altLang="ja-JP" b="1" i="0" dirty="0">
                <a:solidFill>
                  <a:schemeClr val="accent6"/>
                </a:solidFill>
                <a:effectLst/>
                <a:latin typeface="Lucida Grande"/>
              </a:rPr>
              <a:t>Neural Legendre-Fenchel transform with Hessian Preconditioning, </a:t>
            </a:r>
            <a:r>
              <a:rPr lang="en-US" altLang="ja-JP" b="1" i="0" dirty="0" err="1">
                <a:solidFill>
                  <a:schemeClr val="accent6"/>
                </a:solidFill>
                <a:effectLst/>
                <a:latin typeface="Lucida Grande"/>
              </a:rPr>
              <a:t>arXiv</a:t>
            </a:r>
            <a:r>
              <a:rPr lang="en-US" altLang="ja-JP" b="1" i="0" dirty="0">
                <a:solidFill>
                  <a:schemeClr val="accent6"/>
                </a:solidFill>
                <a:effectLst/>
                <a:latin typeface="Lucida Grande"/>
              </a:rPr>
              <a:t>: 2606.09077</a:t>
            </a:r>
          </a:p>
          <a:p>
            <a:pPr>
              <a:buNone/>
            </a:pPr>
            <a:br>
              <a:rPr lang="en-US" altLang="ja-JP" dirty="0"/>
            </a:br>
            <a:endParaRPr lang="ja-JP" alt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E914219-50B1-7BA7-EFA9-1B3CFDD2C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4822" y="3184031"/>
            <a:ext cx="4320356" cy="109064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6F5072C-7646-5ACA-B654-A615BC6D1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04" y="4839486"/>
            <a:ext cx="5111356" cy="105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29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7157A-5BA6-2AA4-C10A-0EAB9032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332" y="-55023"/>
            <a:ext cx="11275142" cy="1325563"/>
          </a:xfrm>
        </p:spPr>
        <p:txBody>
          <a:bodyPr/>
          <a:lstStyle/>
          <a:p>
            <a:r>
              <a:rPr kumimoji="1" lang="en-US" altLang="ja-JP" b="1" dirty="0">
                <a:solidFill>
                  <a:srgbClr val="0000FF"/>
                </a:solidFill>
              </a:rPr>
              <a:t>Brillouin’s negentropy principle of information</a:t>
            </a:r>
            <a:endParaRPr kumimoji="1" lang="ja-JP" altLang="en-US" b="1" dirty="0">
              <a:solidFill>
                <a:srgbClr val="0000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DF117-FF6E-09DC-ABE1-D6CAC6F3F241}"/>
              </a:ext>
            </a:extLst>
          </p:cNvPr>
          <p:cNvSpPr txBox="1"/>
          <p:nvPr/>
        </p:nvSpPr>
        <p:spPr>
          <a:xfrm>
            <a:off x="0" y="1335975"/>
            <a:ext cx="6655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Heisenberg’s uncertainty principle</a:t>
            </a:r>
            <a:endParaRPr kumimoji="1" lang="ja-JP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1D6FF-7EAD-67BE-6C52-56A310A525DE}"/>
              </a:ext>
            </a:extLst>
          </p:cNvPr>
          <p:cNvSpPr txBox="1"/>
          <p:nvPr/>
        </p:nvSpPr>
        <p:spPr>
          <a:xfrm>
            <a:off x="63277" y="3203796"/>
            <a:ext cx="7308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>
                <a:solidFill>
                  <a:srgbClr val="FF0000"/>
                </a:solidFill>
              </a:rPr>
              <a:t>Negentropy principle of information</a:t>
            </a:r>
            <a:endParaRPr kumimoji="1" lang="ja-JP" altLang="en-US" sz="32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E25641-3478-86D4-3883-DA8A3D01396A}"/>
              </a:ext>
            </a:extLst>
          </p:cNvPr>
          <p:cNvSpPr txBox="1"/>
          <p:nvPr/>
        </p:nvSpPr>
        <p:spPr>
          <a:xfrm>
            <a:off x="71874" y="5159796"/>
            <a:ext cx="77300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Observations are irreversible processes:</a:t>
            </a:r>
          </a:p>
          <a:p>
            <a:r>
              <a:rPr lang="en-US" altLang="ja-JP" sz="2000" dirty="0"/>
              <a:t>Energy must be degraded into heat when observing. </a:t>
            </a:r>
          </a:p>
          <a:p>
            <a:r>
              <a:rPr kumimoji="1" lang="en-US" altLang="ja-JP" sz="2000" dirty="0"/>
              <a:t>Observation apparatus makes a coupling with the environment</a:t>
            </a:r>
          </a:p>
          <a:p>
            <a:r>
              <a:rPr lang="en-US" altLang="ja-JP" sz="2000" dirty="0"/>
              <a:t>Strict causality should be replaced with statistical probabilities</a:t>
            </a:r>
            <a:endParaRPr kumimoji="1" lang="ja-JP" altLang="en-US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D22B9E-DB9C-46ED-4B83-8DD416F3F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7" y="1822575"/>
            <a:ext cx="6979796" cy="9719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A00C25-A170-8C34-5755-144085DA28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8465" y="3788571"/>
            <a:ext cx="5260258" cy="10470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CA131D-7C64-31E6-2B42-04330AD16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81" y="3788571"/>
            <a:ext cx="6351946" cy="11102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EAF4B6-8C2E-5CDD-D030-B36EEF040D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7792" y="1734664"/>
            <a:ext cx="2336391" cy="9064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268100-54F7-4533-2861-7AB1B4A2CB1E}"/>
              </a:ext>
            </a:extLst>
          </p:cNvPr>
          <p:cNvSpPr txBox="1"/>
          <p:nvPr/>
        </p:nvSpPr>
        <p:spPr>
          <a:xfrm>
            <a:off x="8937972" y="1369079"/>
            <a:ext cx="2836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Precision in x:</a:t>
            </a:r>
            <a:endParaRPr kumimoji="1" lang="ja-JP" altLang="en-US" sz="3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A2269D-B12D-8C3C-8885-D7D176B442DE}"/>
              </a:ext>
            </a:extLst>
          </p:cNvPr>
          <p:cNvSpPr txBox="1"/>
          <p:nvPr/>
        </p:nvSpPr>
        <p:spPr>
          <a:xfrm>
            <a:off x="0" y="6464066"/>
            <a:ext cx="12408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ja-JP" sz="1800" b="1" i="0" dirty="0">
                <a:solidFill>
                  <a:srgbClr val="00B050"/>
                </a:solidFill>
                <a:effectLst/>
                <a:latin typeface="+mn-lt"/>
              </a:rPr>
              <a:t>Brillouin, Leon. "The negentropy principle of information." </a:t>
            </a:r>
            <a:r>
              <a:rPr lang="ja-JP" altLang="ja-JP" sz="1800" b="1" i="1" dirty="0">
                <a:solidFill>
                  <a:srgbClr val="00B050"/>
                </a:solidFill>
                <a:effectLst/>
                <a:latin typeface="+mn-lt"/>
              </a:rPr>
              <a:t>Journal of Applied Physics</a:t>
            </a:r>
            <a:r>
              <a:rPr lang="ja-JP" altLang="ja-JP" sz="1800" b="1" i="0" dirty="0">
                <a:solidFill>
                  <a:srgbClr val="00B050"/>
                </a:solidFill>
                <a:effectLst/>
                <a:latin typeface="+mn-lt"/>
              </a:rPr>
              <a:t> 24.9 (1953): 1152-1163.</a:t>
            </a:r>
            <a:endParaRPr lang="ja-JP" altLang="en-US" b="1" dirty="0">
              <a:solidFill>
                <a:srgbClr val="00B05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5072AAC-9FA5-050C-3515-62F53C59F6A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4830" y="5279714"/>
            <a:ext cx="4829175" cy="51435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D2DD7A0-AA94-5C01-3222-72EBC57A28CD}"/>
              </a:ext>
            </a:extLst>
          </p:cNvPr>
          <p:cNvSpPr txBox="1"/>
          <p:nvPr/>
        </p:nvSpPr>
        <p:spPr>
          <a:xfrm>
            <a:off x="9187792" y="2603635"/>
            <a:ext cx="23887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requires energy</a:t>
            </a:r>
            <a:endParaRPr kumimoji="1" lang="ja-JP" alt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003019-E196-BC78-6DA7-CC12C85823DD}"/>
              </a:ext>
            </a:extLst>
          </p:cNvPr>
          <p:cNvSpPr txBox="1"/>
          <p:nvPr/>
        </p:nvSpPr>
        <p:spPr>
          <a:xfrm>
            <a:off x="7873749" y="4813065"/>
            <a:ext cx="2673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k</a:t>
            </a:r>
            <a:r>
              <a:rPr lang="en-US" altLang="ja-JP" sz="1800" b="0" i="0" dirty="0">
                <a:solidFill>
                  <a:schemeClr val="tx1"/>
                </a:solidFill>
                <a:effectLst/>
                <a:latin typeface="+mn-lt"/>
              </a:rPr>
              <a:t>=</a:t>
            </a:r>
            <a:r>
              <a:rPr lang="ja-JP" altLang="ja-JP" sz="1800" b="0" i="0" dirty="0">
                <a:solidFill>
                  <a:schemeClr val="tx1"/>
                </a:solidFill>
                <a:effectLst/>
                <a:latin typeface="+mn-lt"/>
              </a:rPr>
              <a:t>1.380649 × 10</a:t>
            </a:r>
            <a:r>
              <a:rPr lang="ja-JP" altLang="ja-JP" b="0" i="0" baseline="30000" dirty="0">
                <a:solidFill>
                  <a:schemeClr val="tx1"/>
                </a:solidFill>
                <a:effectLst/>
                <a:latin typeface="+mn-lt"/>
              </a:rPr>
              <a:t>-23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5177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1AD8D0-CE3B-F570-FFBB-4922B009F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7088"/>
            <a:ext cx="3302622" cy="50465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24CF94-A711-F430-760F-4EF285ECA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165" y="52001"/>
            <a:ext cx="5455022" cy="35779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1A733F-EBD8-B63F-3FFE-682178D3D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569" y="3150772"/>
            <a:ext cx="5566214" cy="37072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FA23F91-4483-234C-8C69-53C086106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187" y="1014555"/>
            <a:ext cx="3834744" cy="523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33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0D42-9909-A818-A011-A73D8A1E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68" y="0"/>
            <a:ext cx="12022394" cy="1325563"/>
          </a:xfrm>
        </p:spPr>
        <p:txBody>
          <a:bodyPr>
            <a:normAutofit/>
          </a:bodyPr>
          <a:lstStyle/>
          <a:p>
            <a:r>
              <a:rPr kumimoji="1" lang="en-US" altLang="ja-JP" sz="4000" b="1" dirty="0">
                <a:solidFill>
                  <a:srgbClr val="00B0F0"/>
                </a:solidFill>
              </a:rPr>
              <a:t>Fenchel-Young divergences as inner products (GPU)</a:t>
            </a:r>
            <a:endParaRPr kumimoji="1" lang="ja-JP" altLang="en-US" sz="40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2D0F0-1F62-CD90-25BE-181BDD1BF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8" y="1973928"/>
            <a:ext cx="7231774" cy="15699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9A205B-6AC4-860E-7955-9E3D566B1805}"/>
              </a:ext>
            </a:extLst>
          </p:cNvPr>
          <p:cNvSpPr txBox="1"/>
          <p:nvPr/>
        </p:nvSpPr>
        <p:spPr>
          <a:xfrm>
            <a:off x="369016" y="981685"/>
            <a:ext cx="11144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dirty="0"/>
              <a:t>F a Legendre-type strictly convex function with convex conjugate F*, (F*)*=F</a:t>
            </a:r>
            <a:endParaRPr kumimoji="1" lang="ja-JP" alt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C8DAA3-0DBE-84C3-8DBB-32B622C57627}"/>
              </a:ext>
            </a:extLst>
          </p:cNvPr>
          <p:cNvSpPr txBox="1"/>
          <p:nvPr/>
        </p:nvSpPr>
        <p:spPr>
          <a:xfrm>
            <a:off x="268083" y="3552820"/>
            <a:ext cx="11144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dirty="0"/>
              <a:t>Geometric interpretation: Legendre transform considered as a </a:t>
            </a:r>
            <a:r>
              <a:rPr kumimoji="1" lang="en-US" altLang="ja-JP" sz="2400" dirty="0">
                <a:solidFill>
                  <a:srgbClr val="FF0000"/>
                </a:solidFill>
              </a:rPr>
              <a:t>polarity</a:t>
            </a:r>
            <a:endParaRPr kumimoji="1" lang="ja-JP" altLang="en-US" sz="2400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030CDD-2AFF-551F-4A5C-89FDC984D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994" y="4168372"/>
            <a:ext cx="5071202" cy="110910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4D54A6F5-5FCD-E031-CE5F-E279CFE8467A}"/>
              </a:ext>
            </a:extLst>
          </p:cNvPr>
          <p:cNvSpPr/>
          <p:nvPr/>
        </p:nvSpPr>
        <p:spPr>
          <a:xfrm>
            <a:off x="6080892" y="4484639"/>
            <a:ext cx="849102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C6229C-E636-EE8A-CC6C-F7F7718C8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2" y="4166163"/>
            <a:ext cx="5111356" cy="10535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71917C-DC52-18EA-002E-DCDC76547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144" y="5330993"/>
            <a:ext cx="4320356" cy="10906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739D140-0395-7EFD-B89D-A54189561025}"/>
              </a:ext>
            </a:extLst>
          </p:cNvPr>
          <p:cNvSpPr txBox="1"/>
          <p:nvPr/>
        </p:nvSpPr>
        <p:spPr>
          <a:xfrm>
            <a:off x="161461" y="5593746"/>
            <a:ext cx="111445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400" dirty="0"/>
              <a:t>where</a:t>
            </a:r>
            <a:endParaRPr kumimoji="1" lang="ja-JP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E12884-4D9A-F039-A85C-761C95F26053}"/>
              </a:ext>
            </a:extLst>
          </p:cNvPr>
          <p:cNvSpPr txBox="1"/>
          <p:nvPr/>
        </p:nvSpPr>
        <p:spPr>
          <a:xfrm>
            <a:off x="5941294" y="5460816"/>
            <a:ext cx="83720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are h</a:t>
            </a:r>
            <a:r>
              <a:rPr kumimoji="1" lang="en-US" altLang="ja-JP" sz="2400" dirty="0"/>
              <a:t>omogeneous vectors of </a:t>
            </a:r>
          </a:p>
          <a:p>
            <a:r>
              <a:rPr kumimoji="1" lang="en-US" altLang="ja-JP" sz="2400" dirty="0"/>
              <a:t>points on the graphs of potential functions</a:t>
            </a:r>
            <a:endParaRPr lang="ja-JP" alt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A490AD-BF52-E682-8C58-A64CAFB3A019}"/>
              </a:ext>
            </a:extLst>
          </p:cNvPr>
          <p:cNvSpPr txBox="1"/>
          <p:nvPr/>
        </p:nvSpPr>
        <p:spPr>
          <a:xfrm>
            <a:off x="2597508" y="6383960"/>
            <a:ext cx="9724103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99"/>
              </a:lnSpc>
              <a:spcAft>
                <a:spcPts val="900"/>
              </a:spcAft>
            </a:pPr>
            <a:r>
              <a:rPr lang="en-US" altLang="ja-JP" b="1" i="0" dirty="0">
                <a:solidFill>
                  <a:schemeClr val="accent6"/>
                </a:solidFill>
                <a:effectLst/>
                <a:latin typeface="Lucida Grande"/>
              </a:rPr>
              <a:t>Neural Legendre-Fenchel transform with Hessian Preconditioning, </a:t>
            </a:r>
            <a:r>
              <a:rPr lang="en-US" altLang="ja-JP" b="1" i="0" dirty="0" err="1">
                <a:solidFill>
                  <a:schemeClr val="accent6"/>
                </a:solidFill>
                <a:effectLst/>
                <a:latin typeface="Lucida Grande"/>
              </a:rPr>
              <a:t>arXiv</a:t>
            </a:r>
            <a:r>
              <a:rPr lang="en-US" altLang="ja-JP" b="1" i="0" dirty="0">
                <a:solidFill>
                  <a:schemeClr val="accent6"/>
                </a:solidFill>
                <a:effectLst/>
                <a:latin typeface="Lucida Grande"/>
              </a:rPr>
              <a:t>: 2606.09077</a:t>
            </a:r>
          </a:p>
          <a:p>
            <a:pPr>
              <a:buNone/>
            </a:pPr>
            <a:br>
              <a:rPr lang="en-US" altLang="ja-JP" dirty="0"/>
            </a:br>
            <a:endParaRPr lang="ja-JP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D68F7E-71D4-D5BA-DDF1-0C9F2CFDB6C8}"/>
              </a:ext>
            </a:extLst>
          </p:cNvPr>
          <p:cNvSpPr txBox="1"/>
          <p:nvPr/>
        </p:nvSpPr>
        <p:spPr>
          <a:xfrm>
            <a:off x="369016" y="1360585"/>
            <a:ext cx="10937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Fenchel-Young divergences are equivalent to Bregman divergences: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4193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D7578-C7AB-615D-31A5-D51B8CDD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3520E1-E08A-352B-00AE-CFBA5343A4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0" y="809942"/>
            <a:ext cx="5506865" cy="5396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C39EEF-7948-7AE9-CFF0-8E81E2C32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60" y="809942"/>
            <a:ext cx="6147885" cy="539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6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331</Words>
  <Application>Microsoft Office PowerPoint</Application>
  <PresentationFormat>Widescreen</PresentationFormat>
  <Paragraphs>34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Lucida Grande</vt:lpstr>
      <vt:lpstr>游ゴシック</vt:lpstr>
      <vt:lpstr>游ゴシック Light</vt:lpstr>
      <vt:lpstr>Arial</vt:lpstr>
      <vt:lpstr>Cambria Math</vt:lpstr>
      <vt:lpstr>Office Theme</vt:lpstr>
      <vt:lpstr>Fenchel-Young divergence interpreted as  matrix-vector/inner product operations (GPU friendly)</vt:lpstr>
      <vt:lpstr>Brillouin’s negentropy principle of information</vt:lpstr>
      <vt:lpstr>PowerPoint Presentation</vt:lpstr>
      <vt:lpstr>Fenchel-Young divergences as inner products (GPU)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Nielsen, Frank (SonyCSL)</dc:creator>
  <cp:lastModifiedBy>Nielsen, Frank (SonyCSL)</cp:lastModifiedBy>
  <cp:revision>7</cp:revision>
  <dcterms:created xsi:type="dcterms:W3CDTF">2026-06-10T01:18:57Z</dcterms:created>
  <dcterms:modified xsi:type="dcterms:W3CDTF">2026-10-06T04:59:46Z</dcterms:modified>
</cp:coreProperties>
</file>
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8FE4-7DCF-BC1E-91A8-D7B6C35ED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036A-E56C-6D75-AF64-C7645992E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B77F-B5A4-417E-2F36-40C56FD4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6D36-2905-ABB3-D99C-8C3FB6BC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48DC7-1BE2-9072-F900-E93221A6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41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D2AE-D554-1769-4E48-B0E80F4C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2EA7-7D74-1AA6-81A0-85F83267A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71715-4F29-E575-C90F-7083958B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DA3B3-9862-6F9D-BC9D-720F9A3C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B5178-E5DA-12F4-E677-AB3825CC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62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BED2-1A7B-9ECF-727A-2C9C31CB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C7C94-B4E0-2630-008B-8BFF85C8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2E39C-27A4-8C60-24C5-9BB3915E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BF50-2242-B8F3-4015-C7D91F34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3D7A-F2FE-CF61-30BD-AD349763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8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A35D-24CA-2D3C-2874-F01DF4CB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77C8-0D3F-A3A9-6AF9-E92A3C2F2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47903-ACD0-AD18-A80A-5CDDB2C3A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6E34F-14A0-DEBF-CDD2-FF78309C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5D780-72CF-9DC6-0A34-36FE4848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1E407-DB9D-4824-862F-06D0DFB7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57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D024-8776-BDA6-8C4E-4BAFB88A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AE287-73FC-F986-D350-9CD920FA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13280-E1B0-BD9A-D01D-17C07950C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289C5-2FDD-8B16-C78E-11C87E2DC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822FA-FA7A-ACFB-7189-3F87A7455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204A9-8A03-7B84-4338-0C8B2646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1EFE4-D238-D410-4FB0-1B450CA6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B3B4A-3E33-6C9B-A984-3B5432AE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69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57A1-FBEA-DBB4-5378-E87E904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E4ECA-0D36-35F8-8AFE-BA378105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CE250-D0FE-E61E-75B5-F651BD3B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5C2CD-D88F-1CB7-5805-3036D65A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30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DC728-3AF9-4BC1-41A1-0859A045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17046-2761-E906-AFE6-5099B7B2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60B18-0230-4044-0687-4E980AB5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4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722F-391F-E41A-C9FB-8F9C0BA7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41759-8567-C5DB-F6F0-92FA1953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5880C-016C-3741-C302-CFA095A50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D63EA-B6A3-4B21-94AC-A4B1BBDE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463DA-08EB-11B9-7A63-EA5DF09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1AB85-8A13-922A-03CC-15B56166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16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0A99-CE17-1B99-431E-8A305C59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AF0C9-D105-3343-D174-D49C26207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55A16-7A50-8A98-072B-A1A1A5A6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C8E10-590E-83A9-9CED-D9A86001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B3DBA-B353-86C7-789A-2A23FD9F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D5754-B9B0-EBD6-A262-BBBB73E1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7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ECB6-57DA-9CAC-C1D8-BEBE768B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6E153-879D-0100-6D62-7AD1E2062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6F393-775B-34EE-6875-55C9C23F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26BC3-AFBE-F2AE-3F90-30BE674E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CA259-6F18-E83D-D713-E97946DA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82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C60287-1A9C-B649-F2E5-A3F7C7845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8E451-E4B3-7AA6-FA46-564914FF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A605-2CF1-0E1E-BE24-A04EE47F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5242E-85B5-5197-B266-84ED991E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44637-AEA3-98AA-B003-F6F17D1B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87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089C5-35ED-38FE-E61A-8FD063DC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39F04-677B-374D-8116-AE6CE2AD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BC158-BACB-8F71-4979-8A51B1D66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F9581-0546-4CC7-AFB9-3FA36B64B94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9FFE9-E025-6022-BE0C-1BA7977C6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E6F1-FEE1-25C4-1141-C813F882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B40A6-C4F9-4EC5-BC2A-DF94573A4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4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68AA-3CAD-99DF-638C-41C236E25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Geometric Information Theory:</a:t>
            </a:r>
            <a:br>
              <a:rPr kumimoji="1" lang="en-US" altLang="ja-JP" dirty="0"/>
            </a:br>
            <a:r>
              <a:rPr lang="en-US" altLang="ja-JP" dirty="0"/>
              <a:t>A h</a:t>
            </a:r>
            <a:r>
              <a:rPr kumimoji="1" lang="en-US" altLang="ja-JP" dirty="0"/>
              <a:t>ub for information sciences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18BAB-B5A9-AD7F-B814-1488CE0FD9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1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E1EE4-4413-F89F-0A6D-6F0381C5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8594-E85E-B83D-0102-4E1516EDE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GIT Geometric Information Theory:</a:t>
            </a:r>
            <a:br>
              <a:rPr kumimoji="1" lang="en-US" altLang="ja-JP" dirty="0"/>
            </a:br>
            <a:r>
              <a:rPr kumimoji="1" lang="en-US" altLang="ja-JP" dirty="0"/>
              <a:t>HUB </a:t>
            </a:r>
            <a:r>
              <a:rPr lang="en-US" altLang="ja-JP" dirty="0"/>
              <a:t>A h</a:t>
            </a:r>
            <a:r>
              <a:rPr kumimoji="1" lang="en-US" altLang="ja-JP" dirty="0"/>
              <a:t>ub for information sciences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51376-15AF-F358-B80A-688AB2749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90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5A2B-714E-2488-402D-609948FE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89362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Classical information theory (1948)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2EE4-0E41-EE51-BBC9-67C213BBE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5069" y="3693384"/>
            <a:ext cx="7687405" cy="1686243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/>
              <a:t>Neat modeling of signal transmission problem</a:t>
            </a:r>
          </a:p>
          <a:p>
            <a:r>
              <a:rPr kumimoji="1" lang="en-US" altLang="ja-JP" dirty="0"/>
              <a:t>Telecommunication: </a:t>
            </a:r>
            <a:r>
              <a:rPr kumimoji="1" lang="en-US" altLang="ja-JP" dirty="0" err="1"/>
              <a:t>coding+error</a:t>
            </a:r>
            <a:r>
              <a:rPr kumimoji="1" lang="en-US" altLang="ja-JP" dirty="0"/>
              <a:t> correction</a:t>
            </a:r>
          </a:p>
          <a:p>
            <a:r>
              <a:rPr kumimoji="1" lang="en-US" altLang="ja-JP" dirty="0"/>
              <a:t>Axiomatization of  Shannon entropy H</a:t>
            </a:r>
            <a:endParaRPr kumimoji="1" lang="ja-JP" altLang="en-US" dirty="0"/>
          </a:p>
        </p:txBody>
      </p:sp>
      <p:pic>
        <p:nvPicPr>
          <p:cNvPr id="1026" name="Picture 2" descr="How Claude Shannon Invented the Future | Quanta Magazine">
            <a:extLst>
              <a:ext uri="{FF2B5EF4-FFF2-40B4-BE49-F238E27FC236}">
                <a16:creationId xmlns:a16="http://schemas.microsoft.com/office/drawing/2014/main" id="{C8AEEB09-1BAE-8301-8766-A3BED22A3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781" y="1278866"/>
            <a:ext cx="6315916" cy="229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4D36E00-CA1D-DBD0-6821-16B364E89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65" y="1147998"/>
            <a:ext cx="2749099" cy="38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5F74A-6590-66E4-BF0B-DC9EDF96F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92290"/>
            <a:ext cx="10942320" cy="520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72408-F8A7-8803-77A6-613FBBF51FF6}"/>
              </a:ext>
            </a:extLst>
          </p:cNvPr>
          <p:cNvSpPr txBox="1"/>
          <p:nvPr/>
        </p:nvSpPr>
        <p:spPr>
          <a:xfrm>
            <a:off x="731520" y="6023954"/>
            <a:ext cx="8648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Confusing?! </a:t>
            </a:r>
            <a:r>
              <a:rPr lang="ja-JP" altLang="ja-JP" b="1" dirty="0"/>
              <a:t>Greek letter eta </a:t>
            </a:r>
            <a:r>
              <a:rPr lang="en-US" altLang="ja-JP" b="1" dirty="0"/>
              <a:t>: </a:t>
            </a:r>
            <a:r>
              <a:rPr lang="ja-JP" altLang="ja-JP" dirty="0"/>
              <a:t>Eta is written </a:t>
            </a:r>
            <a:r>
              <a:rPr lang="ja-JP" altLang="ja-JP" b="1" dirty="0"/>
              <a:t>η</a:t>
            </a:r>
            <a:r>
              <a:rPr lang="ja-JP" altLang="ja-JP" dirty="0"/>
              <a:t> (lowercase) or </a:t>
            </a:r>
            <a:r>
              <a:rPr lang="ja-JP" altLang="ja-JP" b="1" dirty="0"/>
              <a:t>Η</a:t>
            </a:r>
            <a:r>
              <a:rPr lang="ja-JP" altLang="ja-JP" dirty="0"/>
              <a:t> (uppercase).</a:t>
            </a:r>
            <a:endParaRPr lang="en-US" altLang="ja-JP" dirty="0"/>
          </a:p>
          <a:p>
            <a:r>
              <a:rPr lang="en-US" altLang="ja-JP" dirty="0"/>
              <a:t>In Thermodynamics: S for Entropy and H=U(internal energy)+PV for enthalpy…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74333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AD11-33E9-9342-742B-6501BEB96CBB}"/>
              </a:ext>
            </a:extLst>
          </p:cNvPr>
          <p:cNvSpPr txBox="1">
            <a:spLocks/>
          </p:cNvSpPr>
          <p:nvPr/>
        </p:nvSpPr>
        <p:spPr>
          <a:xfrm>
            <a:off x="421640" y="34336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Claude Shannon, a playful mind</a:t>
            </a:r>
            <a:endParaRPr lang="ja-JP" altLang="en-US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38C1D80D-9E2C-28D8-01F6-98F30A906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581C0-E6EB-4D63-A270-D08DFE8F3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762" y="1734965"/>
            <a:ext cx="1750537" cy="3128788"/>
          </a:xfrm>
          <a:prstGeom prst="rect">
            <a:avLst/>
          </a:prstGeom>
        </p:spPr>
      </p:pic>
      <p:pic>
        <p:nvPicPr>
          <p:cNvPr id="2056" name="Picture 8" descr="Shannon built this 3-foot-high mechanical W.C. Fields, which juggles balls by bouncing them onto a drum. Photo: Mark Ostow">
            <a:extLst>
              <a:ext uri="{FF2B5EF4-FFF2-40B4-BE49-F238E27FC236}">
                <a16:creationId xmlns:a16="http://schemas.microsoft.com/office/drawing/2014/main" id="{6112E66E-2C25-8AC0-E89C-5AD8E08A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341" y="1734965"/>
            <a:ext cx="2346591" cy="312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C0C24E-8774-2C94-63DE-DF769C2C551D}"/>
              </a:ext>
            </a:extLst>
          </p:cNvPr>
          <p:cNvSpPr txBox="1"/>
          <p:nvPr/>
        </p:nvSpPr>
        <p:spPr>
          <a:xfrm>
            <a:off x="493661" y="5477470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https://neilsloane.com/doc/shannon.html</a:t>
            </a:r>
          </a:p>
        </p:txBody>
      </p:sp>
      <p:sp>
        <p:nvSpPr>
          <p:cNvPr id="8" name="AutoShape 10" descr="Color picture of front cover">
            <a:extLst>
              <a:ext uri="{FF2B5EF4-FFF2-40B4-BE49-F238E27FC236}">
                <a16:creationId xmlns:a16="http://schemas.microsoft.com/office/drawing/2014/main" id="{D8D3A71F-B15A-E19E-6B71-43F29FBB71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EDE579-2821-ECD2-70CB-B40D855C0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35" y="1239824"/>
            <a:ext cx="2833576" cy="3969908"/>
          </a:xfrm>
          <a:prstGeom prst="rect">
            <a:avLst/>
          </a:prstGeom>
        </p:spPr>
      </p:pic>
      <p:pic>
        <p:nvPicPr>
          <p:cNvPr id="2060" name="Picture 12" descr="Shannon and Lasker at Shannon's chess machine">
            <a:extLst>
              <a:ext uri="{FF2B5EF4-FFF2-40B4-BE49-F238E27FC236}">
                <a16:creationId xmlns:a16="http://schemas.microsoft.com/office/drawing/2014/main" id="{9BF2C566-299C-3B58-503D-9E543AED8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925" y="1239824"/>
            <a:ext cx="2905917" cy="393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12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37E1-0F92-6E11-E7B9-4CD6F5916228}"/>
              </a:ext>
            </a:extLst>
          </p:cNvPr>
          <p:cNvSpPr txBox="1">
            <a:spLocks/>
          </p:cNvSpPr>
          <p:nvPr/>
        </p:nvSpPr>
        <p:spPr>
          <a:xfrm>
            <a:off x="421640" y="34336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IT oversold?  1948…1956</a:t>
            </a:r>
            <a:endParaRPr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FA218-FC5C-1636-5FEA-EAC2E1F2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696" y="1201500"/>
            <a:ext cx="8244607" cy="549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5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F766-5B2B-982C-3F1F-1B0546494AB3}"/>
              </a:ext>
            </a:extLst>
          </p:cNvPr>
          <p:cNvSpPr txBox="1">
            <a:spLocks/>
          </p:cNvSpPr>
          <p:nvPr/>
        </p:nvSpPr>
        <p:spPr>
          <a:xfrm>
            <a:off x="370840" y="4144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Classical information theory</a:t>
            </a:r>
            <a:endParaRPr lang="ja-JP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EB3765-B8C0-468E-95AC-1E8C67327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031" y="1861416"/>
            <a:ext cx="2238644" cy="363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8F9E84E-3CE5-5EF1-299A-CC1FEFA3D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76" y="1870508"/>
            <a:ext cx="2340333" cy="363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71D1CD6-3087-FF07-248D-C75D91208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085" y="1879600"/>
            <a:ext cx="2574710" cy="361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10CF177-5928-8774-1E2C-2950F762A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945" y="1861416"/>
            <a:ext cx="2340333" cy="366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95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4A84-B9D1-0BD7-D7C9-E244A36D3997}"/>
              </a:ext>
            </a:extLst>
          </p:cNvPr>
          <p:cNvSpPr txBox="1">
            <a:spLocks/>
          </p:cNvSpPr>
          <p:nvPr/>
        </p:nvSpPr>
        <p:spPr>
          <a:xfrm>
            <a:off x="370840" y="4144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Information theory in modern science…</a:t>
            </a:r>
          </a:p>
          <a:p>
            <a:r>
              <a:rPr lang="en-US" altLang="ja-JP" dirty="0"/>
              <a:t>…meaning IT in AI era?</a:t>
            </a:r>
            <a:endParaRPr lang="ja-JP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D27C7-EADC-B4BC-CB1F-A6E13645F41F}"/>
              </a:ext>
            </a:extLst>
          </p:cNvPr>
          <p:cNvSpPr txBox="1"/>
          <p:nvPr/>
        </p:nvSpPr>
        <p:spPr>
          <a:xfrm>
            <a:off x="516521" y="1962519"/>
            <a:ext cx="843051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Two sides: IT of AIs and AIs for IT?</a:t>
            </a:r>
          </a:p>
          <a:p>
            <a:r>
              <a:rPr lang="en-US" altLang="ja-JP" sz="3200" dirty="0"/>
              <a:t>Open complex problems (modeling/solving)</a:t>
            </a:r>
          </a:p>
          <a:p>
            <a:endParaRPr lang="en-US" altLang="ja-JP" sz="3200" dirty="0"/>
          </a:p>
          <a:p>
            <a:endParaRPr lang="en-US" altLang="ja-JP" sz="3200" dirty="0"/>
          </a:p>
          <a:p>
            <a:endParaRPr kumimoji="1" lang="ja-JP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00903-8854-A004-6552-952EAEFD1086}"/>
              </a:ext>
            </a:extLst>
          </p:cNvPr>
          <p:cNvSpPr txBox="1"/>
          <p:nvPr/>
        </p:nvSpPr>
        <p:spPr>
          <a:xfrm>
            <a:off x="624021" y="3239791"/>
            <a:ext cx="110514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Modern Information Theory is the mathematical science of information: Its structure, geometry, dynamics, representation, </a:t>
            </a:r>
            <a:r>
              <a:rPr lang="en-US" altLang="ja-JP" sz="3200" dirty="0"/>
              <a:t>quantification, measurement, </a:t>
            </a:r>
            <a:r>
              <a:rPr lang="ja-JP" altLang="en-US" sz="3200" dirty="0"/>
              <a:t>fundamental limits, and its role in communication, computation, learning, intelligence, biological and physical systems </a:t>
            </a:r>
            <a:r>
              <a:rPr lang="en-US" altLang="ja-JP" sz="3200"/>
              <a:t>(thermodynamics), </a:t>
            </a:r>
            <a:r>
              <a:rPr lang="en-US" altLang="ja-JP" sz="3200" dirty="0"/>
              <a:t>etc.</a:t>
            </a:r>
            <a:endParaRPr lang="ja-JP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7EF3E-98C5-90E0-E15B-BFADC16D2851}"/>
              </a:ext>
            </a:extLst>
          </p:cNvPr>
          <p:cNvSpPr txBox="1"/>
          <p:nvPr/>
        </p:nvSpPr>
        <p:spPr>
          <a:xfrm>
            <a:off x="1661651" y="6016810"/>
            <a:ext cx="10805652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50"/>
              </a:lnSpc>
              <a:spcBef>
                <a:spcPts val="1200"/>
              </a:spcBef>
              <a:spcAft>
                <a:spcPts val="1200"/>
              </a:spcAft>
            </a:pPr>
            <a:r>
              <a:rPr lang="ja-JP" altLang="ja-JP" b="0" i="0" dirty="0">
                <a:solidFill>
                  <a:srgbClr val="1F1F1F"/>
                </a:solidFill>
                <a:effectLst/>
                <a:latin typeface="ElsevierGulliver"/>
              </a:rPr>
              <a:t>“There is Nothing More Practical Than A Good Theory” (Kurt Lewin</a:t>
            </a:r>
            <a:r>
              <a:rPr lang="en-US" altLang="ja-JP" b="0" i="0" dirty="0">
                <a:solidFill>
                  <a:srgbClr val="1F1F1F"/>
                </a:solidFill>
                <a:effectLst/>
                <a:latin typeface="ElsevierGulliver"/>
              </a:rPr>
              <a:t>, </a:t>
            </a:r>
            <a:r>
              <a:rPr lang="ja-JP" altLang="ja-JP" dirty="0"/>
              <a:t>psychologist</a:t>
            </a:r>
            <a:r>
              <a:rPr lang="ja-JP" altLang="ja-JP" b="0" i="0" dirty="0">
                <a:solidFill>
                  <a:srgbClr val="1F1F1F"/>
                </a:solidFill>
                <a:effectLst/>
                <a:latin typeface="ElsevierGulliver"/>
              </a:rPr>
              <a:t>) </a:t>
            </a:r>
          </a:p>
        </p:txBody>
      </p:sp>
    </p:spTree>
    <p:extLst>
      <p:ext uri="{BB962C8B-B14F-4D97-AF65-F5344CB8AC3E}">
        <p14:creationId xmlns:p14="http://schemas.microsoft.com/office/powerpoint/2010/main" val="91053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463E1-CE6A-E1FE-2867-F02684D4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50899"/>
            <a:ext cx="7294880" cy="4863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F04D18-2B13-058E-BDCA-CD4437417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7" y="0"/>
            <a:ext cx="56864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1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38D43-C821-3D97-3CF1-52A0E0A1C93E}"/>
              </a:ext>
            </a:extLst>
          </p:cNvPr>
          <p:cNvSpPr txBox="1"/>
          <p:nvPr/>
        </p:nvSpPr>
        <p:spPr>
          <a:xfrm rot="5400000">
            <a:off x="8053791" y="3291041"/>
            <a:ext cx="6711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Hjalmars, Stig. "Evidence for Boltzmann’s H as a capital eta." </a:t>
            </a:r>
            <a:r>
              <a:rPr lang="ja-JP" altLang="ja-JP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American Journal of Physics</a:t>
            </a:r>
            <a:r>
              <a:rPr lang="ja-JP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45.2 (1977): 214-215.</a:t>
            </a:r>
            <a:endParaRPr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29397-2A0D-2629-F3B1-16FD648A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6" y="865786"/>
            <a:ext cx="7508240" cy="58530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7B31E2D-CB17-E36C-1C65-BB29095D32E1}"/>
              </a:ext>
            </a:extLst>
          </p:cNvPr>
          <p:cNvSpPr txBox="1">
            <a:spLocks/>
          </p:cNvSpPr>
          <p:nvPr/>
        </p:nvSpPr>
        <p:spPr>
          <a:xfrm>
            <a:off x="980440" y="13917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H-theorem, H-puzzle, capital eta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656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7F1F9-017E-3CA8-2424-7A13BB7C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83" y="0"/>
            <a:ext cx="11399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1EE7-60DA-0B8B-AB9C-48EDDBBDE91F}"/>
              </a:ext>
            </a:extLst>
          </p:cNvPr>
          <p:cNvSpPr txBox="1">
            <a:spLocks/>
          </p:cNvSpPr>
          <p:nvPr/>
        </p:nvSpPr>
        <p:spPr>
          <a:xfrm>
            <a:off x="370840" y="4144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Information theory &amp; Inference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5413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240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ElsevierGulliver</vt:lpstr>
      <vt:lpstr>游ゴシック</vt:lpstr>
      <vt:lpstr>游ゴシック Light</vt:lpstr>
      <vt:lpstr>Arial</vt:lpstr>
      <vt:lpstr>Office Theme</vt:lpstr>
      <vt:lpstr>Geometric Information Theory: A hub for information sciences</vt:lpstr>
      <vt:lpstr>GIT Geometric Information Theory: HUB A hub for information sciences</vt:lpstr>
      <vt:lpstr>Classical information theory (1948)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3</cp:revision>
  <dcterms:created xsi:type="dcterms:W3CDTF">2026-06-18T01:24:47Z</dcterms:created>
  <dcterms:modified xsi:type="dcterms:W3CDTF">2026-06-24T09:17:03Z</dcterms:modified>
</cp:coreProperties>
</file>
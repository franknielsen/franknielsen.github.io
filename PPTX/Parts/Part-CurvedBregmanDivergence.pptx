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300" r:id="rId3"/>
    <p:sldId id="505" r:id="rId4"/>
    <p:sldId id="411" r:id="rId5"/>
    <p:sldId id="413" r:id="rId6"/>
    <p:sldId id="511" r:id="rId7"/>
    <p:sldId id="509" r:id="rId8"/>
    <p:sldId id="510" r:id="rId9"/>
    <p:sldId id="512" r:id="rId10"/>
    <p:sldId id="416" r:id="rId11"/>
    <p:sldId id="502" r:id="rId12"/>
    <p:sldId id="495" r:id="rId13"/>
    <p:sldId id="504" r:id="rId14"/>
    <p:sldId id="433" r:id="rId15"/>
    <p:sldId id="417" r:id="rId16"/>
    <p:sldId id="501" r:id="rId17"/>
    <p:sldId id="507" r:id="rId18"/>
    <p:sldId id="503" r:id="rId19"/>
    <p:sldId id="506" r:id="rId20"/>
    <p:sldId id="508" r:id="rId21"/>
    <p:sldId id="451" r:id="rId22"/>
    <p:sldId id="428" r:id="rId23"/>
    <p:sldId id="493" r:id="rId24"/>
    <p:sldId id="453" r:id="rId25"/>
    <p:sldId id="499" r:id="rId2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895" autoAdjust="0"/>
  </p:normalViewPr>
  <p:slideViewPr>
    <p:cSldViewPr snapToGrid="0">
      <p:cViewPr varScale="1">
        <p:scale>
          <a:sx n="59" d="100"/>
          <a:sy n="59" d="100"/>
        </p:scale>
        <p:origin x="158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8671C-23ED-4EC6-941E-40C0CFE3F600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41A8F-8FCA-4B74-8117-8AD58E7310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468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https://en.wikipedia.org/wiki/Mathematical_operators_and_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0" i="0" dirty="0">
                <a:solidFill>
                  <a:srgbClr val="373637"/>
                </a:solidFill>
                <a:effectLst/>
                <a:latin typeface="Source Sans Pro" panose="020B0503030403020204" pitchFamily="34" charset="0"/>
              </a:rPr>
              <a:t>ℝ</a:t>
            </a:r>
          </a:p>
          <a:p>
            <a:r>
              <a:rPr kumimoji="1" lang="en-US" altLang="ja-JP" dirty="0" err="1"/>
              <a:t>symbols_in_Unicode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el-GR" altLang="ja-JP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Θθ∇</a:t>
            </a:r>
            <a:r>
              <a:rPr lang="ja-JP" altLang="en-US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≻</a:t>
            </a:r>
            <a:r>
              <a:rPr lang="el-GR" altLang="ja-JP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ξ</a:t>
            </a:r>
            <a:r>
              <a:rPr lang="ja-JP" altLang="en-US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∈</a:t>
            </a:r>
            <a:endParaRPr lang="en-US" altLang="ja-JP" b="0" i="0" dirty="0">
              <a:solidFill>
                <a:srgbClr val="DF000F"/>
              </a:solidFill>
              <a:effectLst/>
              <a:latin typeface="Source Sans Pro" panose="020B0503030403020204" pitchFamily="34" charset="0"/>
            </a:endParaRPr>
          </a:p>
          <a:p>
            <a:endParaRPr kumimoji="1" lang="en-US" altLang="ja-JP" b="0" i="0" dirty="0">
              <a:solidFill>
                <a:srgbClr val="DF000F"/>
              </a:solidFill>
              <a:effectLst/>
              <a:latin typeface="Source Sans Pro" panose="020B0503030403020204" pitchFamily="34" charset="0"/>
            </a:endParaRPr>
          </a:p>
          <a:p>
            <a:r>
              <a:rPr kumimoji="1" lang="en-US" altLang="ja-JP" dirty="0"/>
              <a:t>http://lib.physcon.ru/doc?id=5d34ad008433</a:t>
            </a:r>
            <a:endParaRPr kumimoji="1" lang="en-US" altLang="ja-JP" b="0" i="0" dirty="0">
              <a:solidFill>
                <a:srgbClr val="DF000F"/>
              </a:solidFill>
              <a:effectLst/>
              <a:latin typeface="Source Sans Pro" panose="020B0503030403020204" pitchFamily="34" charset="0"/>
            </a:endParaRPr>
          </a:p>
          <a:p>
            <a:r>
              <a:rPr lang="el-GR" altLang="ja-JP" b="0" i="0" dirty="0">
                <a:solidFill>
                  <a:srgbClr val="202124"/>
                </a:solidFill>
                <a:effectLst/>
                <a:latin typeface="Google Sans"/>
              </a:rPr>
              <a:t>Σ</a:t>
            </a:r>
            <a:endParaRPr kumimoji="1" lang="en-US" altLang="ja-JP" b="0" i="0" dirty="0">
              <a:solidFill>
                <a:srgbClr val="DF000F"/>
              </a:solidFill>
              <a:effectLst/>
              <a:latin typeface="Source Sans Pro" panose="020B0503030403020204" pitchFamily="34" charset="0"/>
            </a:endParaRPr>
          </a:p>
          <a:p>
            <a:endParaRPr kumimoji="1" lang="en-US" altLang="ja-JP" b="0" i="0" dirty="0">
              <a:solidFill>
                <a:srgbClr val="DF000F"/>
              </a:solidFill>
              <a:effectLst/>
              <a:latin typeface="Source Sans Pro" panose="020B0503030403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Lev </a:t>
            </a:r>
            <a:r>
              <a:rPr lang="en-US" altLang="ja-JP" b="1" i="0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Meerovich</a:t>
            </a:r>
            <a:r>
              <a:rPr lang="en-US" altLang="ja-JP" b="1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Bregman</a:t>
            </a:r>
          </a:p>
          <a:p>
            <a:r>
              <a:rPr lang="da-DK" altLang="ja-JP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a-DK" altLang="ja-JP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(1941 - 2023)</a:t>
            </a:r>
            <a:endParaRPr kumimoji="1" lang="en-US" altLang="ja-JP" b="0" i="0" dirty="0">
              <a:solidFill>
                <a:srgbClr val="DF000F"/>
              </a:solidFill>
              <a:effectLst/>
              <a:latin typeface="Source Sans Pro" panose="020B0503030403020204" pitchFamily="34" charset="0"/>
            </a:endParaRP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4D204-4D42-4A31-949B-526B9FFFD34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5080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altLang="ja-JP" b="0" i="0" dirty="0">
                <a:solidFill>
                  <a:srgbClr val="1F1F1F"/>
                </a:solidFill>
                <a:effectLst/>
                <a:latin typeface="Google Sans"/>
              </a:rPr>
              <a:t>Λ</a:t>
            </a:r>
            <a:endParaRPr lang="en-US" altLang="ja-JP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i="0" dirty="0">
                <a:solidFill>
                  <a:srgbClr val="202122"/>
                </a:solidFill>
                <a:effectLst/>
              </a:rPr>
              <a:t>A *representational Bregman divergence* is a Bregman divergence applied on a representation of the parameter space.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i="0" dirty="0">
                <a:solidFill>
                  <a:srgbClr val="202122"/>
                </a:solidFill>
                <a:effectLst/>
              </a:rPr>
              <a:t>The </a:t>
            </a:r>
            <a:r>
              <a:rPr lang="el-GR" altLang="ja-JP" sz="1200" b="1" dirty="0">
                <a:solidFill>
                  <a:schemeClr val="accent4"/>
                </a:solidFill>
              </a:rPr>
              <a:t>α</a:t>
            </a:r>
            <a:r>
              <a:rPr lang="en-US" altLang="ja-JP" sz="1200" b="1" dirty="0">
                <a:solidFill>
                  <a:schemeClr val="accent4"/>
                </a:solidFill>
              </a:rPr>
              <a:t>-divergences extended positive measures </a:t>
            </a:r>
            <a:r>
              <a:rPr lang="en-US" altLang="ja-JP" sz="1200" dirty="0"/>
              <a:t>are an example of representational Bregman divergences.</a:t>
            </a:r>
            <a:endParaRPr lang="en-US" altLang="ja-JP" i="0" dirty="0">
              <a:solidFill>
                <a:srgbClr val="202122"/>
              </a:solidFill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i="0" dirty="0">
              <a:solidFill>
                <a:srgbClr val="202122"/>
              </a:solidFill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i="0" dirty="0">
                <a:solidFill>
                  <a:srgbClr val="202122"/>
                </a:solidFill>
                <a:effectLst/>
              </a:rPr>
              <a:t>Dual representational </a:t>
            </a:r>
            <a:r>
              <a:rPr lang="en-US" altLang="ja-JP" i="0" dirty="0" err="1">
                <a:solidFill>
                  <a:srgbClr val="202122"/>
                </a:solidFill>
                <a:effectLst/>
              </a:rPr>
              <a:t>Fenchel</a:t>
            </a:r>
            <a:r>
              <a:rPr lang="en-US" altLang="ja-JP" i="0" dirty="0">
                <a:solidFill>
                  <a:srgbClr val="202122"/>
                </a:solidFill>
                <a:effectLst/>
              </a:rPr>
              <a:t>-Young divergence with dual representation function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But  restricted to the (m-1)-dimensional probability simplex is not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Nielsen, Frank, and Richard Nock.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"The dual Voronoi diagrams with respect to representational Bregman divergences." IEEE ISVD </a:t>
            </a:r>
            <a:r>
              <a:rPr lang="en-US" altLang="ja-JP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2009  </a:t>
            </a:r>
            <a:endParaRPr lang="ja-JP" altLang="en-US" sz="1200" dirty="0"/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0A626-F886-4FA6-91D4-F7878005295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395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https://www2.sonycsl.co.jp/person/nielsen/infogeo/pdf/Slide-ISVD2009.pdf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41A8F-8FCA-4B74-8117-8AD58E73107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4533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CAF4B-E991-1A7E-212A-918A8DE7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185C7-408A-F36A-C4F8-2E0A954C0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54634-7E8B-5309-C964-89A5E0FD9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https://www2.sonycsl.co.jp/person/nielsen/infogeo/pdf/Slide-ISVD2009.pdf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96B38-4E50-C26E-3545-891EBA4C2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41A8F-8FCA-4B74-8117-8AD58E73107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8277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dirty="0"/>
              <a:t>Example: </a:t>
            </a:r>
          </a:p>
          <a:p>
            <a:r>
              <a:rPr kumimoji="1" lang="en-US" altLang="ja-JP" sz="1200" dirty="0"/>
              <a:t>KLD between 0-centered normal distributions with covariance matrices  c(</a:t>
            </a:r>
            <a:r>
              <a:rPr lang="el-GR" altLang="ja-JP" sz="1200" dirty="0">
                <a:latin typeface="Google Sans"/>
              </a:rPr>
              <a:t>λ</a:t>
            </a:r>
            <a:r>
              <a:rPr kumimoji="1" lang="en-US" altLang="ja-JP" sz="1200" dirty="0"/>
              <a:t>)=</a:t>
            </a:r>
            <a:r>
              <a:rPr lang="el-GR" altLang="ja-JP" sz="1200" dirty="0">
                <a:latin typeface="Google Sans"/>
              </a:rPr>
              <a:t>λ</a:t>
            </a:r>
            <a:r>
              <a:rPr lang="el-GR" altLang="ja-JP" sz="1200" dirty="0"/>
              <a:t>Σ</a:t>
            </a:r>
            <a:r>
              <a:rPr kumimoji="1" lang="en-US" altLang="ja-JP" sz="1200" dirty="0"/>
              <a:t> </a:t>
            </a:r>
            <a:endParaRPr kumimoji="1" lang="ja-JP" altLang="en-US" sz="1200" dirty="0"/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41A8F-8FCA-4B74-8117-8AD58E73107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1810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Kullback-Leibler</a:t>
            </a:r>
            <a:r>
              <a:rPr kumimoji="1" lang="en-US" altLang="ja-JP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distance between complex generalized Gaussian distributions</a:t>
            </a:r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41A8F-8FCA-4B74-8117-8AD58E73107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4456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Q SPD, 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41A8F-8FCA-4B74-8117-8AD58E73107D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9518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a </a:t>
            </a:r>
            <a:r>
              <a:rPr lang="en-US" altLang="ja-JP" b="1" dirty="0">
                <a:solidFill>
                  <a:srgbClr val="FF0000"/>
                </a:solidFill>
              </a:rPr>
              <a:t>f-divergence</a:t>
            </a:r>
            <a:r>
              <a:rPr lang="en-US" altLang="ja-JP" dirty="0"/>
              <a:t> for f(u)=-log u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D5CE-3F97-4822-9013-BB9FF2912E0B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7663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∫</a:t>
            </a:r>
            <a:r>
              <a:rPr lang="el-GR" altLang="ja-JP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μ</a:t>
            </a:r>
            <a:endParaRPr lang="en-US" altLang="ja-JP" b="0" i="0" dirty="0">
              <a:solidFill>
                <a:srgbClr val="DF000F"/>
              </a:solidFill>
              <a:effectLst/>
              <a:latin typeface="Source Sans Pro" panose="020B0503030403020204" pitchFamily="34" charset="0"/>
            </a:endParaRPr>
          </a:p>
          <a:p>
            <a:r>
              <a:rPr lang="ja-JP" altLang="en-US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∇</a:t>
            </a:r>
            <a:r>
              <a:rPr lang="en-US" altLang="ja-JP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F easy!</a:t>
            </a:r>
          </a:p>
          <a:p>
            <a:endParaRPr kumimoji="1" lang="en-US" altLang="ja-JP" b="0" i="0" dirty="0">
              <a:solidFill>
                <a:srgbClr val="DF000F"/>
              </a:solidFill>
              <a:effectLst/>
              <a:latin typeface="Source Sans Pro" panose="020B0503030403020204" pitchFamily="34" charset="0"/>
            </a:endParaRPr>
          </a:p>
          <a:p>
            <a:r>
              <a:rPr lang="en-US" altLang="ja-JP" dirty="0"/>
              <a:t>Information geometry proves that </a:t>
            </a:r>
            <a:r>
              <a:rPr lang="en-US" altLang="ja-JP" b="1" dirty="0">
                <a:solidFill>
                  <a:srgbClr val="FF0000"/>
                </a:solidFill>
              </a:rPr>
              <a:t>B</a:t>
            </a:r>
            <a:r>
              <a:rPr lang="en-US" altLang="ja-JP" b="1" baseline="-25000" dirty="0">
                <a:solidFill>
                  <a:srgbClr val="FF0000"/>
                </a:solidFill>
              </a:rPr>
              <a:t>F</a:t>
            </a:r>
            <a:r>
              <a:rPr lang="en-US" altLang="ja-JP" b="1" dirty="0">
                <a:solidFill>
                  <a:srgbClr val="FF0000"/>
                </a:solidFill>
              </a:rPr>
              <a:t>(</a:t>
            </a:r>
            <a:r>
              <a:rPr lang="el-GR" altLang="ja-JP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b="1" i="0" baseline="-2500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</a:rPr>
              <a:t>:</a:t>
            </a:r>
            <a:r>
              <a:rPr lang="el-GR" altLang="ja-JP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b="1" i="0" baseline="-2500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b="1" dirty="0">
                <a:solidFill>
                  <a:srgbClr val="FF0000"/>
                </a:solidFill>
              </a:rPr>
              <a:t>)= D</a:t>
            </a:r>
            <a:r>
              <a:rPr lang="en-US" altLang="ja-JP" b="1" baseline="-25000" dirty="0">
                <a:solidFill>
                  <a:srgbClr val="FF0000"/>
                </a:solidFill>
              </a:rPr>
              <a:t>KL</a:t>
            </a:r>
            <a:r>
              <a:rPr lang="en-US" altLang="ja-JP" dirty="0">
                <a:solidFill>
                  <a:srgbClr val="FF0000"/>
                </a:solidFill>
              </a:rPr>
              <a:t>*</a:t>
            </a:r>
            <a:r>
              <a:rPr lang="en-US" altLang="ja-JP" b="1" dirty="0">
                <a:solidFill>
                  <a:srgbClr val="FF0000"/>
                </a:solidFill>
              </a:rPr>
              <a:t>[p</a:t>
            </a:r>
            <a:r>
              <a:rPr lang="en-US" altLang="ja-JP" b="1" dirty="0">
                <a:solidFill>
                  <a:srgbClr val="FF0000"/>
                </a:solidFill>
                <a:latin typeface="Source Sans Pro" panose="020B0503030403020204" pitchFamily="34" charset="0"/>
              </a:rPr>
              <a:t>(x|</a:t>
            </a:r>
            <a:r>
              <a:rPr lang="el-GR" altLang="ja-JP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b="1" i="0" baseline="-2500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1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  <a:r>
              <a:rPr lang="en-US" altLang="ja-JP" b="1" i="0" baseline="-2500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</a:rPr>
              <a:t>: p</a:t>
            </a:r>
            <a:r>
              <a:rPr lang="en-US" altLang="ja-JP" b="1" dirty="0">
                <a:solidFill>
                  <a:srgbClr val="FF0000"/>
                </a:solidFill>
                <a:latin typeface="Source Sans Pro" panose="020B0503030403020204" pitchFamily="34" charset="0"/>
              </a:rPr>
              <a:t>(x|</a:t>
            </a:r>
            <a:r>
              <a:rPr lang="el-GR" altLang="ja-JP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b="1" baseline="-25000" dirty="0">
                <a:solidFill>
                  <a:srgbClr val="FF0000"/>
                </a:solidFill>
                <a:latin typeface="Source Sans Pro" panose="020B0503030403020204" pitchFamily="34" charset="0"/>
              </a:rPr>
              <a:t>2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  <a:r>
              <a:rPr lang="en-US" altLang="ja-JP" b="1" i="0" baseline="-2500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</a:rPr>
              <a:t>]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when</a:t>
            </a:r>
            <a:r>
              <a:rPr lang="en-US" altLang="ja-JP" b="1" dirty="0">
                <a:solidFill>
                  <a:srgbClr val="FF0000"/>
                </a:solidFill>
              </a:rPr>
              <a:t> F(</a:t>
            </a:r>
            <a:r>
              <a:rPr lang="el-GR" altLang="ja-JP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b="1" dirty="0">
                <a:solidFill>
                  <a:srgbClr val="FF0000"/>
                </a:solidFill>
              </a:rPr>
              <a:t>)=log </a:t>
            </a:r>
            <a:r>
              <a:rPr lang="ja-JP" altLang="en-US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∫ </a:t>
            </a:r>
            <a:r>
              <a:rPr lang="en-US" altLang="ja-JP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exp(&lt;x,</a:t>
            </a:r>
            <a:r>
              <a:rPr lang="el-GR" altLang="ja-JP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 θ </a:t>
            </a:r>
            <a:r>
              <a:rPr lang="en-US" altLang="ja-JP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&gt;) d</a:t>
            </a:r>
            <a:r>
              <a:rPr lang="el-GR" altLang="ja-JP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μ</a:t>
            </a:r>
            <a:r>
              <a:rPr lang="en-US" altLang="ja-JP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(x) </a:t>
            </a:r>
            <a:r>
              <a:rPr lang="en-US" altLang="ja-JP" i="0" dirty="0">
                <a:effectLst/>
                <a:latin typeface="Source Sans Pro" panose="020B0503030403020204" pitchFamily="34" charset="0"/>
              </a:rPr>
              <a:t>where</a:t>
            </a:r>
            <a:r>
              <a:rPr lang="en-US" altLang="ja-JP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b="1" dirty="0">
                <a:solidFill>
                  <a:srgbClr val="FF0000"/>
                </a:solidFill>
              </a:rPr>
              <a:t>D</a:t>
            </a:r>
            <a:r>
              <a:rPr lang="en-US" altLang="ja-JP" b="1" baseline="-25000" dirty="0">
                <a:solidFill>
                  <a:srgbClr val="FF0000"/>
                </a:solidFill>
              </a:rPr>
              <a:t>KL</a:t>
            </a:r>
            <a:r>
              <a:rPr lang="en-US" altLang="ja-JP" dirty="0">
                <a:solidFill>
                  <a:srgbClr val="FF0000"/>
                </a:solidFill>
              </a:rPr>
              <a:t>*</a:t>
            </a:r>
            <a:r>
              <a:rPr lang="en-US" altLang="ja-JP" b="1" dirty="0">
                <a:solidFill>
                  <a:srgbClr val="FF0000"/>
                </a:solidFill>
              </a:rPr>
              <a:t>[p(x):q(x)]:= D</a:t>
            </a:r>
            <a:r>
              <a:rPr lang="en-US" altLang="ja-JP" b="1" baseline="-25000" dirty="0">
                <a:solidFill>
                  <a:srgbClr val="FF0000"/>
                </a:solidFill>
              </a:rPr>
              <a:t>KL</a:t>
            </a:r>
            <a:r>
              <a:rPr lang="en-US" altLang="ja-JP" b="1" dirty="0">
                <a:solidFill>
                  <a:srgbClr val="FF0000"/>
                </a:solidFill>
              </a:rPr>
              <a:t>[q(x):p(x)] </a:t>
            </a:r>
            <a:r>
              <a:rPr lang="en-US" altLang="ja-JP" dirty="0"/>
              <a:t>is the </a:t>
            </a:r>
            <a:r>
              <a:rPr lang="en-US" altLang="ja-JP" b="1" dirty="0">
                <a:solidFill>
                  <a:srgbClr val="FF0000"/>
                </a:solidFill>
              </a:rPr>
              <a:t>reverse </a:t>
            </a:r>
            <a:r>
              <a:rPr lang="en-US" altLang="ja-JP" b="1" dirty="0" err="1">
                <a:solidFill>
                  <a:srgbClr val="FF0000"/>
                </a:solidFill>
              </a:rPr>
              <a:t>Kullback-Leibler</a:t>
            </a:r>
            <a:r>
              <a:rPr lang="en-US" altLang="ja-JP" b="1" dirty="0">
                <a:solidFill>
                  <a:srgbClr val="FF0000"/>
                </a:solidFill>
              </a:rPr>
              <a:t> divergence</a:t>
            </a:r>
            <a:endParaRPr lang="en-US" altLang="ja-JP" b="1" dirty="0"/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4D204-4D42-4A31-949B-526B9FFFD34E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4399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DAA57-E83B-3462-1B0A-54AC72ADB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0130B-BC01-E6D1-65D3-9F42AC183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9BE50-DE77-55C3-8F61-52586E846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AC14-42AC-4F61-87D6-0D6F6CB19D6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5122D-1F78-4033-FDF3-D94E415AE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EA400-0AD7-15BB-D6C8-FB9ABD8A9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6F7FE-A058-487C-89CA-3CE052D948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9660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16E03-03D9-59F7-72E2-5E38C93FD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29F4D-D281-F5D3-E0BD-DF8DE4C88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9C451-B0B3-506E-0B31-9641F3E1B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AC14-42AC-4F61-87D6-0D6F6CB19D6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AE6C5-1BA1-5E06-75EB-D3F810A0F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EA4B8-04B6-74F6-CE76-0C3B42B54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6F7FE-A058-487C-89CA-3CE052D948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6527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8B03-D5E4-E4ED-846D-66AD9A0BF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17F3B-1DC9-6B18-4E4B-66951ECB4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19696-19A3-80FC-A90D-60E81BD52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AC14-42AC-4F61-87D6-0D6F6CB19D6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83DBB-5FAB-23A2-A30D-A0E162D60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E1DD8-0478-BB16-AFC2-985C82E6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6F7FE-A058-487C-89CA-3CE052D948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198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3E83F-E3BA-4325-754D-90D0DCE17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EF8BA-9C22-9C37-92A1-A370B4D21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5C3A6-1246-0FFD-659A-5F5D4C7CA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8D16B-EAC4-480C-CA46-2A97BAD0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AC14-42AC-4F61-87D6-0D6F6CB19D6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B51D0-585D-2422-78F7-5D211C4DF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4FF4A-DCB0-34B5-3AE5-F377AB8D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6F7FE-A058-487C-89CA-3CE052D948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723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F572-C989-E998-BFAC-5E6DC7BFB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A5B3A-5114-D134-6999-FA8565075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FD9F3-3E3A-AA44-C3F5-78742E01E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7068B2-C953-1761-E653-ACF1286DA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DCB6C1-B34B-6EDA-DF58-52B38DCE8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35E2FC-266B-1BD4-AA0C-0C5CABD8E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AC14-42AC-4F61-87D6-0D6F6CB19D6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4547EC-7F10-DF7A-4544-AA4E49228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480B8-A577-5018-923D-386DAF315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6F7FE-A058-487C-89CA-3CE052D948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63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CCBF-5072-A9BE-8669-4D12BA2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711172-8381-A2BD-9CD3-F56EB101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AC14-42AC-4F61-87D6-0D6F6CB19D6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4C6B6-DC19-0598-448E-05459C273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D146F-2BFB-0AFB-9544-0D2038663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6F7FE-A058-487C-89CA-3CE052D948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560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34117D-C40F-5299-5C8A-E30AB8BFD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AC14-42AC-4F61-87D6-0D6F6CB19D6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C4B4DE-95EC-A1CC-4BFC-BFD4D83FE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6D023-655A-E571-8CC6-538E49C8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6F7FE-A058-487C-89CA-3CE052D948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87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1C008-84D3-16DC-90A6-48C42320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5B843-AD1A-B411-EEF5-AF6766B19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C79B0-29A5-DE2D-4B65-017976373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9EA5C-AD8A-EC9B-6D89-034BB9055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AC14-42AC-4F61-87D6-0D6F6CB19D6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B1917-15A9-D381-9D8C-F3958A2E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DB082-6EFF-F4B0-2E56-FBFDB4BE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6F7FE-A058-487C-89CA-3CE052D948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9290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6741-4341-94AF-8E32-BC5D195AE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64A688-AE90-4CE1-2789-9C4D7568E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16B35-9753-471F-6C64-A7C8B95D7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29917-23EA-BCC5-ABE2-70DC3697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AC14-42AC-4F61-87D6-0D6F6CB19D6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B6281-1F2E-D64B-613A-1C333E9EA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DFE31-5D64-0A0F-4E6F-E258AE78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6F7FE-A058-487C-89CA-3CE052D948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329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70EBF-830C-614E-26CA-35B6010C1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0D0F1-210C-819D-E030-85F51BF0A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0FC66-E525-AC16-7CFE-097A378F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AC14-42AC-4F61-87D6-0D6F6CB19D6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01956-602C-119C-45AD-22E0F87F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543CB-E66A-90FC-087C-1F78EA35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6F7FE-A058-487C-89CA-3CE052D948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3927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B74AC2-CB31-94F1-C86B-42F0AE36F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5F63B-AB55-920C-C85D-E7E37743E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36AAC-52D0-51B1-7FE5-29E569263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AC14-42AC-4F61-87D6-0D6F6CB19D6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08768-6732-AB3F-DAD9-6F334520C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C2126-1174-F557-1180-E8E3F415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6F7FE-A058-487C-89CA-3CE052D948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7520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C0C2B0-E84B-C33D-B349-D51C626EF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EAEDF-7F58-4EA9-3BEC-72CD07875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A88C6-0D01-D04D-3926-D514D505FF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4AC14-42AC-4F61-87D6-0D6F6CB19D6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F347C-A4FF-3BD9-56A6-19AB0AD66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0127-BE90-5FC2-D078-53FE43901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86F7FE-A058-487C-89CA-3CE052D948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1113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56554-2F44-0A69-A6D8-F487027E1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2472" y="1487712"/>
            <a:ext cx="10733480" cy="2387600"/>
          </a:xfrm>
        </p:spPr>
        <p:txBody>
          <a:bodyPr>
            <a:normAutofit/>
          </a:bodyPr>
          <a:lstStyle/>
          <a:p>
            <a:r>
              <a:rPr lang="en-US" altLang="ja-JP" sz="5400" b="0" i="0" dirty="0">
                <a:solidFill>
                  <a:srgbClr val="0000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Curved Bregman divergences </a:t>
            </a:r>
            <a:br>
              <a:rPr lang="en-US" altLang="ja-JP" sz="5400" b="0" i="0" dirty="0">
                <a:solidFill>
                  <a:srgbClr val="0000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</a:br>
            <a:endParaRPr kumimoji="1" lang="ja-JP" altLang="en-US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D36F7F-7050-603D-9AC1-E695A52D3E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388" y="5935070"/>
            <a:ext cx="3597648" cy="92293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5B2760E9-56C8-50F2-8D24-66EAB7ECED99}"/>
              </a:ext>
            </a:extLst>
          </p:cNvPr>
          <p:cNvSpPr txBox="1">
            <a:spLocks/>
          </p:cNvSpPr>
          <p:nvPr/>
        </p:nvSpPr>
        <p:spPr>
          <a:xfrm>
            <a:off x="1667173" y="414889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6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Frank Nielsen</a:t>
            </a:r>
            <a:endParaRPr lang="en-US" sz="320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sz="28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Sony Computer Science Laboratories, Inc.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827F69-9283-3A0E-EBBE-E044B52EAD59}"/>
              </a:ext>
            </a:extLst>
          </p:cNvPr>
          <p:cNvSpPr txBox="1"/>
          <p:nvPr/>
        </p:nvSpPr>
        <p:spPr>
          <a:xfrm>
            <a:off x="8415829" y="6351830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https://arxiv.org/abs/2504.05654</a:t>
            </a:r>
          </a:p>
        </p:txBody>
      </p:sp>
    </p:spTree>
    <p:extLst>
      <p:ext uri="{BB962C8B-B14F-4D97-AF65-F5344CB8AC3E}">
        <p14:creationId xmlns:p14="http://schemas.microsoft.com/office/powerpoint/2010/main" val="3619773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DC533-501A-9600-BFF8-F496B17E5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03" y="-109728"/>
            <a:ext cx="10515600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chemeClr val="accent5"/>
                </a:solidFill>
              </a:rPr>
              <a:t>Bregman divergences  (1960’s)</a:t>
            </a:r>
            <a:endParaRPr kumimoji="1" lang="ja-JP" altLang="en-US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116CE-2C12-B07B-75D7-1EA567529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103" y="1320930"/>
            <a:ext cx="9807405" cy="2673414"/>
          </a:xfrm>
        </p:spPr>
        <p:txBody>
          <a:bodyPr>
            <a:normAutofit/>
          </a:bodyPr>
          <a:lstStyle/>
          <a:p>
            <a:r>
              <a:rPr kumimoji="1" lang="en-US" altLang="ja-JP" sz="2400" dirty="0"/>
              <a:t>F:</a:t>
            </a:r>
            <a:r>
              <a:rPr lang="el-GR" altLang="ja-JP" sz="2400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l-GR" altLang="ja-JP" sz="2400" b="0" i="0" dirty="0">
                <a:effectLst/>
                <a:latin typeface="Source Sans Pro" panose="020B0503030403020204" pitchFamily="34" charset="0"/>
              </a:rPr>
              <a:t>Θ</a:t>
            </a:r>
            <a:r>
              <a:rPr lang="ja-JP" altLang="en-US" sz="2400" b="0" i="0" dirty="0">
                <a:effectLst/>
                <a:latin typeface="Source Sans Pro" panose="020B0503030403020204" pitchFamily="34" charset="0"/>
              </a:rPr>
              <a:t>⊆</a:t>
            </a:r>
            <a:r>
              <a:rPr lang="en-US" altLang="ja-JP" sz="2400" b="0" i="0" dirty="0" err="1">
                <a:solidFill>
                  <a:srgbClr val="373637"/>
                </a:solidFill>
                <a:effectLst/>
                <a:latin typeface="Source Sans Pro" panose="020B0503030403020204" pitchFamily="34" charset="0"/>
              </a:rPr>
              <a:t>ℝ</a:t>
            </a:r>
            <a:r>
              <a:rPr kumimoji="1" lang="en-US" altLang="ja-JP" sz="2400" baseline="30000" dirty="0" err="1"/>
              <a:t>m</a:t>
            </a:r>
            <a:r>
              <a:rPr lang="ja-JP" altLang="en-US" sz="2400" b="0" i="0" dirty="0">
                <a:solidFill>
                  <a:srgbClr val="404040"/>
                </a:solidFill>
                <a:effectLst/>
                <a:latin typeface="-apple-system"/>
              </a:rPr>
              <a:t>→</a:t>
            </a:r>
            <a:r>
              <a:rPr lang="en-US" altLang="ja-JP" sz="2400" b="0" i="0" dirty="0">
                <a:solidFill>
                  <a:srgbClr val="373637"/>
                </a:solidFill>
                <a:effectLst/>
                <a:latin typeface="Source Sans Pro" panose="020B0503030403020204" pitchFamily="34" charset="0"/>
              </a:rPr>
              <a:t>ℝ </a:t>
            </a:r>
            <a:r>
              <a:rPr kumimoji="1" lang="en-US" altLang="ja-JP" sz="2400" dirty="0"/>
              <a:t> a </a:t>
            </a:r>
            <a:r>
              <a:rPr kumimoji="1" lang="en-US" altLang="ja-JP" sz="2400" b="1" dirty="0"/>
              <a:t>strictly convex and smooth </a:t>
            </a:r>
          </a:p>
          <a:p>
            <a:pPr marL="0" indent="0">
              <a:buNone/>
            </a:pPr>
            <a:r>
              <a:rPr kumimoji="1" lang="en-US" altLang="ja-JP" sz="2400" dirty="0"/>
              <a:t>real-valued function on a finite dim. Hilbert space &lt;.,.&gt;</a:t>
            </a:r>
            <a:endParaRPr lang="en-US" altLang="ja-JP" sz="2400" dirty="0"/>
          </a:p>
          <a:p>
            <a:pPr marL="0" indent="0">
              <a:buNone/>
            </a:pPr>
            <a:r>
              <a:rPr lang="en-US" altLang="ja-JP" sz="2400" b="1" dirty="0">
                <a:solidFill>
                  <a:srgbClr val="FF0000"/>
                </a:solidFill>
              </a:rPr>
              <a:t>Bregman</a:t>
            </a:r>
            <a:r>
              <a:rPr lang="ja-JP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divergence </a:t>
            </a:r>
            <a:r>
              <a:rPr lang="en-US" altLang="ja-JP" sz="2400" dirty="0"/>
              <a:t>B</a:t>
            </a:r>
            <a:r>
              <a:rPr lang="en-US" altLang="ja-JP" sz="2400" baseline="-25000" dirty="0"/>
              <a:t>F</a:t>
            </a:r>
            <a:r>
              <a:rPr lang="en-US" altLang="ja-JP" sz="2400" dirty="0"/>
              <a:t>:</a:t>
            </a:r>
            <a:r>
              <a:rPr lang="el-GR" altLang="ja-JP" sz="2400" b="0" i="0" dirty="0">
                <a:effectLst/>
                <a:latin typeface="Source Sans Pro" panose="020B0503030403020204" pitchFamily="34" charset="0"/>
              </a:rPr>
              <a:t> Θ</a:t>
            </a:r>
            <a:r>
              <a:rPr lang="ja-JP" altLang="en-US" sz="2400" b="0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en-US" altLang="ja-JP" sz="2400" dirty="0"/>
              <a:t>x Interior(</a:t>
            </a:r>
            <a:r>
              <a:rPr lang="el-GR" altLang="ja-JP" sz="2400" b="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dirty="0"/>
              <a:t>)</a:t>
            </a:r>
            <a:r>
              <a:rPr lang="ja-JP" altLang="en-US" sz="2400" b="0" i="0" dirty="0">
                <a:solidFill>
                  <a:srgbClr val="404040"/>
                </a:solidFill>
                <a:effectLst/>
                <a:latin typeface="-apple-system"/>
              </a:rPr>
              <a:t> →</a:t>
            </a:r>
            <a:r>
              <a:rPr lang="en-US" altLang="ja-JP" sz="2400" b="0" i="0" dirty="0">
                <a:solidFill>
                  <a:srgbClr val="373637"/>
                </a:solidFill>
                <a:effectLst/>
                <a:latin typeface="Source Sans Pro" panose="020B0503030403020204" pitchFamily="34" charset="0"/>
              </a:rPr>
              <a:t>ℝ</a:t>
            </a:r>
            <a:r>
              <a:rPr lang="ja-JP" altLang="en-US" sz="2400" b="0" i="0" baseline="-25000" dirty="0">
                <a:effectLst/>
                <a:latin typeface="Source Sans Pro" panose="020B0503030403020204" pitchFamily="34" charset="0"/>
              </a:rPr>
              <a:t>≥</a:t>
            </a:r>
            <a:r>
              <a:rPr lang="en-US" altLang="ja-JP" sz="2400" b="0" i="0" baseline="-25000" dirty="0">
                <a:effectLst/>
                <a:latin typeface="Source Sans Pro" panose="020B0503030403020204" pitchFamily="34" charset="0"/>
              </a:rPr>
              <a:t>0</a:t>
            </a:r>
            <a:endParaRPr lang="en-US" altLang="ja-JP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C63B9-C6BC-41A5-66FA-FF3319A56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8155" y="142821"/>
            <a:ext cx="2012155" cy="19470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7156F4-E277-584B-070D-46BABF523105}"/>
              </a:ext>
            </a:extLst>
          </p:cNvPr>
          <p:cNvSpPr txBox="1"/>
          <p:nvPr/>
        </p:nvSpPr>
        <p:spPr>
          <a:xfrm>
            <a:off x="9725632" y="2124190"/>
            <a:ext cx="2177199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Lev M. Bregman</a:t>
            </a:r>
          </a:p>
          <a:p>
            <a:pPr algn="ctr"/>
            <a:r>
              <a:rPr lang="da-DK" altLang="ja-JP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a-DK" altLang="ja-JP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(1941 - 2023)</a:t>
            </a:r>
          </a:p>
          <a:p>
            <a:pPr algn="ctr"/>
            <a:r>
              <a:rPr kumimoji="1" lang="da-DK" altLang="ja-JP" sz="1600" dirty="0">
                <a:solidFill>
                  <a:srgbClr val="202122"/>
                </a:solidFill>
                <a:latin typeface="Arial" panose="020B0604020202020204" pitchFamily="34" charset="0"/>
              </a:rPr>
              <a:t>Photo: courtesy of </a:t>
            </a:r>
          </a:p>
          <a:p>
            <a:pPr algn="ctr"/>
            <a:r>
              <a:rPr lang="en-US" altLang="ja-JP" sz="160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Alexander </a:t>
            </a:r>
            <a:r>
              <a:rPr lang="en-US" altLang="ja-JP" sz="1600" i="0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Fradkov</a:t>
            </a:r>
            <a:endParaRPr kumimoji="1" lang="en-US" altLang="ja-JP" sz="1600" i="0" dirty="0">
              <a:solidFill>
                <a:srgbClr val="DF000F"/>
              </a:solidFill>
              <a:effectLst/>
              <a:latin typeface="Source Sans Pro" panose="020B0503030403020204" pitchFamily="34" charset="0"/>
            </a:endParaRP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B1DCE-9A06-97A7-E52B-E2469FEC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661150"/>
            <a:ext cx="2743200" cy="365125"/>
          </a:xfrm>
        </p:spPr>
        <p:txBody>
          <a:bodyPr/>
          <a:lstStyle/>
          <a:p>
            <a:fld id="{31CF226C-95D4-40B8-9E1A-366D2434025F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C3F4BC-6D41-AA03-F347-A4E71E36FA88}"/>
              </a:ext>
            </a:extLst>
          </p:cNvPr>
          <p:cNvSpPr txBox="1"/>
          <p:nvPr/>
        </p:nvSpPr>
        <p:spPr>
          <a:xfrm>
            <a:off x="1900492" y="2832076"/>
            <a:ext cx="68998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B</a:t>
            </a:r>
            <a:r>
              <a:rPr lang="en-US" altLang="ja-JP" sz="2800" b="1" baseline="-25000" dirty="0">
                <a:solidFill>
                  <a:srgbClr val="FF0000"/>
                </a:solidFill>
                <a:highlight>
                  <a:srgbClr val="FFFF00"/>
                </a:highlight>
              </a:rPr>
              <a:t>F</a:t>
            </a:r>
            <a:r>
              <a:rPr lang="en-US" altLang="ja-JP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(</a:t>
            </a:r>
            <a:r>
              <a:rPr lang="el-GR" altLang="ja-JP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θ</a:t>
            </a:r>
            <a:r>
              <a:rPr lang="en-US" altLang="ja-JP" sz="2800" b="1" i="0" baseline="-250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1</a:t>
            </a:r>
            <a:r>
              <a:rPr lang="el-GR" altLang="ja-JP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 </a:t>
            </a:r>
            <a:r>
              <a:rPr lang="en-US" altLang="ja-JP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:</a:t>
            </a:r>
            <a:r>
              <a:rPr lang="el-GR" altLang="ja-JP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 θ</a:t>
            </a:r>
            <a:r>
              <a:rPr lang="en-US" altLang="ja-JP" sz="2800" b="1" i="0" baseline="-250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2</a:t>
            </a:r>
            <a:r>
              <a:rPr lang="en-US" altLang="ja-JP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)=F(</a:t>
            </a:r>
            <a:r>
              <a:rPr lang="el-GR" altLang="ja-JP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θ</a:t>
            </a:r>
            <a:r>
              <a:rPr lang="en-US" altLang="ja-JP" sz="2800" b="1" i="0" baseline="-250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1</a:t>
            </a:r>
            <a:r>
              <a:rPr lang="en-US" altLang="ja-JP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)-F(</a:t>
            </a:r>
            <a:r>
              <a:rPr lang="el-GR" altLang="ja-JP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θ</a:t>
            </a:r>
            <a:r>
              <a:rPr lang="en-US" altLang="ja-JP" sz="2800" b="1" baseline="-25000" dirty="0">
                <a:solidFill>
                  <a:srgbClr val="FF0000"/>
                </a:solidFill>
                <a:highlight>
                  <a:srgbClr val="FFFF00"/>
                </a:highlight>
                <a:latin typeface="Source Sans Pro" panose="020B0503030403020204" pitchFamily="34" charset="0"/>
              </a:rPr>
              <a:t>2</a:t>
            </a:r>
            <a:r>
              <a:rPr lang="en-US" altLang="ja-JP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)-&lt;</a:t>
            </a:r>
            <a:r>
              <a:rPr lang="el-GR" altLang="ja-JP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 θ</a:t>
            </a:r>
            <a:r>
              <a:rPr lang="en-US" altLang="ja-JP" sz="2800" b="1" i="0" baseline="-250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1</a:t>
            </a:r>
            <a:r>
              <a:rPr lang="el-GR" altLang="ja-JP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 </a:t>
            </a:r>
            <a:r>
              <a:rPr lang="en-US" altLang="ja-JP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-</a:t>
            </a:r>
            <a:r>
              <a:rPr lang="el-GR" altLang="ja-JP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 θ</a:t>
            </a:r>
            <a:r>
              <a:rPr lang="en-US" altLang="ja-JP" sz="2800" b="1" i="0" baseline="-250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2 ,</a:t>
            </a:r>
            <a:r>
              <a:rPr lang="el-GR" altLang="ja-JP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 ∇</a:t>
            </a:r>
            <a:r>
              <a:rPr lang="en-US" altLang="ja-JP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F(</a:t>
            </a:r>
            <a:r>
              <a:rPr lang="el-GR" altLang="ja-JP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θ</a:t>
            </a:r>
            <a:r>
              <a:rPr lang="en-US" altLang="ja-JP" sz="2800" b="1" i="0" baseline="-250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2</a:t>
            </a:r>
            <a:r>
              <a:rPr lang="en-US" altLang="ja-JP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)</a:t>
            </a:r>
            <a:r>
              <a:rPr lang="en-US" altLang="ja-JP" sz="2800" b="1" i="0" baseline="-250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 </a:t>
            </a:r>
            <a:r>
              <a:rPr lang="en-US" altLang="ja-JP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&gt;</a:t>
            </a:r>
            <a:endParaRPr lang="ja-JP" alt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22C6EE-6985-2218-E43D-F545CA367361}"/>
              </a:ext>
            </a:extLst>
          </p:cNvPr>
          <p:cNvSpPr txBox="1"/>
          <p:nvPr/>
        </p:nvSpPr>
        <p:spPr>
          <a:xfrm>
            <a:off x="248552" y="4451093"/>
            <a:ext cx="119170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BD interpreted as 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remainder</a:t>
            </a:r>
            <a:r>
              <a:rPr kumimoji="1" lang="en-US" altLang="ja-JP" sz="2400" dirty="0"/>
              <a:t> of a </a:t>
            </a:r>
            <a:r>
              <a:rPr kumimoji="1" lang="en-US" altLang="ja-JP" sz="2400" b="1" dirty="0"/>
              <a:t>first order Taylor expression </a:t>
            </a:r>
            <a:r>
              <a:rPr kumimoji="1" lang="en-US" altLang="ja-JP" sz="2400" dirty="0"/>
              <a:t>of F(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kumimoji="1" lang="en-US" altLang="ja-JP" sz="2400" dirty="0"/>
              <a:t>) around 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2</a:t>
            </a:r>
            <a:r>
              <a:rPr kumimoji="1" lang="en-US" altLang="ja-JP" sz="2400" dirty="0"/>
              <a:t>:</a:t>
            </a:r>
          </a:p>
          <a:p>
            <a:endParaRPr kumimoji="1" lang="en-US" altLang="ja-JP" sz="2800" dirty="0"/>
          </a:p>
          <a:p>
            <a:endParaRPr kumimoji="1" lang="ja-JP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E39302-44FA-1C81-0DE9-A9E04054DFBE}"/>
              </a:ext>
            </a:extLst>
          </p:cNvPr>
          <p:cNvSpPr txBox="1"/>
          <p:nvPr/>
        </p:nvSpPr>
        <p:spPr>
          <a:xfrm>
            <a:off x="1102411" y="4989713"/>
            <a:ext cx="68998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F(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n-US" altLang="ja-JP" sz="2400" dirty="0"/>
              <a:t>)=F(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baseline="-25000" dirty="0">
                <a:latin typeface="Source Sans Pro" panose="020B0503030403020204" pitchFamily="34" charset="0"/>
              </a:rPr>
              <a:t>2</a:t>
            </a:r>
            <a:r>
              <a:rPr lang="en-US" altLang="ja-JP" sz="2400" dirty="0"/>
              <a:t>)+&lt;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400" i="0" dirty="0">
                <a:effectLst/>
                <a:latin typeface="Source Sans Pro" panose="020B0503030403020204" pitchFamily="34" charset="0"/>
              </a:rPr>
              <a:t>-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2 ,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∇</a:t>
            </a:r>
            <a:r>
              <a:rPr lang="en-US" altLang="ja-JP" sz="2400" i="0" dirty="0">
                <a:effectLst/>
                <a:latin typeface="Source Sans Pro" panose="020B0503030403020204" pitchFamily="34" charset="0"/>
              </a:rPr>
              <a:t>F(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2400" i="0" dirty="0">
                <a:effectLst/>
                <a:latin typeface="Source Sans Pro" panose="020B0503030403020204" pitchFamily="34" charset="0"/>
              </a:rPr>
              <a:t>)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400" dirty="0"/>
              <a:t>&gt;+ </a:t>
            </a:r>
            <a:r>
              <a:rPr lang="en-US" altLang="ja-JP" sz="2400" b="1" dirty="0">
                <a:solidFill>
                  <a:srgbClr val="FF0000"/>
                </a:solidFill>
              </a:rPr>
              <a:t>B</a:t>
            </a:r>
            <a:r>
              <a:rPr lang="en-US" altLang="ja-JP" sz="2400" b="1" baseline="-25000" dirty="0">
                <a:solidFill>
                  <a:srgbClr val="FF0000"/>
                </a:solidFill>
              </a:rPr>
              <a:t>F</a:t>
            </a:r>
            <a:r>
              <a:rPr lang="en-US" altLang="ja-JP" sz="2400" b="1" dirty="0">
                <a:solidFill>
                  <a:srgbClr val="FF0000"/>
                </a:solidFill>
              </a:rPr>
              <a:t>(</a:t>
            </a:r>
            <a:r>
              <a:rPr lang="el-GR" altLang="ja-JP" sz="2400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b="1" i="0" baseline="-2500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sz="2400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:</a:t>
            </a:r>
            <a:r>
              <a:rPr lang="el-GR" altLang="ja-JP" sz="2400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2400" b="1" i="0" baseline="-2500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2400" b="1" dirty="0">
                <a:solidFill>
                  <a:srgbClr val="FF0000"/>
                </a:solidFill>
              </a:rPr>
              <a:t>)</a:t>
            </a:r>
            <a:endParaRPr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67289C-6A23-2EE5-36BD-F71A67CBC006}"/>
              </a:ext>
            </a:extLst>
          </p:cNvPr>
          <p:cNvSpPr txBox="1"/>
          <p:nvPr/>
        </p:nvSpPr>
        <p:spPr>
          <a:xfrm>
            <a:off x="5369941" y="5471549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Taylor remainder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UnderBrace">
            <a:extLst>
              <a:ext uri="{FF2B5EF4-FFF2-40B4-BE49-F238E27FC236}">
                <a16:creationId xmlns:a16="http://schemas.microsoft.com/office/drawing/2014/main" id="{C52A754C-D94C-AEF7-066C-2570B673A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928" y="4864797"/>
            <a:ext cx="2086295" cy="845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067FD5A-3293-1825-EA42-A9336ADC930D}"/>
              </a:ext>
            </a:extLst>
          </p:cNvPr>
          <p:cNvSpPr txBox="1"/>
          <p:nvPr/>
        </p:nvSpPr>
        <p:spPr>
          <a:xfrm>
            <a:off x="94023" y="5842242"/>
            <a:ext cx="11905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Example of remainder: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Lagrange remainder </a:t>
            </a:r>
            <a:r>
              <a:rPr kumimoji="1" lang="en-US" altLang="ja-JP" sz="2000" dirty="0"/>
              <a:t>(smooth C</a:t>
            </a:r>
            <a:r>
              <a:rPr kumimoji="1" lang="en-US" altLang="ja-JP" sz="2000" baseline="30000" dirty="0"/>
              <a:t>2</a:t>
            </a:r>
            <a:r>
              <a:rPr kumimoji="1" lang="en-US" altLang="ja-JP" sz="2000" dirty="0"/>
              <a:t> generators): </a:t>
            </a:r>
            <a:r>
              <a:rPr lang="el-GR" altLang="ja-JP" sz="2000" b="1" i="0" dirty="0">
                <a:effectLst/>
              </a:rPr>
              <a:t>∇</a:t>
            </a:r>
            <a:r>
              <a:rPr lang="en-US" altLang="ja-JP" sz="2000" b="1" i="0" baseline="30000" dirty="0">
                <a:effectLst/>
              </a:rPr>
              <a:t>2</a:t>
            </a:r>
            <a:r>
              <a:rPr lang="en-US" altLang="ja-JP" sz="2000" b="1" i="0" dirty="0">
                <a:effectLst/>
              </a:rPr>
              <a:t>F SPD </a:t>
            </a:r>
            <a:r>
              <a:rPr lang="ja-JP" altLang="en-US" sz="2000" b="0" i="0" dirty="0">
                <a:effectLst/>
              </a:rPr>
              <a:t>⇒</a:t>
            </a:r>
            <a:r>
              <a:rPr lang="ja-JP" altLang="en-US" sz="2000" b="0" i="0" dirty="0">
                <a:solidFill>
                  <a:srgbClr val="DF000F"/>
                </a:solidFill>
                <a:effectLst/>
              </a:rPr>
              <a:t> </a:t>
            </a:r>
            <a:r>
              <a:rPr lang="en-US" altLang="ja-JP" sz="2000" dirty="0"/>
              <a:t>B</a:t>
            </a:r>
            <a:r>
              <a:rPr lang="en-US" altLang="ja-JP" sz="2000" baseline="-25000" dirty="0"/>
              <a:t>F</a:t>
            </a:r>
            <a:r>
              <a:rPr lang="en-US" altLang="ja-JP" sz="2000" dirty="0"/>
              <a:t>(</a:t>
            </a:r>
            <a:r>
              <a:rPr lang="el-GR" altLang="ja-JP" sz="2000" i="0" dirty="0">
                <a:effectLst/>
              </a:rPr>
              <a:t>θ</a:t>
            </a:r>
            <a:r>
              <a:rPr lang="en-US" altLang="ja-JP" sz="2000" i="0" baseline="-25000" dirty="0">
                <a:effectLst/>
              </a:rPr>
              <a:t>1</a:t>
            </a:r>
            <a:r>
              <a:rPr lang="el-GR" altLang="ja-JP" sz="2000" i="0" dirty="0">
                <a:effectLst/>
              </a:rPr>
              <a:t> </a:t>
            </a:r>
            <a:r>
              <a:rPr lang="en-US" altLang="ja-JP" sz="2000" dirty="0"/>
              <a:t>:</a:t>
            </a:r>
            <a:r>
              <a:rPr lang="el-GR" altLang="ja-JP" sz="2000" i="0" dirty="0">
                <a:effectLst/>
              </a:rPr>
              <a:t> θ</a:t>
            </a:r>
            <a:r>
              <a:rPr lang="en-US" altLang="ja-JP" sz="2000" i="0" baseline="-25000" dirty="0">
                <a:effectLst/>
              </a:rPr>
              <a:t>2</a:t>
            </a:r>
            <a:r>
              <a:rPr lang="en-US" altLang="ja-JP" sz="2000" dirty="0"/>
              <a:t>)</a:t>
            </a:r>
            <a:r>
              <a:rPr lang="ja-JP" altLang="en-US" sz="2000" b="0" i="0" dirty="0">
                <a:effectLst/>
              </a:rPr>
              <a:t> ≥ </a:t>
            </a:r>
            <a:r>
              <a:rPr lang="en-US" altLang="ja-JP" sz="2000" i="0" dirty="0">
                <a:effectLst/>
              </a:rPr>
              <a:t>0</a:t>
            </a:r>
            <a:r>
              <a:rPr lang="ja-JP" altLang="en-US" sz="2000" b="0" i="0" dirty="0">
                <a:solidFill>
                  <a:srgbClr val="DF000F"/>
                </a:solidFill>
                <a:effectLst/>
              </a:rPr>
              <a:t> </a:t>
            </a:r>
            <a:endParaRPr kumimoji="1" lang="ja-JP" alt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BD3855-D754-C4D3-519F-404779FEFC1A}"/>
              </a:ext>
            </a:extLst>
          </p:cNvPr>
          <p:cNvSpPr txBox="1"/>
          <p:nvPr/>
        </p:nvSpPr>
        <p:spPr>
          <a:xfrm>
            <a:off x="3255290" y="6259679"/>
            <a:ext cx="8426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B</a:t>
            </a:r>
            <a:r>
              <a:rPr lang="en-US" altLang="ja-JP" sz="2400" baseline="-25000" dirty="0"/>
              <a:t>F</a:t>
            </a:r>
            <a:r>
              <a:rPr lang="en-US" altLang="ja-JP" sz="2400" dirty="0"/>
              <a:t>(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400" dirty="0"/>
              <a:t>: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2400" dirty="0"/>
              <a:t>)=</a:t>
            </a:r>
            <a:r>
              <a:rPr lang="ja-JP" altLang="en-US" sz="2400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400" b="0" i="0" dirty="0">
                <a:effectLst/>
                <a:latin typeface="Source Sans Pro" panose="020B0503030403020204" pitchFamily="34" charset="0"/>
              </a:rPr>
              <a:t>½</a:t>
            </a:r>
            <a:r>
              <a:rPr lang="en-US" altLang="ja-JP" sz="2400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400" dirty="0"/>
              <a:t> (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2400" dirty="0"/>
              <a:t>-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n-US" altLang="ja-JP" sz="2400" dirty="0"/>
              <a:t>)</a:t>
            </a:r>
            <a:r>
              <a:rPr lang="en-US" altLang="ja-JP" sz="2400" baseline="30000" dirty="0"/>
              <a:t>T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∇</a:t>
            </a:r>
            <a:r>
              <a:rPr lang="en-US" altLang="ja-JP" sz="2400" i="0" baseline="30000" dirty="0"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2400" i="0" dirty="0">
                <a:effectLst/>
                <a:latin typeface="Source Sans Pro" panose="020B0503030403020204" pitchFamily="34" charset="0"/>
              </a:rPr>
              <a:t>F(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i="0" dirty="0">
                <a:effectLst/>
                <a:latin typeface="Source Sans Pro" panose="020B0503030403020204" pitchFamily="34" charset="0"/>
              </a:rPr>
              <a:t>)</a:t>
            </a:r>
            <a:r>
              <a:rPr lang="en-US" altLang="ja-JP" sz="2400" dirty="0"/>
              <a:t> (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2400" dirty="0"/>
              <a:t>-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n-US" altLang="ja-JP" sz="2400" dirty="0"/>
              <a:t>)</a:t>
            </a:r>
            <a:r>
              <a:rPr lang="ja-JP" altLang="en-US" sz="2400" dirty="0"/>
              <a:t> ≥</a:t>
            </a:r>
            <a:r>
              <a:rPr lang="en-US" altLang="ja-JP" sz="2400" dirty="0"/>
              <a:t>0</a:t>
            </a:r>
            <a:r>
              <a:rPr lang="el-GR" altLang="ja-JP" sz="2400" dirty="0"/>
              <a:t> </a:t>
            </a:r>
            <a:r>
              <a:rPr lang="en-US" altLang="ja-JP" sz="2400" dirty="0"/>
              <a:t>, 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ja-JP" altLang="en-US" sz="2400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ja-JP" altLang="en-US" sz="2400" b="0" i="0" dirty="0">
                <a:effectLst/>
                <a:latin typeface="Source Sans Pro" panose="020B0503030403020204" pitchFamily="34" charset="0"/>
              </a:rPr>
              <a:t>∈</a:t>
            </a:r>
            <a:r>
              <a:rPr lang="en-US" altLang="ja-JP" sz="2400" i="0" dirty="0">
                <a:effectLst/>
                <a:latin typeface="Source Sans Pro" panose="020B0503030403020204" pitchFamily="34" charset="0"/>
              </a:rPr>
              <a:t> [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2400" i="0" dirty="0">
                <a:effectLst/>
                <a:latin typeface="Source Sans Pro" panose="020B0503030403020204" pitchFamily="34" charset="0"/>
              </a:rPr>
              <a:t>]</a:t>
            </a:r>
            <a:r>
              <a:rPr lang="en-US" altLang="ja-JP" sz="2400" dirty="0"/>
              <a:t> </a:t>
            </a:r>
            <a:endParaRPr lang="ja-JP" alt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2A958B-3E59-65EB-1BB1-D7CEA44271B6}"/>
              </a:ext>
            </a:extLst>
          </p:cNvPr>
          <p:cNvSpPr txBox="1"/>
          <p:nvPr/>
        </p:nvSpPr>
        <p:spPr>
          <a:xfrm>
            <a:off x="484103" y="3567462"/>
            <a:ext cx="1154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ja-JP" dirty="0"/>
              <a:t>Smooth measure of discrepancy, n</a:t>
            </a:r>
            <a:r>
              <a:rPr lang="en-US" altLang="ja-JP" sz="1800" dirty="0"/>
              <a:t>ot a metric distance</a:t>
            </a:r>
            <a:r>
              <a:rPr lang="en-US" altLang="ja-JP" dirty="0"/>
              <a:t> because it </a:t>
            </a:r>
            <a:r>
              <a:rPr lang="en-US" altLang="ja-JP" sz="1800" dirty="0"/>
              <a:t>violates the triangle inequality.</a:t>
            </a:r>
          </a:p>
          <a:p>
            <a:pPr marL="0" indent="0">
              <a:buNone/>
            </a:pPr>
            <a:r>
              <a:rPr lang="en-US" altLang="ja-JP" sz="1800" dirty="0"/>
              <a:t>BD is asymmetric when F is not quadratic function. </a:t>
            </a:r>
            <a:r>
              <a:rPr lang="en-US" altLang="ja-JP" dirty="0"/>
              <a:t> Hence the delimiter notation “:” instead of </a:t>
            </a:r>
            <a:r>
              <a:rPr lang="en-US" altLang="ja-JP" sz="1800" dirty="0"/>
              <a:t>B</a:t>
            </a:r>
            <a:r>
              <a:rPr lang="en-US" altLang="ja-JP" sz="1800" baseline="-25000" dirty="0"/>
              <a:t>F</a:t>
            </a:r>
            <a:r>
              <a:rPr lang="en-US" altLang="ja-JP" sz="1800" dirty="0"/>
              <a:t>(</a:t>
            </a:r>
            <a:r>
              <a:rPr lang="el-GR" altLang="ja-JP" sz="18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1800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sz="180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i="0" dirty="0">
                <a:effectLst/>
                <a:latin typeface="Source Sans Pro" panose="020B0503030403020204" pitchFamily="34" charset="0"/>
              </a:rPr>
              <a:t>,</a:t>
            </a:r>
            <a:r>
              <a:rPr lang="el-GR" altLang="ja-JP" sz="1800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1800" i="0" baseline="-25000" dirty="0"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18162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A5E03-767D-372F-47C6-234A7AB2A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55924"/>
            <a:ext cx="10515600" cy="1325563"/>
          </a:xfrm>
        </p:spPr>
        <p:txBody>
          <a:bodyPr/>
          <a:lstStyle/>
          <a:p>
            <a:r>
              <a:rPr kumimoji="1" lang="en-US" altLang="ja-JP" dirty="0">
                <a:solidFill>
                  <a:schemeClr val="accent4"/>
                </a:solidFill>
              </a:rPr>
              <a:t>Some taxonomy </a:t>
            </a:r>
            <a:r>
              <a:rPr lang="en-US" altLang="ja-JP" dirty="0">
                <a:solidFill>
                  <a:schemeClr val="accent4"/>
                </a:solidFill>
              </a:rPr>
              <a:t>of </a:t>
            </a:r>
            <a:r>
              <a:rPr kumimoji="1" lang="en-US" altLang="ja-JP" dirty="0">
                <a:solidFill>
                  <a:schemeClr val="accent4"/>
                </a:solidFill>
              </a:rPr>
              <a:t>BDs</a:t>
            </a:r>
            <a:endParaRPr kumimoji="1" lang="ja-JP" alt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E0631-CA4A-D8D7-9546-A9B66FBF2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381487"/>
            <a:ext cx="11573691" cy="4718866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  <a:latin typeface="+mj-lt"/>
              </a:rPr>
              <a:t>Full</a:t>
            </a:r>
            <a:r>
              <a:rPr kumimoji="1" lang="en-US" altLang="ja-JP" dirty="0">
                <a:latin typeface="+mj-lt"/>
              </a:rPr>
              <a:t> Bregman divergences when </a:t>
            </a:r>
            <a:r>
              <a:rPr lang="el-GR" altLang="ja-JP" dirty="0">
                <a:latin typeface="+mj-lt"/>
              </a:rPr>
              <a:t>Θ</a:t>
            </a:r>
            <a:r>
              <a:rPr lang="en-US" altLang="ja-JP" dirty="0">
                <a:latin typeface="+mj-lt"/>
              </a:rPr>
              <a:t>=</a:t>
            </a:r>
            <a:r>
              <a:rPr lang="el-GR" altLang="ja-JP" dirty="0"/>
              <a:t>Ω</a:t>
            </a:r>
            <a:r>
              <a:rPr lang="en-US" altLang="ja-JP" dirty="0">
                <a:latin typeface="+mj-lt"/>
              </a:rPr>
              <a:t> is effective domain of F</a:t>
            </a:r>
          </a:p>
          <a:p>
            <a:r>
              <a:rPr kumimoji="1" lang="en-US" altLang="ja-JP" b="1" dirty="0">
                <a:solidFill>
                  <a:srgbClr val="FF0000"/>
                </a:solidFill>
                <a:latin typeface="+mj-lt"/>
              </a:rPr>
              <a:t>Regular</a:t>
            </a:r>
            <a:r>
              <a:rPr kumimoji="1" lang="en-US" altLang="ja-JP" dirty="0">
                <a:latin typeface="+mj-lt"/>
              </a:rPr>
              <a:t> Bregman divergence when F is Legendre-type (dual BDs)</a:t>
            </a:r>
          </a:p>
          <a:p>
            <a:endParaRPr lang="en-US" altLang="ja-JP" dirty="0">
              <a:latin typeface="+mj-lt"/>
            </a:endParaRPr>
          </a:p>
          <a:p>
            <a:r>
              <a:rPr lang="en-US" altLang="ja-JP" dirty="0" err="1">
                <a:latin typeface="+mj-lt"/>
              </a:rPr>
              <a:t>Reparameterized</a:t>
            </a:r>
            <a:r>
              <a:rPr lang="en-US" altLang="ja-JP" dirty="0">
                <a:latin typeface="+mj-lt"/>
              </a:rPr>
              <a:t> BD B</a:t>
            </a:r>
            <a:r>
              <a:rPr lang="en-US" altLang="ja-JP" baseline="-25000" dirty="0">
                <a:latin typeface="+mj-lt"/>
              </a:rPr>
              <a:t>F</a:t>
            </a:r>
            <a:r>
              <a:rPr lang="en-US" altLang="ja-JP" dirty="0">
                <a:latin typeface="+mj-lt"/>
              </a:rPr>
              <a:t>(</a:t>
            </a:r>
            <a:r>
              <a:rPr lang="el-GR" altLang="ja-JP" dirty="0">
                <a:latin typeface="+mj-lt"/>
              </a:rPr>
              <a:t>θ</a:t>
            </a:r>
            <a:r>
              <a:rPr lang="en-US" altLang="ja-JP" dirty="0">
                <a:latin typeface="+mj-lt"/>
              </a:rPr>
              <a:t>(u</a:t>
            </a:r>
            <a:r>
              <a:rPr lang="en-US" altLang="ja-JP" baseline="-25000" dirty="0">
                <a:latin typeface="+mj-lt"/>
              </a:rPr>
              <a:t>1</a:t>
            </a:r>
            <a:r>
              <a:rPr lang="en-US" altLang="ja-JP" dirty="0">
                <a:latin typeface="+mj-lt"/>
              </a:rPr>
              <a:t>):</a:t>
            </a:r>
            <a:r>
              <a:rPr lang="el-GR" altLang="ja-JP" dirty="0">
                <a:latin typeface="+mj-lt"/>
              </a:rPr>
              <a:t> θ</a:t>
            </a:r>
            <a:r>
              <a:rPr lang="en-US" altLang="ja-JP" dirty="0">
                <a:latin typeface="+mj-lt"/>
              </a:rPr>
              <a:t>(u</a:t>
            </a:r>
            <a:r>
              <a:rPr lang="en-US" altLang="ja-JP" baseline="-25000" dirty="0">
                <a:latin typeface="+mj-lt"/>
              </a:rPr>
              <a:t>2</a:t>
            </a:r>
            <a:r>
              <a:rPr lang="en-US" altLang="ja-JP" dirty="0">
                <a:latin typeface="+mj-lt"/>
              </a:rPr>
              <a:t>)), for u in U:</a:t>
            </a:r>
          </a:p>
          <a:p>
            <a:pPr marL="0" indent="0">
              <a:buNone/>
            </a:pPr>
            <a:endParaRPr lang="en-US" altLang="ja-JP" dirty="0">
              <a:latin typeface="+mj-lt"/>
            </a:endParaRPr>
          </a:p>
          <a:p>
            <a:pPr lvl="1">
              <a:buFontTx/>
              <a:buChar char="-"/>
            </a:pPr>
            <a:r>
              <a:rPr lang="en-US" altLang="ja-JP" sz="2800" b="1" dirty="0">
                <a:solidFill>
                  <a:srgbClr val="FF0000"/>
                </a:solidFill>
                <a:latin typeface="+mj-lt"/>
              </a:rPr>
              <a:t>Representational</a:t>
            </a:r>
            <a:r>
              <a:rPr lang="en-US" altLang="ja-JP" sz="2800" dirty="0">
                <a:latin typeface="+mj-lt"/>
              </a:rPr>
              <a:t> BD when dim(U)=dim(</a:t>
            </a:r>
            <a:r>
              <a:rPr lang="el-GR" altLang="ja-JP" sz="2800" dirty="0">
                <a:latin typeface="+mj-lt"/>
              </a:rPr>
              <a:t>Θ</a:t>
            </a:r>
            <a:r>
              <a:rPr lang="en-US" altLang="ja-JP" sz="2800" dirty="0">
                <a:latin typeface="+mj-lt"/>
              </a:rPr>
              <a:t>)</a:t>
            </a:r>
          </a:p>
          <a:p>
            <a:pPr lvl="1">
              <a:buFontTx/>
              <a:buChar char="-"/>
            </a:pPr>
            <a:r>
              <a:rPr kumimoji="1" lang="en-US" altLang="ja-JP" sz="2800" b="1" dirty="0" err="1">
                <a:solidFill>
                  <a:srgbClr val="FF0000"/>
                </a:solidFill>
                <a:latin typeface="+mj-lt"/>
              </a:rPr>
              <a:t>Subd</a:t>
            </a:r>
            <a:r>
              <a:rPr lang="en-US" altLang="ja-JP" sz="2800" b="1" dirty="0" err="1">
                <a:solidFill>
                  <a:srgbClr val="FF0000"/>
                </a:solidFill>
                <a:latin typeface="+mj-lt"/>
              </a:rPr>
              <a:t>imensional</a:t>
            </a:r>
            <a:r>
              <a:rPr lang="en-US" altLang="ja-JP" sz="2800" dirty="0">
                <a:latin typeface="+mj-lt"/>
              </a:rPr>
              <a:t> BD when dim(U)&lt;dim(</a:t>
            </a:r>
            <a:r>
              <a:rPr lang="el-GR" altLang="ja-JP" sz="2800" dirty="0">
                <a:latin typeface="+mj-lt"/>
              </a:rPr>
              <a:t>Θ</a:t>
            </a:r>
            <a:r>
              <a:rPr lang="en-US" altLang="ja-JP" sz="2800" dirty="0">
                <a:latin typeface="+mj-lt"/>
              </a:rPr>
              <a:t>) and U</a:t>
            </a:r>
            <a:r>
              <a:rPr lang="ja-JP" altLang="en-US" dirty="0"/>
              <a:t>⊂</a:t>
            </a:r>
            <a:r>
              <a:rPr lang="el-GR" altLang="ja-JP" dirty="0"/>
              <a:t>Ω</a:t>
            </a:r>
            <a:r>
              <a:rPr lang="en-US" altLang="ja-JP" sz="2800" dirty="0">
                <a:latin typeface="+mj-lt"/>
              </a:rPr>
              <a:t> is convex (not full)</a:t>
            </a:r>
          </a:p>
          <a:p>
            <a:pPr lvl="1">
              <a:buFontTx/>
              <a:buChar char="-"/>
            </a:pPr>
            <a:r>
              <a:rPr lang="en-US" altLang="ja-JP" sz="2800" b="1" dirty="0">
                <a:solidFill>
                  <a:srgbClr val="FF0000"/>
                </a:solidFill>
                <a:latin typeface="+mj-lt"/>
              </a:rPr>
              <a:t>Curved</a:t>
            </a:r>
            <a:r>
              <a:rPr lang="en-US" altLang="ja-JP" sz="2800" dirty="0">
                <a:latin typeface="+mj-lt"/>
              </a:rPr>
              <a:t> BD (=not BD) when dim(U)&lt;dim(</a:t>
            </a:r>
            <a:r>
              <a:rPr lang="el-GR" altLang="ja-JP" sz="2800" dirty="0">
                <a:latin typeface="+mj-lt"/>
              </a:rPr>
              <a:t>Θ</a:t>
            </a:r>
            <a:r>
              <a:rPr lang="en-US" altLang="ja-JP" sz="2800" dirty="0">
                <a:latin typeface="+mj-lt"/>
              </a:rPr>
              <a:t>) and non-convex U (not full). Analogy with curved exponential families</a:t>
            </a:r>
          </a:p>
          <a:p>
            <a:pPr lvl="1">
              <a:buFontTx/>
              <a:buChar char="-"/>
            </a:pPr>
            <a:endParaRPr lang="en-US" altLang="ja-JP" sz="2800" dirty="0">
              <a:latin typeface="+mj-lt"/>
            </a:endParaRPr>
          </a:p>
          <a:p>
            <a:pPr marL="457200" lvl="1" indent="0">
              <a:buNone/>
            </a:pPr>
            <a:r>
              <a:rPr lang="en-US" altLang="ja-JP" sz="2800" dirty="0">
                <a:latin typeface="+mj-lt"/>
              </a:rPr>
              <a:t>When not full BD, replace Interior(</a:t>
            </a:r>
            <a:r>
              <a:rPr lang="el-GR" altLang="ja-JP" dirty="0"/>
              <a:t>Θ</a:t>
            </a:r>
            <a:r>
              <a:rPr lang="en-US" altLang="ja-JP" dirty="0"/>
              <a:t>)</a:t>
            </a:r>
            <a:r>
              <a:rPr lang="en-US" altLang="ja-JP" sz="2800" dirty="0">
                <a:latin typeface="+mj-lt"/>
              </a:rPr>
              <a:t> by Relative Interior(</a:t>
            </a:r>
            <a:r>
              <a:rPr lang="el-GR" altLang="ja-JP" dirty="0"/>
              <a:t>Θ</a:t>
            </a:r>
            <a:r>
              <a:rPr lang="en-US" altLang="ja-JP" sz="2800" dirty="0">
                <a:latin typeface="+mj-lt"/>
              </a:rPr>
              <a:t>)</a:t>
            </a:r>
          </a:p>
          <a:p>
            <a:pPr lvl="1">
              <a:buFontTx/>
              <a:buChar char="-"/>
            </a:pPr>
            <a:endParaRPr lang="en-US" altLang="ja-JP" sz="2800" dirty="0">
              <a:latin typeface="+mj-lt"/>
            </a:endParaRPr>
          </a:p>
          <a:p>
            <a:pPr marL="457200" lvl="1" indent="0">
              <a:buNone/>
            </a:pPr>
            <a:endParaRPr kumimoji="1" lang="en-US" altLang="ja-JP" sz="2800" dirty="0">
              <a:latin typeface="+mj-lt"/>
            </a:endParaRPr>
          </a:p>
          <a:p>
            <a:endParaRPr lang="en-US" altLang="ja-JP" dirty="0">
              <a:latin typeface="+mj-lt"/>
            </a:endParaRPr>
          </a:p>
          <a:p>
            <a:endParaRPr kumimoji="1" lang="ja-JP" alt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07FC83-E32F-F259-7369-81E8518775C5}"/>
              </a:ext>
            </a:extLst>
          </p:cNvPr>
          <p:cNvSpPr txBox="1"/>
          <p:nvPr/>
        </p:nvSpPr>
        <p:spPr>
          <a:xfrm>
            <a:off x="6339842" y="6025252"/>
            <a:ext cx="907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 dirty="0">
                <a:latin typeface="+mj-lt"/>
              </a:rPr>
              <a:t>B</a:t>
            </a:r>
            <a:r>
              <a:rPr lang="en-US" altLang="ja-JP" sz="2000" b="1" baseline="-25000" dirty="0">
                <a:latin typeface="+mj-lt"/>
              </a:rPr>
              <a:t>F</a:t>
            </a:r>
            <a:r>
              <a:rPr lang="en-US" altLang="ja-JP" sz="2000" b="1" dirty="0">
                <a:latin typeface="+mj-lt"/>
              </a:rPr>
              <a:t>(</a:t>
            </a:r>
            <a:r>
              <a:rPr lang="el-GR" altLang="ja-JP" sz="2000" b="1" i="0" dirty="0">
                <a:effectLst/>
                <a:latin typeface="+mj-lt"/>
              </a:rPr>
              <a:t>θ</a:t>
            </a:r>
            <a:r>
              <a:rPr lang="en-US" altLang="ja-JP" sz="2000" b="1" i="0" baseline="-25000" dirty="0">
                <a:effectLst/>
                <a:latin typeface="+mj-lt"/>
              </a:rPr>
              <a:t>1</a:t>
            </a:r>
            <a:r>
              <a:rPr lang="el-GR" altLang="ja-JP" sz="2000" b="1" i="0" dirty="0">
                <a:effectLst/>
                <a:latin typeface="+mj-lt"/>
              </a:rPr>
              <a:t> </a:t>
            </a:r>
            <a:r>
              <a:rPr lang="en-US" altLang="ja-JP" sz="2000" b="1" dirty="0">
                <a:latin typeface="+mj-lt"/>
              </a:rPr>
              <a:t>:</a:t>
            </a:r>
            <a:r>
              <a:rPr lang="el-GR" altLang="ja-JP" sz="2000" b="1" i="0" dirty="0">
                <a:effectLst/>
                <a:latin typeface="+mj-lt"/>
              </a:rPr>
              <a:t> θ</a:t>
            </a:r>
            <a:r>
              <a:rPr lang="en-US" altLang="ja-JP" sz="2000" b="1" i="0" baseline="-25000" dirty="0">
                <a:effectLst/>
                <a:latin typeface="+mj-lt"/>
              </a:rPr>
              <a:t>2</a:t>
            </a:r>
            <a:r>
              <a:rPr lang="en-US" altLang="ja-JP" sz="2000" b="1" dirty="0">
                <a:latin typeface="+mj-lt"/>
              </a:rPr>
              <a:t>)=F(</a:t>
            </a:r>
            <a:r>
              <a:rPr lang="el-GR" altLang="ja-JP" sz="2000" b="1" i="0" dirty="0">
                <a:effectLst/>
                <a:latin typeface="+mj-lt"/>
              </a:rPr>
              <a:t>θ</a:t>
            </a:r>
            <a:r>
              <a:rPr lang="en-US" altLang="ja-JP" sz="2000" b="1" i="0" baseline="-25000" dirty="0">
                <a:effectLst/>
                <a:latin typeface="+mj-lt"/>
              </a:rPr>
              <a:t>1</a:t>
            </a:r>
            <a:r>
              <a:rPr lang="en-US" altLang="ja-JP" sz="2000" b="1" dirty="0">
                <a:latin typeface="+mj-lt"/>
              </a:rPr>
              <a:t>)-F(</a:t>
            </a:r>
            <a:r>
              <a:rPr lang="el-GR" altLang="ja-JP" sz="2000" b="1" i="0" dirty="0">
                <a:effectLst/>
                <a:latin typeface="+mj-lt"/>
              </a:rPr>
              <a:t>θ</a:t>
            </a:r>
            <a:r>
              <a:rPr lang="en-US" altLang="ja-JP" sz="2000" b="1" baseline="-25000" dirty="0">
                <a:latin typeface="+mj-lt"/>
              </a:rPr>
              <a:t>2</a:t>
            </a:r>
            <a:r>
              <a:rPr lang="en-US" altLang="ja-JP" sz="2000" b="1" dirty="0">
                <a:latin typeface="+mj-lt"/>
              </a:rPr>
              <a:t>)-&lt;</a:t>
            </a:r>
            <a:r>
              <a:rPr lang="el-GR" altLang="ja-JP" sz="2000" b="1" i="0" dirty="0">
                <a:effectLst/>
                <a:latin typeface="+mj-lt"/>
              </a:rPr>
              <a:t> θ</a:t>
            </a:r>
            <a:r>
              <a:rPr lang="en-US" altLang="ja-JP" sz="2000" b="1" i="0" baseline="-25000" dirty="0">
                <a:effectLst/>
                <a:latin typeface="+mj-lt"/>
              </a:rPr>
              <a:t>1</a:t>
            </a:r>
            <a:r>
              <a:rPr lang="el-GR" altLang="ja-JP" sz="2000" b="1" i="0" dirty="0">
                <a:effectLst/>
                <a:latin typeface="+mj-lt"/>
              </a:rPr>
              <a:t> </a:t>
            </a:r>
            <a:r>
              <a:rPr lang="en-US" altLang="ja-JP" sz="2000" b="1" i="0" dirty="0">
                <a:effectLst/>
                <a:latin typeface="+mj-lt"/>
              </a:rPr>
              <a:t>-</a:t>
            </a:r>
            <a:r>
              <a:rPr lang="el-GR" altLang="ja-JP" sz="2000" b="1" i="0" dirty="0">
                <a:effectLst/>
                <a:latin typeface="+mj-lt"/>
              </a:rPr>
              <a:t> θ</a:t>
            </a:r>
            <a:r>
              <a:rPr lang="en-US" altLang="ja-JP" sz="2000" b="1" i="0" baseline="-25000" dirty="0">
                <a:effectLst/>
                <a:latin typeface="+mj-lt"/>
              </a:rPr>
              <a:t>2 ,</a:t>
            </a:r>
            <a:r>
              <a:rPr lang="el-GR" altLang="ja-JP" sz="2000" b="1" i="0" dirty="0">
                <a:effectLst/>
                <a:latin typeface="+mj-lt"/>
              </a:rPr>
              <a:t> ∇</a:t>
            </a:r>
            <a:r>
              <a:rPr lang="en-US" altLang="ja-JP" sz="2000" b="1" i="0" dirty="0">
                <a:effectLst/>
                <a:latin typeface="+mj-lt"/>
              </a:rPr>
              <a:t>F(</a:t>
            </a:r>
            <a:r>
              <a:rPr lang="el-GR" altLang="ja-JP" sz="2000" b="1" i="0" dirty="0">
                <a:effectLst/>
                <a:latin typeface="+mj-lt"/>
              </a:rPr>
              <a:t>θ</a:t>
            </a:r>
            <a:r>
              <a:rPr lang="en-US" altLang="ja-JP" sz="2000" b="1" i="0" baseline="-25000" dirty="0">
                <a:effectLst/>
                <a:latin typeface="+mj-lt"/>
              </a:rPr>
              <a:t>2</a:t>
            </a:r>
            <a:r>
              <a:rPr lang="en-US" altLang="ja-JP" sz="2000" b="1" i="0" dirty="0">
                <a:effectLst/>
                <a:latin typeface="+mj-lt"/>
              </a:rPr>
              <a:t>)</a:t>
            </a:r>
            <a:r>
              <a:rPr lang="en-US" altLang="ja-JP" sz="2000" b="1" i="0" baseline="-25000" dirty="0">
                <a:effectLst/>
                <a:latin typeface="+mj-lt"/>
              </a:rPr>
              <a:t> </a:t>
            </a:r>
            <a:r>
              <a:rPr lang="en-US" altLang="ja-JP" sz="2000" b="1" dirty="0">
                <a:latin typeface="+mj-lt"/>
              </a:rPr>
              <a:t>&gt;</a:t>
            </a:r>
            <a:endParaRPr lang="ja-JP" altLang="en-US" sz="20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7D40C-9C88-D8D0-5605-1603D2608F51}"/>
              </a:ext>
            </a:extLst>
          </p:cNvPr>
          <p:cNvSpPr txBox="1"/>
          <p:nvPr/>
        </p:nvSpPr>
        <p:spPr>
          <a:xfrm>
            <a:off x="2555968" y="5963697"/>
            <a:ext cx="3540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+mj-lt"/>
              </a:rPr>
              <a:t>B</a:t>
            </a:r>
            <a:r>
              <a:rPr lang="en-US" altLang="ja-JP" sz="2400" baseline="-25000" dirty="0">
                <a:latin typeface="+mj-lt"/>
              </a:rPr>
              <a:t>F</a:t>
            </a:r>
            <a:r>
              <a:rPr lang="en-US" altLang="ja-JP" sz="2400" dirty="0">
                <a:latin typeface="+mj-lt"/>
              </a:rPr>
              <a:t>:</a:t>
            </a:r>
            <a:r>
              <a:rPr lang="el-GR" altLang="ja-JP" sz="2400" b="0" i="0" dirty="0">
                <a:effectLst/>
                <a:latin typeface="+mj-lt"/>
              </a:rPr>
              <a:t> Θ</a:t>
            </a:r>
            <a:r>
              <a:rPr lang="ja-JP" altLang="en-US" sz="2400" b="0" i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altLang="ja-JP" sz="2400" dirty="0">
                <a:latin typeface="+mj-lt"/>
              </a:rPr>
              <a:t>x </a:t>
            </a:r>
            <a:r>
              <a:rPr lang="en-US" altLang="ja-JP" sz="2400" dirty="0" err="1">
                <a:latin typeface="+mj-lt"/>
              </a:rPr>
              <a:t>RelInt</a:t>
            </a:r>
            <a:r>
              <a:rPr lang="en-US" altLang="ja-JP" sz="2400" dirty="0">
                <a:latin typeface="+mj-lt"/>
              </a:rPr>
              <a:t>(</a:t>
            </a:r>
            <a:r>
              <a:rPr lang="el-GR" altLang="ja-JP" sz="2400" b="0" i="0" dirty="0">
                <a:effectLst/>
                <a:latin typeface="+mj-lt"/>
              </a:rPr>
              <a:t>Θ</a:t>
            </a:r>
            <a:r>
              <a:rPr lang="en-US" altLang="ja-JP" sz="2400" dirty="0">
                <a:latin typeface="+mj-lt"/>
              </a:rPr>
              <a:t>)</a:t>
            </a:r>
            <a:r>
              <a:rPr lang="ja-JP" altLang="en-US" sz="2400" b="0" i="0" dirty="0">
                <a:solidFill>
                  <a:srgbClr val="404040"/>
                </a:solidFill>
                <a:effectLst/>
                <a:latin typeface="+mj-lt"/>
              </a:rPr>
              <a:t> →</a:t>
            </a:r>
            <a:r>
              <a:rPr lang="en-US" altLang="ja-JP" sz="2400" b="0" i="0" dirty="0">
                <a:solidFill>
                  <a:srgbClr val="373637"/>
                </a:solidFill>
                <a:effectLst/>
                <a:latin typeface="+mj-lt"/>
              </a:rPr>
              <a:t>ℝ</a:t>
            </a:r>
            <a:r>
              <a:rPr lang="ja-JP" altLang="en-US" sz="2400" b="0" i="0" baseline="-25000" dirty="0">
                <a:effectLst/>
                <a:latin typeface="+mj-lt"/>
              </a:rPr>
              <a:t>≥</a:t>
            </a:r>
            <a:r>
              <a:rPr lang="en-US" altLang="ja-JP" sz="2400" b="0" i="0" baseline="-25000" dirty="0">
                <a:effectLst/>
                <a:latin typeface="+mj-lt"/>
              </a:rPr>
              <a:t>0</a:t>
            </a:r>
            <a:endParaRPr lang="ja-JP" altLang="en-US" sz="24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7689AD-0DA1-E172-BDE7-E891A0713EB9}"/>
              </a:ext>
            </a:extLst>
          </p:cNvPr>
          <p:cNvSpPr txBox="1"/>
          <p:nvPr/>
        </p:nvSpPr>
        <p:spPr>
          <a:xfrm>
            <a:off x="237308" y="5963698"/>
            <a:ext cx="20748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+mj-lt"/>
              </a:rPr>
              <a:t>(</a:t>
            </a:r>
            <a:r>
              <a:rPr lang="el-GR" altLang="ja-JP" sz="2400" dirty="0"/>
              <a:t>Θ</a:t>
            </a:r>
            <a:r>
              <a:rPr lang="en-US" altLang="ja-JP" sz="2400" dirty="0"/>
              <a:t>,F</a:t>
            </a:r>
            <a:r>
              <a:rPr lang="en-US" altLang="ja-JP" sz="2400" dirty="0">
                <a:latin typeface="+mj-lt"/>
              </a:rPr>
              <a:t>) BD B</a:t>
            </a:r>
            <a:r>
              <a:rPr lang="en-US" altLang="ja-JP" sz="2400" baseline="-25000" dirty="0">
                <a:latin typeface="+mj-lt"/>
              </a:rPr>
              <a:t>F</a:t>
            </a:r>
            <a:endParaRPr lang="ja-JP" alt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3328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E06B3-96BD-0723-01D1-293D02CFF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81" y="-147115"/>
            <a:ext cx="11780196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chemeClr val="accent5"/>
                </a:solidFill>
              </a:rPr>
              <a:t>Representational Bregman divergences (2009)</a:t>
            </a:r>
            <a:endParaRPr kumimoji="1" lang="ja-JP" altLang="en-US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EA706-7182-2397-BAB5-C44C8FFB7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951880"/>
            <a:ext cx="11908277" cy="5504454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In fact, we </a:t>
            </a:r>
            <a:r>
              <a:rPr lang="en-US" altLang="ja-JP" dirty="0"/>
              <a:t>u</a:t>
            </a:r>
            <a:r>
              <a:rPr kumimoji="1" lang="en-US" altLang="ja-JP" dirty="0"/>
              <a:t>sed a </a:t>
            </a:r>
            <a:r>
              <a:rPr kumimoji="1" lang="en-US" altLang="ja-JP" b="1" dirty="0">
                <a:solidFill>
                  <a:srgbClr val="FF0000"/>
                </a:solidFill>
              </a:rPr>
              <a:t>representation function </a:t>
            </a:r>
            <a:r>
              <a:rPr kumimoji="1" lang="en-US" altLang="ja-JP" dirty="0"/>
              <a:t>R</a:t>
            </a:r>
            <a:r>
              <a:rPr lang="en-US" altLang="ja-JP" dirty="0"/>
              <a:t>   (e.g., </a:t>
            </a:r>
            <a:r>
              <a:rPr lang="el-GR" altLang="ja-JP" b="1" dirty="0">
                <a:latin typeface="Source Sans Pro" panose="020B0503030403020204" pitchFamily="34" charset="0"/>
              </a:rPr>
              <a:t>θ</a:t>
            </a:r>
            <a:r>
              <a:rPr lang="en-US" altLang="ja-JP" dirty="0"/>
              <a:t>(</a:t>
            </a:r>
            <a:r>
              <a:rPr lang="el-GR" altLang="ja-JP" dirty="0">
                <a:latin typeface="Google Sans"/>
              </a:rPr>
              <a:t>λ </a:t>
            </a:r>
            <a:r>
              <a:rPr lang="en-US" altLang="ja-JP" dirty="0"/>
              <a:t>)) for </a:t>
            </a:r>
          </a:p>
          <a:p>
            <a:pPr marL="0" indent="0">
              <a:buNone/>
            </a:pPr>
            <a:r>
              <a:rPr lang="en-US" altLang="ja-JP" dirty="0"/>
              <a:t>Calculating the KLD between two multivariate normal distributions:</a:t>
            </a:r>
          </a:p>
          <a:p>
            <a:pPr marL="0" indent="0">
              <a:buNone/>
            </a:pPr>
            <a:r>
              <a:rPr lang="en-US" altLang="ja-JP" sz="2800" dirty="0"/>
              <a:t>B</a:t>
            </a:r>
            <a:r>
              <a:rPr lang="en-US" altLang="ja-JP" sz="2800" baseline="-25000" dirty="0"/>
              <a:t>F,R</a:t>
            </a:r>
            <a:r>
              <a:rPr lang="en-US" altLang="ja-JP" sz="2800" dirty="0"/>
              <a:t>(</a:t>
            </a:r>
            <a:r>
              <a:rPr lang="el-GR" altLang="ja-JP" i="0" dirty="0">
                <a:effectLst/>
                <a:latin typeface="Google Sans"/>
              </a:rPr>
              <a:t>λ </a:t>
            </a:r>
            <a:r>
              <a:rPr lang="en-US" altLang="ja-JP" sz="2800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sz="280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800" dirty="0"/>
              <a:t>:</a:t>
            </a:r>
            <a:r>
              <a:rPr lang="el-GR" altLang="ja-JP" sz="2800" i="0" dirty="0">
                <a:effectLst/>
                <a:latin typeface="Source Sans Pro" panose="020B0503030403020204" pitchFamily="34" charset="0"/>
              </a:rPr>
              <a:t> </a:t>
            </a:r>
            <a:r>
              <a:rPr lang="el-GR" altLang="ja-JP" i="0" dirty="0">
                <a:effectLst/>
                <a:latin typeface="Google Sans"/>
              </a:rPr>
              <a:t>λ </a:t>
            </a:r>
            <a:r>
              <a:rPr lang="en-US" altLang="ja-JP" sz="2800" i="0" baseline="-25000" dirty="0"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2800" dirty="0"/>
              <a:t>):= B</a:t>
            </a:r>
            <a:r>
              <a:rPr lang="en-US" altLang="ja-JP" sz="2800" baseline="-25000" dirty="0"/>
              <a:t>F</a:t>
            </a:r>
            <a:r>
              <a:rPr lang="en-US" altLang="ja-JP" sz="2800" dirty="0"/>
              <a:t>(R(</a:t>
            </a:r>
            <a:r>
              <a:rPr lang="el-GR" altLang="ja-JP" i="0" dirty="0">
                <a:effectLst/>
                <a:latin typeface="Google Sans"/>
              </a:rPr>
              <a:t>λ </a:t>
            </a:r>
            <a:r>
              <a:rPr lang="en-US" altLang="ja-JP" sz="2800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sz="280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800" dirty="0"/>
              <a:t>):R(</a:t>
            </a:r>
            <a:r>
              <a:rPr lang="el-GR" altLang="ja-JP" i="0" dirty="0">
                <a:effectLst/>
                <a:latin typeface="Google Sans"/>
              </a:rPr>
              <a:t>λ </a:t>
            </a:r>
            <a:r>
              <a:rPr lang="en-US" altLang="ja-JP" sz="2800" i="0" baseline="-25000" dirty="0"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2800" dirty="0"/>
              <a:t>))</a:t>
            </a:r>
          </a:p>
          <a:p>
            <a:pPr marL="0" indent="0">
              <a:buNone/>
            </a:pPr>
            <a:r>
              <a:rPr lang="en-US" altLang="ja-JP" sz="2800" dirty="0"/>
              <a:t>                   =  F(R(</a:t>
            </a:r>
            <a:r>
              <a:rPr lang="el-GR" altLang="ja-JP" i="0" dirty="0">
                <a:effectLst/>
                <a:latin typeface="Google Sans"/>
              </a:rPr>
              <a:t>λ </a:t>
            </a:r>
            <a:r>
              <a:rPr lang="en-US" altLang="ja-JP" sz="2800" i="0" baseline="-25000" dirty="0">
                <a:effectLst/>
              </a:rPr>
              <a:t>1</a:t>
            </a:r>
            <a:r>
              <a:rPr lang="en-US" altLang="ja-JP" sz="2800" dirty="0"/>
              <a:t>))-F(R(</a:t>
            </a:r>
            <a:r>
              <a:rPr lang="el-GR" altLang="ja-JP" i="0" dirty="0">
                <a:effectLst/>
                <a:latin typeface="Google Sans"/>
              </a:rPr>
              <a:t>λ </a:t>
            </a:r>
            <a:r>
              <a:rPr lang="en-US" altLang="ja-JP" sz="2800" baseline="-25000" dirty="0"/>
              <a:t>2</a:t>
            </a:r>
            <a:r>
              <a:rPr lang="en-US" altLang="ja-JP" sz="2800" dirty="0"/>
              <a:t>))-&lt;</a:t>
            </a:r>
            <a:r>
              <a:rPr lang="el-GR" altLang="ja-JP" sz="2800" i="0" dirty="0">
                <a:effectLst/>
              </a:rPr>
              <a:t> </a:t>
            </a:r>
            <a:r>
              <a:rPr lang="en-US" altLang="ja-JP" dirty="0"/>
              <a:t>R</a:t>
            </a:r>
            <a:r>
              <a:rPr lang="en-US" altLang="ja-JP" sz="2800" i="0" dirty="0">
                <a:effectLst/>
              </a:rPr>
              <a:t>(</a:t>
            </a:r>
            <a:r>
              <a:rPr lang="el-GR" altLang="ja-JP" i="0" dirty="0">
                <a:effectLst/>
                <a:latin typeface="Google Sans"/>
              </a:rPr>
              <a:t>λ </a:t>
            </a:r>
            <a:r>
              <a:rPr lang="en-US" altLang="ja-JP" sz="2800" i="0" baseline="-25000" dirty="0">
                <a:effectLst/>
              </a:rPr>
              <a:t>1</a:t>
            </a:r>
            <a:r>
              <a:rPr lang="en-US" altLang="ja-JP" sz="2800" dirty="0"/>
              <a:t>)</a:t>
            </a:r>
            <a:r>
              <a:rPr lang="en-US" altLang="ja-JP" sz="2800" i="0" dirty="0">
                <a:effectLst/>
              </a:rPr>
              <a:t>–R(</a:t>
            </a:r>
            <a:r>
              <a:rPr lang="el-GR" altLang="ja-JP" i="0" dirty="0">
                <a:effectLst/>
                <a:latin typeface="Google Sans"/>
              </a:rPr>
              <a:t>λ </a:t>
            </a:r>
            <a:r>
              <a:rPr lang="en-US" altLang="ja-JP" sz="2800" i="0" baseline="-25000" dirty="0">
                <a:effectLst/>
              </a:rPr>
              <a:t>2 </a:t>
            </a:r>
            <a:r>
              <a:rPr lang="el-GR" altLang="ja-JP" sz="2800" i="0" dirty="0">
                <a:effectLst/>
              </a:rPr>
              <a:t> </a:t>
            </a:r>
            <a:r>
              <a:rPr lang="en-US" altLang="ja-JP" sz="2800" dirty="0"/>
              <a:t>)</a:t>
            </a:r>
            <a:r>
              <a:rPr lang="en-US" altLang="ja-JP" sz="2800" i="0" dirty="0">
                <a:effectLst/>
              </a:rPr>
              <a:t>,</a:t>
            </a:r>
            <a:r>
              <a:rPr lang="el-GR" altLang="ja-JP" sz="2800" i="0" dirty="0">
                <a:effectLst/>
              </a:rPr>
              <a:t>∇</a:t>
            </a:r>
            <a:r>
              <a:rPr lang="en-US" altLang="ja-JP" sz="2800" i="0" dirty="0">
                <a:effectLst/>
              </a:rPr>
              <a:t>F(R(</a:t>
            </a:r>
            <a:r>
              <a:rPr lang="el-GR" altLang="ja-JP" i="0" dirty="0">
                <a:effectLst/>
                <a:latin typeface="Google Sans"/>
              </a:rPr>
              <a:t>λ </a:t>
            </a:r>
            <a:r>
              <a:rPr lang="en-US" altLang="ja-JP" sz="2800" i="0" baseline="-25000" dirty="0">
                <a:effectLst/>
              </a:rPr>
              <a:t>2</a:t>
            </a:r>
            <a:r>
              <a:rPr lang="en-US" altLang="ja-JP" sz="2800" i="0" dirty="0">
                <a:effectLst/>
              </a:rPr>
              <a:t>)</a:t>
            </a:r>
            <a:r>
              <a:rPr lang="en-US" altLang="ja-JP" sz="2800" dirty="0"/>
              <a:t> )</a:t>
            </a:r>
            <a:r>
              <a:rPr lang="en-US" altLang="ja-JP" sz="2800" i="0" baseline="-25000" dirty="0">
                <a:effectLst/>
              </a:rPr>
              <a:t> </a:t>
            </a:r>
            <a:r>
              <a:rPr lang="en-US" altLang="ja-JP" sz="2800" dirty="0"/>
              <a:t>&gt;</a:t>
            </a:r>
          </a:p>
          <a:p>
            <a:pPr marL="0" indent="0">
              <a:buNone/>
            </a:pPr>
            <a:r>
              <a:rPr lang="en-US" altLang="ja-JP" sz="2400" dirty="0"/>
              <a:t>         Note that F</a:t>
            </a:r>
            <a:r>
              <a:rPr lang="ja-JP" altLang="en-US" sz="2400" i="0" dirty="0">
                <a:solidFill>
                  <a:srgbClr val="202122"/>
                </a:solidFill>
                <a:effectLst/>
              </a:rPr>
              <a:t>∘</a:t>
            </a:r>
            <a:r>
              <a:rPr lang="en-US" altLang="ja-JP" sz="2400" dirty="0">
                <a:solidFill>
                  <a:srgbClr val="202122"/>
                </a:solidFill>
              </a:rPr>
              <a:t>R</a:t>
            </a:r>
            <a:r>
              <a:rPr lang="en-US" altLang="ja-JP" sz="2400" i="0" dirty="0">
                <a:solidFill>
                  <a:srgbClr val="202122"/>
                </a:solidFill>
                <a:effectLst/>
              </a:rPr>
              <a:t> </a:t>
            </a:r>
            <a:r>
              <a:rPr lang="en-US" altLang="ja-JP" sz="2400" i="1" dirty="0">
                <a:solidFill>
                  <a:srgbClr val="202122"/>
                </a:solidFill>
                <a:effectLst/>
              </a:rPr>
              <a:t>may not be a Bregman generator</a:t>
            </a:r>
            <a:r>
              <a:rPr lang="en-US" altLang="ja-JP" sz="2400" i="0" dirty="0">
                <a:solidFill>
                  <a:srgbClr val="202122"/>
                </a:solidFill>
                <a:effectLst/>
              </a:rPr>
              <a:t>, i.e., not be strictly convex.</a:t>
            </a:r>
          </a:p>
          <a:p>
            <a:pPr marL="0" indent="0">
              <a:buNone/>
            </a:pPr>
            <a:endParaRPr lang="en-US" altLang="ja-JP" sz="2400" dirty="0">
              <a:solidFill>
                <a:srgbClr val="202122"/>
              </a:solidFill>
            </a:endParaRPr>
          </a:p>
          <a:p>
            <a:pPr marL="0" indent="0">
              <a:buNone/>
            </a:pPr>
            <a:r>
              <a:rPr lang="en-US" altLang="ja-JP" sz="2400" i="0" dirty="0">
                <a:solidFill>
                  <a:srgbClr val="202122"/>
                </a:solidFill>
                <a:effectLst/>
              </a:rPr>
              <a:t>KLD between two densities of a </a:t>
            </a:r>
            <a:r>
              <a:rPr lang="en-US" altLang="ja-JP" sz="2400" b="1" i="0" dirty="0">
                <a:solidFill>
                  <a:srgbClr val="FF0000"/>
                </a:solidFill>
                <a:effectLst/>
              </a:rPr>
              <a:t>generic exponential family with natural parameter from representation function</a:t>
            </a:r>
          </a:p>
          <a:p>
            <a:pPr marL="0" indent="0">
              <a:buNone/>
            </a:pPr>
            <a:r>
              <a:rPr lang="en-US" altLang="ja-JP" sz="2400" b="1" i="0" dirty="0">
                <a:solidFill>
                  <a:srgbClr val="202122"/>
                </a:solidFill>
                <a:effectLst/>
              </a:rPr>
              <a:t> </a:t>
            </a:r>
          </a:p>
          <a:p>
            <a:pPr marL="0" indent="0">
              <a:buNone/>
            </a:pPr>
            <a:r>
              <a:rPr lang="el-GR" altLang="ja-JP" sz="2400" b="1" i="0" dirty="0">
                <a:effectLst/>
              </a:rPr>
              <a:t>θ</a:t>
            </a:r>
            <a:r>
              <a:rPr lang="en-US" altLang="ja-JP" sz="2400" b="1" i="0" dirty="0">
                <a:effectLst/>
              </a:rPr>
              <a:t>(</a:t>
            </a:r>
            <a:r>
              <a:rPr lang="el-GR" altLang="ja-JP" sz="2400" b="1" i="0" dirty="0">
                <a:effectLst/>
                <a:latin typeface="Google Sans"/>
              </a:rPr>
              <a:t>λ </a:t>
            </a:r>
            <a:r>
              <a:rPr lang="en-US" altLang="ja-JP" sz="2400" b="1" i="0" dirty="0">
                <a:effectLst/>
                <a:latin typeface="Source Sans Pro" panose="020B0503030403020204" pitchFamily="34" charset="0"/>
              </a:rPr>
              <a:t>): </a:t>
            </a:r>
            <a:r>
              <a:rPr lang="en-US" altLang="ja-JP" sz="2400" b="1" dirty="0"/>
              <a:t>natural parameter corresponding to </a:t>
            </a:r>
            <a:r>
              <a:rPr lang="el-GR" altLang="ja-JP" sz="2400" b="1" i="0" dirty="0">
                <a:effectLst/>
                <a:latin typeface="Google Sans"/>
              </a:rPr>
              <a:t>λ</a:t>
            </a:r>
            <a:r>
              <a:rPr lang="en-US" altLang="ja-JP" sz="2400" b="1" i="0" dirty="0">
                <a:effectLst/>
                <a:latin typeface="Google Sans"/>
              </a:rPr>
              <a:t>,  representation function R(.)=</a:t>
            </a:r>
            <a:r>
              <a:rPr lang="el-GR" altLang="ja-JP" sz="2400" b="1" i="0" dirty="0">
                <a:effectLst/>
              </a:rPr>
              <a:t>θ</a:t>
            </a:r>
            <a:r>
              <a:rPr lang="en-US" altLang="ja-JP" sz="2400" b="1" i="0" dirty="0">
                <a:effectLst/>
              </a:rPr>
              <a:t>(</a:t>
            </a:r>
            <a:r>
              <a:rPr lang="en-US" altLang="ja-JP" sz="2400" b="1" dirty="0">
                <a:latin typeface="Google Sans"/>
              </a:rPr>
              <a:t>.</a:t>
            </a:r>
            <a:r>
              <a:rPr lang="el-GR" altLang="ja-JP" sz="2400" b="1" i="0" dirty="0">
                <a:effectLst/>
                <a:latin typeface="Google Sans"/>
              </a:rPr>
              <a:t> </a:t>
            </a:r>
            <a:r>
              <a:rPr lang="en-US" altLang="ja-JP" sz="2400" b="1" i="0" dirty="0">
                <a:effectLst/>
                <a:latin typeface="Source Sans Pro" panose="020B0503030403020204" pitchFamily="34" charset="0"/>
              </a:rPr>
              <a:t>) 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AEE0AC-E0A4-2BFE-22A9-1C3148A08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81" y="4576161"/>
            <a:ext cx="6094065" cy="6018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3A8B25-861B-457A-AA38-31D35E7822A8}"/>
              </a:ext>
            </a:extLst>
          </p:cNvPr>
          <p:cNvSpPr txBox="1"/>
          <p:nvPr/>
        </p:nvSpPr>
        <p:spPr>
          <a:xfrm>
            <a:off x="283722" y="5906120"/>
            <a:ext cx="118536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dirty="0">
                <a:highlight>
                  <a:srgbClr val="FFFF00"/>
                </a:highlight>
              </a:rPr>
              <a:t>D</a:t>
            </a:r>
            <a:r>
              <a:rPr lang="en-US" altLang="ja-JP" sz="2800" baseline="-25000" dirty="0">
                <a:highlight>
                  <a:srgbClr val="FFFF00"/>
                </a:highlight>
              </a:rPr>
              <a:t>KL</a:t>
            </a:r>
            <a:r>
              <a:rPr lang="en-US" altLang="ja-JP" sz="2800" dirty="0">
                <a:highlight>
                  <a:srgbClr val="FFFF00"/>
                </a:highlight>
              </a:rPr>
              <a:t>[p</a:t>
            </a:r>
            <a:r>
              <a:rPr lang="en-US" altLang="ja-JP" sz="2800" dirty="0">
                <a:highlight>
                  <a:srgbClr val="FFFF00"/>
                </a:highlight>
                <a:latin typeface="Source Sans Pro" panose="020B0503030403020204" pitchFamily="34" charset="0"/>
              </a:rPr>
              <a:t>(x|</a:t>
            </a:r>
            <a:r>
              <a:rPr lang="el-GR" altLang="ja-JP" sz="2800" i="0" dirty="0">
                <a:effectLst/>
                <a:highlight>
                  <a:srgbClr val="FFFF00"/>
                </a:highlight>
                <a:latin typeface="Google Sans"/>
              </a:rPr>
              <a:t> λ </a:t>
            </a:r>
            <a:r>
              <a:rPr lang="en-US" altLang="ja-JP" sz="2800" i="0" baseline="-25000" dirty="0"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1</a:t>
            </a:r>
            <a:r>
              <a:rPr lang="en-US" altLang="ja-JP" sz="2800" dirty="0">
                <a:highlight>
                  <a:srgbClr val="FFFF00"/>
                </a:highlight>
              </a:rPr>
              <a:t>)</a:t>
            </a:r>
            <a:r>
              <a:rPr lang="en-US" altLang="ja-JP" sz="2800" i="0" baseline="-25000" dirty="0"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 </a:t>
            </a:r>
            <a:r>
              <a:rPr lang="en-US" altLang="ja-JP" sz="2800" dirty="0">
                <a:highlight>
                  <a:srgbClr val="FFFF00"/>
                </a:highlight>
              </a:rPr>
              <a:t>: p</a:t>
            </a:r>
            <a:r>
              <a:rPr lang="en-US" altLang="ja-JP" sz="2800" dirty="0">
                <a:highlight>
                  <a:srgbClr val="FFFF00"/>
                </a:highlight>
                <a:latin typeface="Source Sans Pro" panose="020B0503030403020204" pitchFamily="34" charset="0"/>
              </a:rPr>
              <a:t>(x|</a:t>
            </a:r>
            <a:r>
              <a:rPr lang="el-GR" altLang="ja-JP" sz="2800" i="0" dirty="0">
                <a:effectLst/>
                <a:highlight>
                  <a:srgbClr val="FFFF00"/>
                </a:highlight>
                <a:latin typeface="Google Sans"/>
              </a:rPr>
              <a:t> λ </a:t>
            </a:r>
            <a:r>
              <a:rPr lang="en-US" altLang="ja-JP" sz="2800" baseline="-25000" dirty="0">
                <a:highlight>
                  <a:srgbClr val="FFFF00"/>
                </a:highlight>
                <a:latin typeface="Source Sans Pro" panose="020B0503030403020204" pitchFamily="34" charset="0"/>
              </a:rPr>
              <a:t>2</a:t>
            </a:r>
            <a:r>
              <a:rPr lang="en-US" altLang="ja-JP" sz="2800" dirty="0">
                <a:highlight>
                  <a:srgbClr val="FFFF00"/>
                </a:highlight>
              </a:rPr>
              <a:t>)</a:t>
            </a:r>
            <a:r>
              <a:rPr lang="en-US" altLang="ja-JP" sz="2800" i="0" baseline="-25000" dirty="0"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 </a:t>
            </a:r>
            <a:r>
              <a:rPr lang="en-US" altLang="ja-JP" sz="2800" dirty="0">
                <a:highlight>
                  <a:srgbClr val="FFFF00"/>
                </a:highlight>
              </a:rPr>
              <a:t>] = B</a:t>
            </a:r>
            <a:r>
              <a:rPr lang="en-US" altLang="ja-JP" sz="2800" baseline="-25000" dirty="0">
                <a:highlight>
                  <a:srgbClr val="FFFF00"/>
                </a:highlight>
              </a:rPr>
              <a:t>F,</a:t>
            </a:r>
            <a:r>
              <a:rPr lang="el-GR" altLang="ja-JP" sz="2800" dirty="0">
                <a:highlight>
                  <a:srgbClr val="FFFF00"/>
                </a:highlight>
              </a:rPr>
              <a:t> </a:t>
            </a:r>
            <a:r>
              <a:rPr lang="el-GR" altLang="ja-JP" sz="2800" baseline="-25000" dirty="0">
                <a:highlight>
                  <a:srgbClr val="FFFF00"/>
                </a:highlight>
              </a:rPr>
              <a:t>θ</a:t>
            </a:r>
            <a:r>
              <a:rPr lang="el-GR" altLang="ja-JP" sz="2800" dirty="0">
                <a:highlight>
                  <a:srgbClr val="FFFF00"/>
                </a:highlight>
              </a:rPr>
              <a:t> </a:t>
            </a:r>
            <a:r>
              <a:rPr lang="en-US" altLang="ja-JP" sz="2800" baseline="30000" dirty="0">
                <a:highlight>
                  <a:srgbClr val="FFFF00"/>
                </a:highlight>
              </a:rPr>
              <a:t>rev</a:t>
            </a:r>
            <a:r>
              <a:rPr lang="en-US" altLang="ja-JP" sz="2800" dirty="0">
                <a:highlight>
                  <a:srgbClr val="FFFF00"/>
                </a:highlight>
              </a:rPr>
              <a:t>(</a:t>
            </a:r>
            <a:r>
              <a:rPr lang="el-GR" altLang="ja-JP" sz="2800" i="0" dirty="0">
                <a:effectLst/>
                <a:highlight>
                  <a:srgbClr val="FFFF00"/>
                </a:highlight>
              </a:rPr>
              <a:t>θ </a:t>
            </a:r>
            <a:r>
              <a:rPr lang="en-US" altLang="ja-JP" sz="2800" i="0" dirty="0">
                <a:effectLst/>
                <a:highlight>
                  <a:srgbClr val="FFFF00"/>
                </a:highlight>
              </a:rPr>
              <a:t>(</a:t>
            </a:r>
            <a:r>
              <a:rPr lang="el-GR" altLang="ja-JP" sz="2800" i="0" dirty="0">
                <a:effectLst/>
                <a:highlight>
                  <a:srgbClr val="FFFF00"/>
                </a:highlight>
                <a:latin typeface="Google Sans"/>
              </a:rPr>
              <a:t>λ </a:t>
            </a:r>
            <a:r>
              <a:rPr lang="en-US" altLang="ja-JP" sz="2800" i="0" baseline="-25000" dirty="0"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1</a:t>
            </a:r>
            <a:r>
              <a:rPr lang="en-US" altLang="ja-JP" sz="2800" i="0" dirty="0"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)</a:t>
            </a:r>
            <a:r>
              <a:rPr lang="en-US" altLang="ja-JP" sz="2800" dirty="0">
                <a:highlight>
                  <a:srgbClr val="FFFF00"/>
                </a:highlight>
              </a:rPr>
              <a:t>:</a:t>
            </a:r>
            <a:r>
              <a:rPr lang="el-GR" altLang="ja-JP" sz="2800" i="0" dirty="0">
                <a:effectLst/>
                <a:highlight>
                  <a:srgbClr val="FFFF00"/>
                </a:highlight>
                <a:latin typeface="Google Sans"/>
              </a:rPr>
              <a:t> </a:t>
            </a:r>
            <a:r>
              <a:rPr lang="el-GR" altLang="ja-JP" sz="2800" i="0" dirty="0">
                <a:effectLst/>
                <a:highlight>
                  <a:srgbClr val="FFFF00"/>
                </a:highlight>
              </a:rPr>
              <a:t>θ </a:t>
            </a:r>
            <a:r>
              <a:rPr lang="en-US" altLang="ja-JP" sz="2800" i="0" dirty="0">
                <a:effectLst/>
                <a:highlight>
                  <a:srgbClr val="FFFF00"/>
                </a:highlight>
              </a:rPr>
              <a:t>(</a:t>
            </a:r>
            <a:r>
              <a:rPr lang="el-GR" altLang="ja-JP" sz="2800" i="0" dirty="0">
                <a:effectLst/>
                <a:highlight>
                  <a:srgbClr val="FFFF00"/>
                </a:highlight>
                <a:latin typeface="Google Sans"/>
              </a:rPr>
              <a:t>λ </a:t>
            </a:r>
            <a:r>
              <a:rPr lang="en-US" altLang="ja-JP" sz="2800" i="0" baseline="-25000" dirty="0"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2</a:t>
            </a:r>
            <a:r>
              <a:rPr lang="en-US" altLang="ja-JP" sz="2800" dirty="0">
                <a:highlight>
                  <a:srgbClr val="FFFF00"/>
                </a:highlight>
              </a:rPr>
              <a:t>))=B</a:t>
            </a:r>
            <a:r>
              <a:rPr lang="en-US" altLang="ja-JP" sz="2800" baseline="-25000" dirty="0">
                <a:highlight>
                  <a:srgbClr val="FFFF00"/>
                </a:highlight>
              </a:rPr>
              <a:t>F,</a:t>
            </a:r>
            <a:r>
              <a:rPr lang="el-GR" altLang="ja-JP" sz="2800" dirty="0">
                <a:highlight>
                  <a:srgbClr val="FFFF00"/>
                </a:highlight>
              </a:rPr>
              <a:t> </a:t>
            </a:r>
            <a:r>
              <a:rPr lang="el-GR" altLang="ja-JP" sz="2800" baseline="-25000" dirty="0">
                <a:highlight>
                  <a:srgbClr val="FFFF00"/>
                </a:highlight>
              </a:rPr>
              <a:t>θ</a:t>
            </a:r>
            <a:r>
              <a:rPr lang="en-US" altLang="ja-JP" sz="2800" dirty="0">
                <a:highlight>
                  <a:srgbClr val="FFFF00"/>
                </a:highlight>
              </a:rPr>
              <a:t>(</a:t>
            </a:r>
            <a:r>
              <a:rPr lang="el-GR" altLang="ja-JP" sz="2800" i="0" dirty="0">
                <a:effectLst/>
                <a:highlight>
                  <a:srgbClr val="FFFF00"/>
                </a:highlight>
              </a:rPr>
              <a:t>θ </a:t>
            </a:r>
            <a:r>
              <a:rPr lang="en-US" altLang="ja-JP" sz="2800" i="0" dirty="0">
                <a:effectLst/>
                <a:highlight>
                  <a:srgbClr val="FFFF00"/>
                </a:highlight>
              </a:rPr>
              <a:t>(</a:t>
            </a:r>
            <a:r>
              <a:rPr lang="el-GR" altLang="ja-JP" sz="2800" i="0" dirty="0">
                <a:effectLst/>
                <a:highlight>
                  <a:srgbClr val="FFFF00"/>
                </a:highlight>
                <a:latin typeface="Google Sans"/>
              </a:rPr>
              <a:t>λ </a:t>
            </a:r>
            <a:r>
              <a:rPr lang="en-US" altLang="ja-JP" sz="2800" baseline="-25000" dirty="0">
                <a:highlight>
                  <a:srgbClr val="FFFF00"/>
                </a:highlight>
                <a:latin typeface="Source Sans Pro" panose="020B0503030403020204" pitchFamily="34" charset="0"/>
              </a:rPr>
              <a:t>2</a:t>
            </a:r>
            <a:r>
              <a:rPr lang="en-US" altLang="ja-JP" sz="2800" i="0" dirty="0"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)</a:t>
            </a:r>
            <a:r>
              <a:rPr lang="en-US" altLang="ja-JP" sz="2800" dirty="0">
                <a:highlight>
                  <a:srgbClr val="FFFF00"/>
                </a:highlight>
              </a:rPr>
              <a:t>:</a:t>
            </a:r>
            <a:r>
              <a:rPr lang="el-GR" altLang="ja-JP" sz="2800" i="0" dirty="0">
                <a:effectLst/>
                <a:highlight>
                  <a:srgbClr val="FFFF00"/>
                </a:highlight>
                <a:latin typeface="Google Sans"/>
              </a:rPr>
              <a:t> </a:t>
            </a:r>
            <a:r>
              <a:rPr lang="el-GR" altLang="ja-JP" sz="2800" i="0" dirty="0">
                <a:effectLst/>
                <a:highlight>
                  <a:srgbClr val="FFFF00"/>
                </a:highlight>
              </a:rPr>
              <a:t>θ </a:t>
            </a:r>
            <a:r>
              <a:rPr lang="en-US" altLang="ja-JP" sz="2800" i="0" dirty="0">
                <a:effectLst/>
                <a:highlight>
                  <a:srgbClr val="FFFF00"/>
                </a:highlight>
              </a:rPr>
              <a:t>(</a:t>
            </a:r>
            <a:r>
              <a:rPr lang="el-GR" altLang="ja-JP" sz="2800" i="0" dirty="0">
                <a:effectLst/>
                <a:highlight>
                  <a:srgbClr val="FFFF00"/>
                </a:highlight>
                <a:latin typeface="Google Sans"/>
              </a:rPr>
              <a:t>λ </a:t>
            </a:r>
            <a:r>
              <a:rPr lang="en-US" altLang="ja-JP" sz="2800" baseline="-25000" dirty="0">
                <a:highlight>
                  <a:srgbClr val="FFFF00"/>
                </a:highlight>
                <a:latin typeface="Source Sans Pro" panose="020B0503030403020204" pitchFamily="34" charset="0"/>
              </a:rPr>
              <a:t>1</a:t>
            </a:r>
            <a:r>
              <a:rPr lang="en-US" altLang="ja-JP" sz="2800" dirty="0">
                <a:highlight>
                  <a:srgbClr val="FFFF00"/>
                </a:highlight>
              </a:rPr>
              <a:t>))  </a:t>
            </a:r>
            <a:endParaRPr lang="ja-JP" altLang="en-US" sz="2800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C9BFCB-ECF9-80C8-546E-D64DC43D87CC}"/>
              </a:ext>
            </a:extLst>
          </p:cNvPr>
          <p:cNvSpPr txBox="1"/>
          <p:nvPr/>
        </p:nvSpPr>
        <p:spPr>
          <a:xfrm>
            <a:off x="6237860" y="4735691"/>
            <a:ext cx="5743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i</a:t>
            </a:r>
            <a:r>
              <a:rPr kumimoji="1" lang="en-US" altLang="ja-JP" dirty="0"/>
              <a:t>nclude normal, Gamma/Beta, Wishart, Poisson, etc.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4217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76DF-281E-0F46-2B61-6081394B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1" y="-90785"/>
            <a:ext cx="12229761" cy="1325563"/>
          </a:xfrm>
        </p:spPr>
        <p:txBody>
          <a:bodyPr/>
          <a:lstStyle/>
          <a:p>
            <a:r>
              <a:rPr lang="en-US" altLang="ja-JP" sz="4400" b="1" dirty="0">
                <a:solidFill>
                  <a:schemeClr val="accent5"/>
                </a:solidFill>
              </a:rPr>
              <a:t>Extended</a:t>
            </a:r>
            <a:r>
              <a:rPr lang="el-GR" altLang="ja-JP" sz="4400" b="1" dirty="0">
                <a:solidFill>
                  <a:schemeClr val="accent5"/>
                </a:solidFill>
              </a:rPr>
              <a:t>α</a:t>
            </a:r>
            <a:r>
              <a:rPr lang="en-US" altLang="ja-JP" sz="4400" b="1" dirty="0">
                <a:solidFill>
                  <a:schemeClr val="accent5"/>
                </a:solidFill>
              </a:rPr>
              <a:t>-divergences are representational BDs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83E95-C5C8-5378-0662-C264AC0FCFFF}"/>
              </a:ext>
            </a:extLst>
          </p:cNvPr>
          <p:cNvSpPr txBox="1"/>
          <p:nvPr/>
        </p:nvSpPr>
        <p:spPr>
          <a:xfrm>
            <a:off x="448583" y="1103083"/>
            <a:ext cx="110306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l-GR" altLang="ja-JP" sz="2400" b="1" dirty="0">
                <a:solidFill>
                  <a:schemeClr val="accent4"/>
                </a:solidFill>
              </a:rPr>
              <a:t>α</a:t>
            </a:r>
            <a:r>
              <a:rPr lang="en-US" altLang="ja-JP" sz="2400" b="1" dirty="0">
                <a:solidFill>
                  <a:schemeClr val="accent4"/>
                </a:solidFill>
              </a:rPr>
              <a:t>-divergences extended to m-dim. positive measures (orthant cone) </a:t>
            </a:r>
          </a:p>
          <a:p>
            <a:pPr marL="0" indent="0">
              <a:buNone/>
            </a:pPr>
            <a:r>
              <a:rPr lang="en-US" altLang="ja-JP" sz="2400" dirty="0"/>
              <a:t>are </a:t>
            </a:r>
            <a:r>
              <a:rPr lang="en-US" altLang="ja-JP" sz="2400" b="1" dirty="0">
                <a:solidFill>
                  <a:srgbClr val="FF0000"/>
                </a:solidFill>
              </a:rPr>
              <a:t>representational Bregman divergences</a:t>
            </a:r>
            <a:r>
              <a:rPr lang="en-US" altLang="ja-JP" sz="2400" dirty="0"/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5300B4-D6BE-B0A0-E334-FF690BF48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201" y="1879501"/>
            <a:ext cx="8624099" cy="142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86D64-725A-332A-05DB-0F817A8A7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844" y="4498007"/>
            <a:ext cx="6276975" cy="8953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1ABC5D-CD6F-CDDA-1A80-CF42C484E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844" y="5313742"/>
            <a:ext cx="5534025" cy="58102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6E1FAFA-59AC-3339-9432-F41F067995F0}"/>
              </a:ext>
            </a:extLst>
          </p:cNvPr>
          <p:cNvGrpSpPr/>
          <p:nvPr/>
        </p:nvGrpSpPr>
        <p:grpSpPr>
          <a:xfrm>
            <a:off x="2224444" y="3597238"/>
            <a:ext cx="4903499" cy="669956"/>
            <a:chOff x="3585884" y="2574029"/>
            <a:chExt cx="4903499" cy="66995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CB39D81-69B2-519C-F1AA-348357C61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02617" y="2612894"/>
              <a:ext cx="4786766" cy="631091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67B1771-71C1-DC90-5D25-A21E6CB4784E}"/>
                </a:ext>
              </a:extLst>
            </p:cNvPr>
            <p:cNvSpPr/>
            <p:nvPr/>
          </p:nvSpPr>
          <p:spPr>
            <a:xfrm>
              <a:off x="3585884" y="2574029"/>
              <a:ext cx="4903499" cy="631091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B55109F-FDA6-2314-1A2C-1A3196EDDAAA}"/>
              </a:ext>
            </a:extLst>
          </p:cNvPr>
          <p:cNvSpPr txBox="1"/>
          <p:nvPr/>
        </p:nvSpPr>
        <p:spPr>
          <a:xfrm>
            <a:off x="259371" y="4607764"/>
            <a:ext cx="25330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Bregman generator:</a:t>
            </a:r>
            <a:endParaRPr kumimoji="1" lang="ja-JP" alt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93EF5-F1A2-EEE6-4A0F-E662C7203CE0}"/>
              </a:ext>
            </a:extLst>
          </p:cNvPr>
          <p:cNvSpPr txBox="1"/>
          <p:nvPr/>
        </p:nvSpPr>
        <p:spPr>
          <a:xfrm>
            <a:off x="259371" y="5393357"/>
            <a:ext cx="3177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Representation function: </a:t>
            </a:r>
            <a:endParaRPr kumimoji="1" lang="ja-JP" alt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23F46E-36B1-8F1C-1C3B-61245157A4A6}"/>
              </a:ext>
            </a:extLst>
          </p:cNvPr>
          <p:cNvSpPr txBox="1"/>
          <p:nvPr/>
        </p:nvSpPr>
        <p:spPr>
          <a:xfrm>
            <a:off x="3436844" y="5894767"/>
            <a:ext cx="68998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B</a:t>
            </a:r>
            <a:r>
              <a:rPr lang="en-US" altLang="ja-JP" sz="2400" baseline="-25000" dirty="0"/>
              <a:t>F</a:t>
            </a:r>
            <a:r>
              <a:rPr lang="en-US" altLang="ja-JP" sz="2400" dirty="0"/>
              <a:t>(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400" dirty="0"/>
              <a:t>: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2400" dirty="0"/>
              <a:t>)=F(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n-US" altLang="ja-JP" sz="2400" dirty="0"/>
              <a:t>)-F(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baseline="-25000" dirty="0">
                <a:latin typeface="Source Sans Pro" panose="020B0503030403020204" pitchFamily="34" charset="0"/>
              </a:rPr>
              <a:t>2</a:t>
            </a:r>
            <a:r>
              <a:rPr lang="en-US" altLang="ja-JP" sz="2400" dirty="0"/>
              <a:t>)-&lt;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400" i="0" dirty="0">
                <a:effectLst/>
                <a:latin typeface="Source Sans Pro" panose="020B0503030403020204" pitchFamily="34" charset="0"/>
              </a:rPr>
              <a:t>-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2 ,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 ∇</a:t>
            </a:r>
            <a:r>
              <a:rPr lang="en-US" altLang="ja-JP" sz="2400" i="0" dirty="0">
                <a:effectLst/>
                <a:latin typeface="Source Sans Pro" panose="020B0503030403020204" pitchFamily="34" charset="0"/>
              </a:rPr>
              <a:t>F(</a:t>
            </a:r>
            <a:r>
              <a:rPr lang="el-GR" altLang="ja-JP" sz="240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2400" i="0" dirty="0">
                <a:effectLst/>
                <a:latin typeface="Source Sans Pro" panose="020B0503030403020204" pitchFamily="34" charset="0"/>
              </a:rPr>
              <a:t>)</a:t>
            </a:r>
            <a:r>
              <a:rPr lang="en-US" altLang="ja-JP" sz="2400" i="0" baseline="-2500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400" dirty="0"/>
              <a:t>&gt;</a:t>
            </a:r>
            <a:endParaRPr lang="ja-JP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027AF-ED64-5C4F-657F-7D171BE666CA}"/>
              </a:ext>
            </a:extLst>
          </p:cNvPr>
          <p:cNvSpPr txBox="1"/>
          <p:nvPr/>
        </p:nvSpPr>
        <p:spPr>
          <a:xfrm>
            <a:off x="259371" y="5925544"/>
            <a:ext cx="26805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Bregman divergence:</a:t>
            </a:r>
            <a:endParaRPr kumimoji="1" lang="ja-JP" altLang="en-US" sz="2000" dirty="0"/>
          </a:p>
        </p:txBody>
      </p:sp>
      <p:sp>
        <p:nvSpPr>
          <p:cNvPr id="14" name="Arrow: Curved Right 13">
            <a:extLst>
              <a:ext uri="{FF2B5EF4-FFF2-40B4-BE49-F238E27FC236}">
                <a16:creationId xmlns:a16="http://schemas.microsoft.com/office/drawing/2014/main" id="{77A09F42-88F4-F463-D9C2-3CC9D0AE9678}"/>
              </a:ext>
            </a:extLst>
          </p:cNvPr>
          <p:cNvSpPr/>
          <p:nvPr/>
        </p:nvSpPr>
        <p:spPr>
          <a:xfrm>
            <a:off x="983226" y="2655919"/>
            <a:ext cx="1078975" cy="1420759"/>
          </a:xfrm>
          <a:prstGeom prst="curved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3AE1D2-DFE4-444D-C48B-0F91C6ACE7DB}"/>
              </a:ext>
            </a:extLst>
          </p:cNvPr>
          <p:cNvSpPr txBox="1"/>
          <p:nvPr/>
        </p:nvSpPr>
        <p:spPr>
          <a:xfrm>
            <a:off x="771021" y="6504151"/>
            <a:ext cx="12231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i="0" dirty="0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"The dual Voronoi diagrams with respect to representational Bregman divergences." IEEE ISVD </a:t>
            </a:r>
            <a:r>
              <a:rPr lang="en-US" altLang="ja-JP" b="1" i="1" dirty="0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2009  </a:t>
            </a:r>
            <a:endParaRPr lang="ja-JP" altLang="en-US" sz="1800" b="1" dirty="0">
              <a:solidFill>
                <a:schemeClr val="accent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4B4108-A71F-C4F8-9ECE-A421E29BD085}"/>
              </a:ext>
            </a:extLst>
          </p:cNvPr>
          <p:cNvSpPr txBox="1"/>
          <p:nvPr/>
        </p:nvSpPr>
        <p:spPr>
          <a:xfrm>
            <a:off x="9467800" y="5417713"/>
            <a:ext cx="46895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dirty="0"/>
              <a:t>And also</a:t>
            </a:r>
          </a:p>
          <a:p>
            <a:r>
              <a:rPr lang="el-GR" altLang="ja-JP" sz="2800" dirty="0"/>
              <a:t>β-</a:t>
            </a:r>
            <a:r>
              <a:rPr lang="en-US" altLang="ja-JP" sz="2800" dirty="0"/>
              <a:t>divergences!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36738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4A096-E758-0812-93E3-D4A0DBA54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ja-JP" dirty="0"/>
              <a:t>β</a:t>
            </a:r>
            <a:r>
              <a:rPr lang="en-US" altLang="ja-JP" b="1" dirty="0">
                <a:solidFill>
                  <a:schemeClr val="accent5"/>
                </a:solidFill>
              </a:rPr>
              <a:t>-divergences are representational BDs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67E9F-3F71-E389-D5A6-220181EB2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996D9-0A5E-E9D9-E569-04506DB74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67" y="1825625"/>
            <a:ext cx="11458303" cy="460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75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35A1-085A-915D-FE9B-520B349B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>
                <a:solidFill>
                  <a:schemeClr val="accent4"/>
                </a:solidFill>
              </a:rPr>
              <a:t>Subdimensional</a:t>
            </a:r>
            <a:r>
              <a:rPr kumimoji="1" lang="en-US" altLang="ja-JP" dirty="0">
                <a:solidFill>
                  <a:schemeClr val="accent4"/>
                </a:solidFill>
              </a:rPr>
              <a:t> Bregman divergences…</a:t>
            </a:r>
            <a:endParaRPr kumimoji="1" lang="ja-JP" altLang="en-US" dirty="0">
              <a:solidFill>
                <a:schemeClr val="accent4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269C12-A39C-63BA-7D33-68755F2FC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90688"/>
            <a:ext cx="11049000" cy="190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3D5D79-E97D-A443-C547-5EA7C0543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957" y="4054476"/>
            <a:ext cx="7067550" cy="866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96AA12-BB70-82EB-B989-80CE243D0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1722" y="5380039"/>
            <a:ext cx="730567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666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269A5-543E-7645-87E4-4E50FC83E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07" y="1825625"/>
            <a:ext cx="5124994" cy="4351338"/>
          </a:xfrm>
        </p:spPr>
        <p:txBody>
          <a:bodyPr/>
          <a:lstStyle/>
          <a:p>
            <a:r>
              <a:rPr kumimoji="1" lang="en-US" altLang="ja-JP" dirty="0"/>
              <a:t>Extended KLD+ is Bregman divergence with separable generator</a:t>
            </a:r>
          </a:p>
          <a:p>
            <a:endParaRPr lang="en-US" altLang="ja-JP" dirty="0"/>
          </a:p>
          <a:p>
            <a:r>
              <a:rPr kumimoji="1" lang="en-US" altLang="ja-JP" dirty="0"/>
              <a:t>KLD between normalized densities is sub-dimensional KLD+ restricted to standard simplex (affine U)</a:t>
            </a:r>
            <a:endParaRPr kumimoji="1"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EBDCB-DC3E-3C67-B1BD-A6D684030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05" y="1374020"/>
            <a:ext cx="7116849" cy="548397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F6D63FB-09C9-66E5-07CD-CCC700109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ja-JP" dirty="0" err="1">
                <a:solidFill>
                  <a:schemeClr val="accent4"/>
                </a:solidFill>
              </a:rPr>
              <a:t>Subdimensional</a:t>
            </a:r>
            <a:r>
              <a:rPr kumimoji="1" lang="en-US" altLang="ja-JP" dirty="0">
                <a:solidFill>
                  <a:schemeClr val="accent4"/>
                </a:solidFill>
              </a:rPr>
              <a:t> Bregman divergences…</a:t>
            </a:r>
            <a:endParaRPr kumimoji="1" lang="ja-JP" alt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538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E940F-F4EF-33A4-598F-311A0D227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03FA4-A105-48AD-A88A-0F65193B5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07" y="1825625"/>
            <a:ext cx="5124994" cy="4351338"/>
          </a:xfrm>
        </p:spPr>
        <p:txBody>
          <a:bodyPr/>
          <a:lstStyle/>
          <a:p>
            <a:r>
              <a:rPr kumimoji="1" lang="en-US" altLang="ja-JP" dirty="0"/>
              <a:t>Extended KLD+ is Bregman divergence with separable generator</a:t>
            </a:r>
          </a:p>
          <a:p>
            <a:endParaRPr lang="en-US" altLang="ja-JP" dirty="0"/>
          </a:p>
          <a:p>
            <a:r>
              <a:rPr kumimoji="1" lang="en-US" altLang="ja-JP" dirty="0"/>
              <a:t>KLD between normalized densities is sub-dimensional KLD+ restricted to standard simplex (affine U)</a:t>
            </a:r>
            <a:endParaRPr kumimoji="1"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3015E-5484-05B0-5DB2-99084FEB6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05" y="1374020"/>
            <a:ext cx="7116849" cy="548397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E11DF42-8A4B-4C91-A7C1-91D1526D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ja-JP" dirty="0" err="1">
                <a:solidFill>
                  <a:schemeClr val="accent4"/>
                </a:solidFill>
              </a:rPr>
              <a:t>Subdimensional</a:t>
            </a:r>
            <a:r>
              <a:rPr kumimoji="1" lang="en-US" altLang="ja-JP" dirty="0">
                <a:solidFill>
                  <a:schemeClr val="accent4"/>
                </a:solidFill>
              </a:rPr>
              <a:t> Bregman divergences…</a:t>
            </a:r>
            <a:endParaRPr kumimoji="1" lang="ja-JP" alt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933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CF8DF-06D7-0751-02E2-4AE545A79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46" y="-28193"/>
            <a:ext cx="10515600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chemeClr val="accent4"/>
                </a:solidFill>
              </a:rPr>
              <a:t>Curved Bregman divergences (</a:t>
            </a:r>
            <a:r>
              <a:rPr kumimoji="1" lang="en-US" altLang="ja-JP" b="1" dirty="0" err="1">
                <a:solidFill>
                  <a:schemeClr val="accent4"/>
                </a:solidFill>
              </a:rPr>
              <a:t>cBDs</a:t>
            </a:r>
            <a:r>
              <a:rPr kumimoji="1" lang="en-US" altLang="ja-JP" b="1" dirty="0">
                <a:solidFill>
                  <a:schemeClr val="accent4"/>
                </a:solidFill>
              </a:rPr>
              <a:t>)</a:t>
            </a:r>
            <a:endParaRPr kumimoji="1" lang="ja-JP" alt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7A531-0B0F-8C0C-AFCE-774C3FDD4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089" y="976323"/>
            <a:ext cx="11798015" cy="2353871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2800" dirty="0"/>
              <a:t>Consider a domain U which maps to a subset of </a:t>
            </a:r>
            <a:r>
              <a:rPr lang="el-GR" altLang="ja-JP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800" dirty="0"/>
              <a:t>  by  </a:t>
            </a:r>
            <a:r>
              <a:rPr lang="el-GR" altLang="ja-JP" sz="2800" i="0" dirty="0">
                <a:effectLst/>
                <a:latin typeface="Source Sans Pro" panose="020B0503030403020204" pitchFamily="34" charset="0"/>
              </a:rPr>
              <a:t>θ </a:t>
            </a:r>
            <a:r>
              <a:rPr lang="en-US" altLang="ja-JP" sz="2800" i="0" dirty="0">
                <a:effectLst/>
                <a:latin typeface="Source Sans Pro" panose="020B0503030403020204" pitchFamily="34" charset="0"/>
              </a:rPr>
              <a:t>=</a:t>
            </a:r>
            <a:r>
              <a:rPr lang="en-US" altLang="ja-JP" sz="2800" dirty="0"/>
              <a:t>c(</a:t>
            </a:r>
            <a:r>
              <a:rPr lang="en-US" altLang="ja-JP" dirty="0">
                <a:latin typeface="Source Sans Pro" panose="020B0503030403020204" pitchFamily="34" charset="0"/>
              </a:rPr>
              <a:t>u</a:t>
            </a:r>
            <a:r>
              <a:rPr lang="en-US" altLang="ja-JP" sz="2800" dirty="0"/>
              <a:t>) </a:t>
            </a:r>
            <a:r>
              <a:rPr lang="en-US" altLang="ja-JP" dirty="0"/>
              <a:t>with </a:t>
            </a:r>
            <a:r>
              <a:rPr lang="en-US" altLang="ja-JP" b="1" dirty="0"/>
              <a:t>dim(U) &lt; dim(</a:t>
            </a:r>
            <a:r>
              <a:rPr lang="el-GR" altLang="ja-JP" b="1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b="1" dirty="0"/>
              <a:t>) </a:t>
            </a:r>
            <a:r>
              <a:rPr lang="en-US" altLang="ja-JP" sz="2800" dirty="0"/>
              <a:t>: </a:t>
            </a:r>
            <a:r>
              <a:rPr lang="en-US" altLang="ja-JP" sz="2800" b="1" dirty="0" err="1">
                <a:solidFill>
                  <a:srgbClr val="FF0000"/>
                </a:solidFill>
              </a:rPr>
              <a:t>B</a:t>
            </a:r>
            <a:r>
              <a:rPr lang="en-US" altLang="ja-JP" sz="2800" b="1" baseline="-25000" dirty="0" err="1">
                <a:solidFill>
                  <a:srgbClr val="FF0000"/>
                </a:solidFill>
              </a:rPr>
              <a:t>F,c</a:t>
            </a:r>
            <a:r>
              <a:rPr lang="en-US" altLang="ja-JP" sz="2800" b="1" dirty="0">
                <a:solidFill>
                  <a:srgbClr val="FF0000"/>
                </a:solidFill>
              </a:rPr>
              <a:t>(</a:t>
            </a:r>
            <a:r>
              <a:rPr lang="en-US" altLang="ja-JP" b="1" dirty="0">
                <a:solidFill>
                  <a:srgbClr val="FF0000"/>
                </a:solidFill>
                <a:latin typeface="Source Sans Pro" panose="020B0503030403020204" pitchFamily="34" charset="0"/>
              </a:rPr>
              <a:t>u</a:t>
            </a:r>
            <a:r>
              <a:rPr lang="en-US" altLang="ja-JP" sz="2800" b="1" i="0" baseline="-2500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sz="2800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800" b="1" dirty="0">
                <a:solidFill>
                  <a:srgbClr val="FF0000"/>
                </a:solidFill>
              </a:rPr>
              <a:t>:</a:t>
            </a:r>
            <a:r>
              <a:rPr lang="el-GR" altLang="ja-JP" sz="2800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800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u</a:t>
            </a:r>
            <a:r>
              <a:rPr lang="en-US" altLang="ja-JP" sz="2800" b="1" i="0" baseline="-2500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2800" b="1" dirty="0">
                <a:solidFill>
                  <a:srgbClr val="FF0000"/>
                </a:solidFill>
              </a:rPr>
              <a:t>) </a:t>
            </a:r>
            <a:r>
              <a:rPr lang="en-US" altLang="ja-JP" sz="2800" b="1" dirty="0"/>
              <a:t>:= B</a:t>
            </a:r>
            <a:r>
              <a:rPr lang="en-US" altLang="ja-JP" sz="2800" b="1" baseline="-25000" dirty="0"/>
              <a:t>F</a:t>
            </a:r>
            <a:r>
              <a:rPr lang="en-US" altLang="ja-JP" sz="2800" b="1" dirty="0"/>
              <a:t>(c(</a:t>
            </a:r>
            <a:r>
              <a:rPr lang="en-US" altLang="ja-JP" b="1" dirty="0">
                <a:latin typeface="Source Sans Pro" panose="020B0503030403020204" pitchFamily="34" charset="0"/>
              </a:rPr>
              <a:t>u</a:t>
            </a:r>
            <a:r>
              <a:rPr lang="en-US" altLang="ja-JP" sz="2800" b="1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sz="2800" b="1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800" b="1" dirty="0"/>
              <a:t>):c(</a:t>
            </a:r>
            <a:r>
              <a:rPr lang="el-GR" altLang="ja-JP" sz="2800" b="1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800" b="1" i="0" dirty="0">
                <a:effectLst/>
                <a:latin typeface="Source Sans Pro" panose="020B0503030403020204" pitchFamily="34" charset="0"/>
              </a:rPr>
              <a:t>u</a:t>
            </a:r>
            <a:r>
              <a:rPr lang="en-US" altLang="ja-JP" sz="2800" b="1" i="0" baseline="-25000" dirty="0"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dirty="0"/>
              <a:t>)) </a:t>
            </a:r>
            <a:r>
              <a:rPr lang="en-US" altLang="ja-JP" sz="2400" dirty="0"/>
              <a:t>is not Bregman when {c(u) | u </a:t>
            </a:r>
            <a:r>
              <a:rPr lang="ja-JP" altLang="en-US" sz="2400" b="0" i="0" dirty="0">
                <a:effectLst/>
                <a:latin typeface="Source Sans Pro" panose="020B0503030403020204" pitchFamily="34" charset="0"/>
              </a:rPr>
              <a:t>∈</a:t>
            </a:r>
            <a:r>
              <a:rPr lang="en-US" altLang="ja-JP" sz="2400" dirty="0"/>
              <a:t> U} not convex. </a:t>
            </a:r>
            <a:r>
              <a:rPr lang="en-US" altLang="ja-JP" sz="2400" dirty="0" err="1"/>
              <a:t>cBDs</a:t>
            </a:r>
            <a:r>
              <a:rPr lang="en-US" altLang="ja-JP" sz="2400" dirty="0"/>
              <a:t> usually not BDs unless constraints c(.) are affine</a:t>
            </a:r>
            <a:endParaRPr kumimoji="1" lang="en-US" altLang="ja-JP" sz="2400" dirty="0"/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DADA56-BA9D-E1DD-836D-14A38EEE7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82" y="2933949"/>
            <a:ext cx="11279765" cy="30938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BC75CC-ECE9-90C8-A455-A6DA92DA4B85}"/>
              </a:ext>
            </a:extLst>
          </p:cNvPr>
          <p:cNvSpPr txBox="1"/>
          <p:nvPr/>
        </p:nvSpPr>
        <p:spPr>
          <a:xfrm>
            <a:off x="412955" y="2359696"/>
            <a:ext cx="7051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By analogy to curved exponential families</a:t>
            </a:r>
            <a:endParaRPr kumimoji="1" lang="ja-JP" alt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AA62CA-6C15-2754-2203-037B56F1BACA}"/>
              </a:ext>
            </a:extLst>
          </p:cNvPr>
          <p:cNvSpPr txBox="1"/>
          <p:nvPr/>
        </p:nvSpPr>
        <p:spPr>
          <a:xfrm>
            <a:off x="750282" y="6078793"/>
            <a:ext cx="11259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For example, U is real vector space, V is symmetric matrix vector space, CEF is sub-family of Gaussians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34479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4918AD-B0D0-934F-EC58-1C2A92039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0929"/>
            <a:ext cx="11887200" cy="50101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84D88-E774-3E24-5070-8F3302A9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4C7FE-83C1-DC92-4DA7-5F7FCFC9E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07262"/>
            <a:ext cx="11887200" cy="5010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48E400-3EFC-DCE6-117F-E29E33E72258}"/>
              </a:ext>
            </a:extLst>
          </p:cNvPr>
          <p:cNvSpPr txBox="1"/>
          <p:nvPr/>
        </p:nvSpPr>
        <p:spPr>
          <a:xfrm>
            <a:off x="2178" y="6281951"/>
            <a:ext cx="6093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 err="1">
                <a:solidFill>
                  <a:schemeClr val="accent6"/>
                </a:solidFill>
              </a:rPr>
              <a:t>arXiv</a:t>
            </a:r>
            <a:r>
              <a:rPr lang="en-US" altLang="ja-JP" sz="2800" b="1" dirty="0">
                <a:solidFill>
                  <a:schemeClr val="accent6"/>
                </a:solidFill>
              </a:rPr>
              <a:t>:</a:t>
            </a:r>
            <a:r>
              <a:rPr lang="ja-JP" altLang="en-US" sz="2800" b="1" dirty="0">
                <a:solidFill>
                  <a:schemeClr val="accent6"/>
                </a:solidFill>
              </a:rPr>
              <a:t>2504.05654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D10F7B-06C1-2D2B-57F8-8F179AEA8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329" y="5129248"/>
            <a:ext cx="3754483" cy="12985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C84DCD2-F442-2E58-B1CB-D9DAB2DC8342}"/>
              </a:ext>
            </a:extLst>
          </p:cNvPr>
          <p:cNvSpPr txBox="1"/>
          <p:nvPr/>
        </p:nvSpPr>
        <p:spPr>
          <a:xfrm>
            <a:off x="3867080" y="6427842"/>
            <a:ext cx="816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accent2"/>
                </a:solidFill>
              </a:rPr>
              <a:t>A constant on the circle submanifold, thus not a proper Bregman generator!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2615D30-D2D9-46A0-31A0-740F5032A584}"/>
              </a:ext>
            </a:extLst>
          </p:cNvPr>
          <p:cNvSpPr txBox="1">
            <a:spLocks/>
          </p:cNvSpPr>
          <p:nvPr/>
        </p:nvSpPr>
        <p:spPr>
          <a:xfrm>
            <a:off x="838200" y="1407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740DF-B3A3-4853-A96C-097214AD0D87}"/>
              </a:ext>
            </a:extLst>
          </p:cNvPr>
          <p:cNvSpPr txBox="1"/>
          <p:nvPr/>
        </p:nvSpPr>
        <p:spPr>
          <a:xfrm>
            <a:off x="1047205" y="2362179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accent2"/>
                </a:solidFill>
              </a:rPr>
              <a:t>N</a:t>
            </a:r>
            <a:r>
              <a:rPr kumimoji="1" lang="en-US" altLang="ja-JP" dirty="0">
                <a:solidFill>
                  <a:schemeClr val="accent2"/>
                </a:solidFill>
              </a:rPr>
              <a:t>ot a  Bregman divergence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7357C0-AC77-0D06-2D49-2BE11FF029BE}"/>
              </a:ext>
            </a:extLst>
          </p:cNvPr>
          <p:cNvSpPr txBox="1"/>
          <p:nvPr/>
        </p:nvSpPr>
        <p:spPr>
          <a:xfrm>
            <a:off x="572588" y="1388019"/>
            <a:ext cx="3294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accent2"/>
                </a:solidFill>
              </a:rPr>
              <a:t>Curved </a:t>
            </a:r>
            <a:r>
              <a:rPr kumimoji="1" lang="en-US" altLang="ja-JP" dirty="0">
                <a:solidFill>
                  <a:schemeClr val="accent2"/>
                </a:solidFill>
              </a:rPr>
              <a:t>Bregman divergence</a:t>
            </a:r>
            <a:r>
              <a:rPr lang="en-US" altLang="ja-JP" dirty="0">
                <a:solidFill>
                  <a:schemeClr val="accent2"/>
                </a:solidFill>
              </a:rPr>
              <a:t>: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F6B9E08-3B5D-7884-331F-E6A26113F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287" y="1381533"/>
            <a:ext cx="3800475" cy="333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12BFFD-C2F8-BD2D-61B4-B0765B11B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774" y="90659"/>
            <a:ext cx="11494672" cy="1325563"/>
          </a:xfrm>
        </p:spPr>
        <p:txBody>
          <a:bodyPr>
            <a:normAutofit/>
          </a:bodyPr>
          <a:lstStyle/>
          <a:p>
            <a:r>
              <a:rPr kumimoji="1" lang="en-US" altLang="ja-JP" b="1" dirty="0">
                <a:solidFill>
                  <a:schemeClr val="accent4"/>
                </a:solidFill>
              </a:rPr>
              <a:t>Curved Bregman divergence example:</a:t>
            </a:r>
            <a:br>
              <a:rPr kumimoji="1" lang="en-US" altLang="ja-JP" b="1" dirty="0">
                <a:solidFill>
                  <a:schemeClr val="accent4"/>
                </a:solidFill>
              </a:rPr>
            </a:br>
            <a:r>
              <a:rPr kumimoji="1" lang="en-US" altLang="ja-JP" b="1" dirty="0">
                <a:solidFill>
                  <a:schemeClr val="accent4"/>
                </a:solidFill>
              </a:rPr>
              <a:t>The cosine dissimilarity between unit vectors</a:t>
            </a:r>
            <a:endParaRPr kumimoji="1" lang="ja-JP" altLang="en-US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732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563FB-D68E-673D-F047-3D2C796EA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36" y="-166529"/>
            <a:ext cx="11143164" cy="1325563"/>
          </a:xfrm>
        </p:spPr>
        <p:txBody>
          <a:bodyPr/>
          <a:lstStyle/>
          <a:p>
            <a:r>
              <a:rPr lang="en-US" altLang="ja-JP" b="1" i="1" dirty="0">
                <a:solidFill>
                  <a:schemeClr val="accent4"/>
                </a:solidFill>
              </a:rPr>
              <a:t>Example of curved BDs</a:t>
            </a:r>
            <a:r>
              <a:rPr lang="en-US" altLang="ja-JP" b="1" dirty="0">
                <a:solidFill>
                  <a:schemeClr val="accent4"/>
                </a:solidFill>
              </a:rPr>
              <a:t>: Symmetrized BDs</a:t>
            </a:r>
            <a:endParaRPr kumimoji="1" lang="ja-JP" alt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C0891-B197-D6B7-AF65-371FA0004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429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2400" dirty="0"/>
              <a:t>= Jeffreys-Bregman divergences are curved Bregman divergences: </a:t>
            </a:r>
          </a:p>
          <a:p>
            <a:pPr marL="0" indent="0">
              <a:buNone/>
            </a:pPr>
            <a:r>
              <a:rPr lang="en-US" altLang="ja-JP" dirty="0"/>
              <a:t>S</a:t>
            </a:r>
            <a:r>
              <a:rPr lang="en-US" altLang="ja-JP" baseline="-25000" dirty="0"/>
              <a:t>F</a:t>
            </a:r>
            <a:r>
              <a:rPr lang="en-US" altLang="ja-JP" dirty="0"/>
              <a:t>(</a:t>
            </a:r>
            <a:r>
              <a:rPr lang="el-GR" altLang="ja-JP" dirty="0"/>
              <a:t>θ</a:t>
            </a:r>
            <a:r>
              <a:rPr lang="en-US" altLang="ja-JP" baseline="-25000" dirty="0"/>
              <a:t>1</a:t>
            </a:r>
            <a:r>
              <a:rPr lang="el-GR" altLang="ja-JP" dirty="0"/>
              <a:t> </a:t>
            </a:r>
            <a:r>
              <a:rPr lang="en-US" altLang="ja-JP" dirty="0"/>
              <a:t>,</a:t>
            </a:r>
            <a:r>
              <a:rPr lang="el-GR" altLang="ja-JP" dirty="0"/>
              <a:t>θ</a:t>
            </a:r>
            <a:r>
              <a:rPr lang="en-US" altLang="ja-JP" baseline="-25000" dirty="0"/>
              <a:t>2</a:t>
            </a:r>
            <a:r>
              <a:rPr lang="en-US" altLang="ja-JP" dirty="0"/>
              <a:t>)=&lt;</a:t>
            </a:r>
            <a:r>
              <a:rPr lang="el-GR" altLang="ja-JP" dirty="0"/>
              <a:t> θ</a:t>
            </a:r>
            <a:r>
              <a:rPr lang="en-US" altLang="ja-JP" baseline="-25000" dirty="0"/>
              <a:t>1</a:t>
            </a:r>
            <a:r>
              <a:rPr lang="el-GR" altLang="ja-JP" dirty="0"/>
              <a:t> </a:t>
            </a:r>
            <a:r>
              <a:rPr lang="en-US" altLang="ja-JP" dirty="0"/>
              <a:t>-</a:t>
            </a:r>
            <a:r>
              <a:rPr lang="el-GR" altLang="ja-JP" dirty="0"/>
              <a:t>θ</a:t>
            </a:r>
            <a:r>
              <a:rPr lang="en-US" altLang="ja-JP" baseline="-25000" dirty="0"/>
              <a:t>2</a:t>
            </a:r>
            <a:r>
              <a:rPr lang="en-US" altLang="ja-JP" dirty="0"/>
              <a:t> ,</a:t>
            </a:r>
            <a:r>
              <a:rPr lang="el-GR" altLang="ja-JP" dirty="0"/>
              <a:t>η</a:t>
            </a:r>
            <a:r>
              <a:rPr lang="en-US" altLang="ja-JP" baseline="-25000" dirty="0"/>
              <a:t>1 </a:t>
            </a:r>
            <a:r>
              <a:rPr lang="en-US" altLang="ja-JP" dirty="0"/>
              <a:t>-</a:t>
            </a:r>
            <a:r>
              <a:rPr lang="el-GR" altLang="ja-JP" dirty="0"/>
              <a:t>η </a:t>
            </a:r>
            <a:r>
              <a:rPr lang="en-US" altLang="ja-JP" baseline="-25000" dirty="0"/>
              <a:t>2 </a:t>
            </a:r>
            <a:r>
              <a:rPr lang="en-US" altLang="ja-JP" dirty="0"/>
              <a:t>&gt;</a:t>
            </a:r>
          </a:p>
          <a:p>
            <a:endParaRPr kumimoji="1"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61C1B-A02F-F7AF-4E26-7E2495ACD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380" y="2075922"/>
            <a:ext cx="8117108" cy="1714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4D2323-0E33-2BA9-29D0-053D1C3C0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32" y="4599995"/>
            <a:ext cx="2981325" cy="581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D90FE3-CBCC-B66E-5347-F0EF5A5BD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751" y="4643752"/>
            <a:ext cx="3419475" cy="5429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B3DC2E-F4A0-945A-E713-10F4CBAAD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8297" y="3908116"/>
            <a:ext cx="4171950" cy="6381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D88C63-2333-0135-97BB-C232C32D6BB8}"/>
              </a:ext>
            </a:extLst>
          </p:cNvPr>
          <p:cNvSpPr txBox="1"/>
          <p:nvPr/>
        </p:nvSpPr>
        <p:spPr>
          <a:xfrm>
            <a:off x="2742125" y="5219175"/>
            <a:ext cx="87078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solidFill>
                  <a:srgbClr val="FF0000"/>
                </a:solidFill>
              </a:rPr>
              <a:t>m</a:t>
            </a:r>
            <a:r>
              <a:rPr kumimoji="1" lang="en-US" altLang="ja-JP" sz="2000" dirty="0">
                <a:solidFill>
                  <a:srgbClr val="FF0000"/>
                </a:solidFill>
              </a:rPr>
              <a:t>-dimensional submanifold in 2m-dimensional space</a:t>
            </a:r>
          </a:p>
          <a:p>
            <a:r>
              <a:rPr lang="en-US" altLang="ja-JP" sz="2000" dirty="0">
                <a:solidFill>
                  <a:srgbClr val="FF0000"/>
                </a:solidFill>
              </a:rPr>
              <a:t>(usually not </a:t>
            </a:r>
            <a:r>
              <a:rPr lang="en-US" altLang="ja-JP" sz="2000" dirty="0" err="1">
                <a:solidFill>
                  <a:srgbClr val="FF0000"/>
                </a:solidFill>
              </a:rPr>
              <a:t>cvx</a:t>
            </a:r>
            <a:r>
              <a:rPr lang="en-US" altLang="ja-JP" sz="2000" dirty="0">
                <a:solidFill>
                  <a:srgbClr val="FF0000"/>
                </a:solidFill>
              </a:rPr>
              <a:t> affine space, hence not a Bregman divergence)</a:t>
            </a:r>
          </a:p>
          <a:p>
            <a:r>
              <a:rPr kumimoji="1" lang="en-US" altLang="ja-JP" sz="2000" dirty="0">
                <a:solidFill>
                  <a:srgbClr val="FF0000"/>
                </a:solidFill>
              </a:rPr>
              <a:t>Only affine for quadratic generators (squared </a:t>
            </a:r>
            <a:r>
              <a:rPr kumimoji="1" lang="en-US" altLang="ja-JP" sz="2000" dirty="0" err="1">
                <a:solidFill>
                  <a:srgbClr val="FF0000"/>
                </a:solidFill>
              </a:rPr>
              <a:t>Mahalanobis</a:t>
            </a:r>
            <a:r>
              <a:rPr kumimoji="1" lang="en-US" altLang="ja-JP" sz="2000" dirty="0">
                <a:solidFill>
                  <a:srgbClr val="FF0000"/>
                </a:solidFill>
              </a:rPr>
              <a:t> divergences)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3C6BB5-32E9-D447-B7B6-03022EE5CF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3482" y="4684963"/>
            <a:ext cx="3639820" cy="575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93E21A-B245-E14F-474C-F4454FBBDC84}"/>
              </a:ext>
            </a:extLst>
          </p:cNvPr>
          <p:cNvSpPr txBox="1"/>
          <p:nvPr/>
        </p:nvSpPr>
        <p:spPr>
          <a:xfrm>
            <a:off x="1048496" y="6390696"/>
            <a:ext cx="11418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accent6"/>
                </a:solidFill>
              </a:rPr>
              <a:t>“Sided and symmetrized Bregman centroids.” IEEE transactions on Information Theory 55.6 (2009)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69C4A-08CE-7F2A-9045-73F130FFA6C6}"/>
              </a:ext>
            </a:extLst>
          </p:cNvPr>
          <p:cNvSpPr txBox="1"/>
          <p:nvPr/>
        </p:nvSpPr>
        <p:spPr>
          <a:xfrm>
            <a:off x="531432" y="3886507"/>
            <a:ext cx="2779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Curved domain: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05029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766F9-B844-6095-524E-97DF7C3D3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3C991-7146-FA11-EC93-F703DC0FE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A2364C05-7DB1-2542-53D8-96D75C8AF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508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89756-CDBE-D604-54C2-1BA3F148E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629" y="-46457"/>
            <a:ext cx="11924371" cy="1325563"/>
          </a:xfrm>
        </p:spPr>
        <p:txBody>
          <a:bodyPr/>
          <a:lstStyle/>
          <a:p>
            <a:r>
              <a:rPr lang="en-US" altLang="ja-JP" b="1" dirty="0">
                <a:solidFill>
                  <a:schemeClr val="accent4"/>
                </a:solidFill>
              </a:rPr>
              <a:t>Another ex</a:t>
            </a:r>
            <a:r>
              <a:rPr kumimoji="1" lang="en-US" altLang="ja-JP" b="1" dirty="0">
                <a:solidFill>
                  <a:schemeClr val="accent4"/>
                </a:solidFill>
              </a:rPr>
              <a:t>ample of curved Bregman divergences:</a:t>
            </a:r>
            <a:endParaRPr kumimoji="1" lang="ja-JP" alt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D8F54-9C19-49F8-64DA-90742566F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885" y="866151"/>
            <a:ext cx="12143910" cy="5380038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Consider d-variate </a:t>
            </a:r>
            <a:r>
              <a:rPr kumimoji="1" lang="en-US" altLang="ja-JP" b="1" dirty="0"/>
              <a:t>circular complex normal distributions</a:t>
            </a:r>
            <a:endParaRPr lang="en-US" altLang="ja-JP" b="1" dirty="0"/>
          </a:p>
          <a:p>
            <a:r>
              <a:rPr kumimoji="1" lang="en-US" altLang="ja-JP" dirty="0"/>
              <a:t>CNDs handled as </a:t>
            </a:r>
            <a:r>
              <a:rPr kumimoji="1" lang="en-US" altLang="ja-JP" b="1" dirty="0"/>
              <a:t>2d real normal distributions</a:t>
            </a:r>
          </a:p>
          <a:p>
            <a:endParaRPr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Then KLD between CNDs amounts to a </a:t>
            </a:r>
            <a:r>
              <a:rPr lang="en-US" altLang="ja-JP" b="1" dirty="0">
                <a:solidFill>
                  <a:srgbClr val="FF0000"/>
                </a:solidFill>
              </a:rPr>
              <a:t>curved Bregman divergence</a:t>
            </a:r>
            <a:r>
              <a:rPr lang="en-US" altLang="ja-JP" dirty="0"/>
              <a:t>:</a:t>
            </a:r>
          </a:p>
          <a:p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en-US" altLang="ja-JP" b="1" dirty="0">
                <a:solidFill>
                  <a:srgbClr val="FF0000"/>
                </a:solidFill>
              </a:rPr>
              <a:t>Curved submanifold </a:t>
            </a:r>
            <a:r>
              <a:rPr lang="en-US" altLang="ja-JP" dirty="0"/>
              <a:t>parameter in R</a:t>
            </a:r>
            <a:r>
              <a:rPr lang="en-US" altLang="ja-JP" baseline="30000" dirty="0"/>
              <a:t>2d</a:t>
            </a:r>
            <a:r>
              <a:rPr lang="en-US" altLang="ja-JP" dirty="0"/>
              <a:t> x Mat(2d)</a:t>
            </a:r>
            <a:endParaRPr kumimoji="1"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695752-72A8-5651-BCE4-3497E3CCF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722" y="800478"/>
            <a:ext cx="2000250" cy="504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D07E48-832F-F095-2B87-C65BAD995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759" y="1326293"/>
            <a:ext cx="2828925" cy="619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E0681B-26A3-B5A9-100A-9D499A7DE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5912" y="2284433"/>
            <a:ext cx="3105150" cy="6572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6DDE7C-3262-D0D0-1506-75BBF7B885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033" y="2194351"/>
            <a:ext cx="4486275" cy="962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8194D1-0938-9A06-76ED-43EC00F7D4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881" y="3890147"/>
            <a:ext cx="8096250" cy="800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EF7542-D542-A02E-D39D-9700F25314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7921" y="4569123"/>
            <a:ext cx="1238250" cy="3619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898F0D-5B39-D9B8-107E-310D8D9DD4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0790" y="4524024"/>
            <a:ext cx="4505325" cy="3905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4927F92-FD32-C0C8-2FBA-932DAFD4B2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090" y="5321063"/>
            <a:ext cx="8950984" cy="112398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94833B1-9924-D9BD-FB66-891C5ACE3208}"/>
              </a:ext>
            </a:extLst>
          </p:cNvPr>
          <p:cNvSpPr txBox="1"/>
          <p:nvPr/>
        </p:nvSpPr>
        <p:spPr>
          <a:xfrm>
            <a:off x="10167934" y="5897270"/>
            <a:ext cx="178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accent6"/>
                </a:solidFill>
              </a:rPr>
              <a:t>2504.05654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E2A5270-5497-A006-5BF5-A388EFB81A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02922" y="4188646"/>
            <a:ext cx="1600200" cy="35242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1DD597A-98EB-E96B-85FF-50EC43205B87}"/>
              </a:ext>
            </a:extLst>
          </p:cNvPr>
          <p:cNvSpPr txBox="1"/>
          <p:nvPr/>
        </p:nvSpPr>
        <p:spPr>
          <a:xfrm>
            <a:off x="9609792" y="3838651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Natural parameters</a:t>
            </a:r>
            <a:endParaRPr kumimoji="1" lang="ja-JP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C8ACD-7A66-06D9-FFC1-F582E57A83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7384" y="2510747"/>
            <a:ext cx="233362" cy="3980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9599E8-9C40-9D53-D64B-B280E6191F7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5379" y="2476319"/>
            <a:ext cx="233362" cy="3980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0977AD-77D1-2C50-F086-F8A43C6E43B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0806" y="4603354"/>
            <a:ext cx="233362" cy="3980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1C8356-B09B-15FB-9E0E-63978A1670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54678" y="4600575"/>
            <a:ext cx="233362" cy="3980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6EFED5-E182-2342-B9BB-C9D77B947D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02700" y="4599804"/>
            <a:ext cx="233362" cy="3980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E440D31-4C30-EBC1-8331-D219189692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07610" y="4674759"/>
            <a:ext cx="233362" cy="3980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71221B-6063-859A-4D2A-3FF1EF1009CC}"/>
              </a:ext>
            </a:extLst>
          </p:cNvPr>
          <p:cNvSpPr txBox="1"/>
          <p:nvPr/>
        </p:nvSpPr>
        <p:spPr>
          <a:xfrm>
            <a:off x="74781" y="6173334"/>
            <a:ext cx="12582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accent6"/>
                </a:solidFill>
              </a:rPr>
              <a:t>See also </a:t>
            </a:r>
            <a:r>
              <a:rPr lang="en-US" altLang="ja-JP" sz="1400" dirty="0" err="1">
                <a:solidFill>
                  <a:schemeClr val="accent6"/>
                </a:solidFill>
              </a:rPr>
              <a:t>Nakashika</a:t>
            </a:r>
            <a:r>
              <a:rPr lang="en-US" altLang="ja-JP" sz="1400" dirty="0">
                <a:solidFill>
                  <a:schemeClr val="accent6"/>
                </a:solidFill>
              </a:rPr>
              <a:t>, T: "Complex-Valued Variational Autoencoder: A Novel Deep Generative Model for Direct Representation of Complex Spectra.“</a:t>
            </a:r>
          </a:p>
          <a:p>
            <a:r>
              <a:rPr lang="en-US" altLang="ja-JP" sz="1400" dirty="0">
                <a:solidFill>
                  <a:schemeClr val="accent6"/>
                </a:solidFill>
              </a:rPr>
              <a:t> </a:t>
            </a:r>
            <a:r>
              <a:rPr lang="en-US" altLang="ja-JP" sz="1400" i="1" dirty="0">
                <a:solidFill>
                  <a:schemeClr val="accent6"/>
                </a:solidFill>
              </a:rPr>
              <a:t>INTERSPEECH</a:t>
            </a:r>
            <a:r>
              <a:rPr lang="en-US" altLang="ja-JP" sz="1400" dirty="0">
                <a:solidFill>
                  <a:schemeClr val="accent6"/>
                </a:solidFill>
              </a:rPr>
              <a:t>. 2020.</a:t>
            </a:r>
            <a:endParaRPr kumimoji="1" lang="ja-JP" altLang="en-US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360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898C2-16F7-6FB8-DF08-9932EF7E9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314" y="1668415"/>
            <a:ext cx="7425149" cy="3354811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/>
              <a:t>Theorem: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999039-F59C-DDCD-4A3C-26DD4884B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83" y="298437"/>
            <a:ext cx="11368165" cy="1325563"/>
          </a:xfrm>
        </p:spPr>
        <p:txBody>
          <a:bodyPr>
            <a:normAutofit fontScale="90000"/>
          </a:bodyPr>
          <a:lstStyle/>
          <a:p>
            <a:r>
              <a:rPr kumimoji="1" lang="en-US" altLang="ja-JP" b="1" dirty="0">
                <a:solidFill>
                  <a:schemeClr val="accent4"/>
                </a:solidFill>
              </a:rPr>
              <a:t>Curved Bregman centroid</a:t>
            </a:r>
            <a:r>
              <a:rPr lang="en-US" altLang="ja-JP" b="1" dirty="0">
                <a:solidFill>
                  <a:schemeClr val="accent4"/>
                </a:solidFill>
              </a:rPr>
              <a:t> is the </a:t>
            </a:r>
            <a:br>
              <a:rPr lang="en-US" altLang="ja-JP" b="1" dirty="0">
                <a:solidFill>
                  <a:schemeClr val="accent4"/>
                </a:solidFill>
              </a:rPr>
            </a:br>
            <a:r>
              <a:rPr kumimoji="1" lang="en-US" altLang="ja-JP" b="1" dirty="0">
                <a:solidFill>
                  <a:schemeClr val="accent4"/>
                </a:solidFill>
              </a:rPr>
              <a:t>Bregman projection of the full Bregman centroid</a:t>
            </a:r>
            <a:endParaRPr kumimoji="1" lang="ja-JP" altLang="en-US" b="1" dirty="0">
              <a:solidFill>
                <a:schemeClr val="accent4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48B106-6ADE-74C3-97BD-A8C3F5A06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14" y="2175822"/>
            <a:ext cx="6333273" cy="1042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DBF6AE-9573-FDD7-F79F-7B48EA821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899" y="1636194"/>
            <a:ext cx="1548293" cy="5439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BF84DF-B923-654D-A91D-A208D1634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2339" y="3262791"/>
            <a:ext cx="1197122" cy="4379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1F5097-219D-C76A-A2BB-64A50E9BC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610" y="3897723"/>
            <a:ext cx="10546503" cy="33548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55788F-5332-B11B-AE31-B6893DB9609D}"/>
              </a:ext>
            </a:extLst>
          </p:cNvPr>
          <p:cNvSpPr txBox="1"/>
          <p:nvPr/>
        </p:nvSpPr>
        <p:spPr>
          <a:xfrm>
            <a:off x="2096858" y="1652183"/>
            <a:ext cx="7170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Right Bregman projection of Bregman centroid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89F89-2B53-828B-56BE-9A6A6E46C6F2}"/>
              </a:ext>
            </a:extLst>
          </p:cNvPr>
          <p:cNvSpPr txBox="1"/>
          <p:nvPr/>
        </p:nvSpPr>
        <p:spPr>
          <a:xfrm>
            <a:off x="1524000" y="657724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accent6"/>
                </a:solidFill>
              </a:rPr>
              <a:t>"What is... an information projection?" Notices of the AMS 65.3 (2018): 321-324.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C89D8738-6118-69CC-CE47-891CD8640936}"/>
              </a:ext>
            </a:extLst>
          </p:cNvPr>
          <p:cNvSpPr/>
          <p:nvPr/>
        </p:nvSpPr>
        <p:spPr>
          <a:xfrm>
            <a:off x="2754349" y="2846143"/>
            <a:ext cx="189571" cy="41683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6E42268-FE73-86F4-602B-1101DA36A033}"/>
              </a:ext>
            </a:extLst>
          </p:cNvPr>
          <p:cNvSpPr/>
          <p:nvPr/>
        </p:nvSpPr>
        <p:spPr>
          <a:xfrm>
            <a:off x="5576789" y="2035365"/>
            <a:ext cx="210693" cy="3278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24E704-4C2F-69FA-999E-7A59749767C9}"/>
              </a:ext>
            </a:extLst>
          </p:cNvPr>
          <p:cNvSpPr txBox="1"/>
          <p:nvPr/>
        </p:nvSpPr>
        <p:spPr>
          <a:xfrm>
            <a:off x="613317" y="3265312"/>
            <a:ext cx="1471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N-point opt.</a:t>
            </a:r>
            <a:endParaRPr kumimoji="1" lang="ja-JP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23F593-683D-707F-43E5-CB5B0D559A9A}"/>
              </a:ext>
            </a:extLst>
          </p:cNvPr>
          <p:cNvSpPr txBox="1"/>
          <p:nvPr/>
        </p:nvSpPr>
        <p:spPr>
          <a:xfrm>
            <a:off x="4005200" y="3121851"/>
            <a:ext cx="27206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b="1" dirty="0">
                <a:solidFill>
                  <a:srgbClr val="FF0000"/>
                </a:solidFill>
              </a:rPr>
              <a:t>From n-point opt</a:t>
            </a:r>
          </a:p>
          <a:p>
            <a:pPr algn="ctr"/>
            <a:r>
              <a:rPr lang="en-US" altLang="ja-JP" sz="2400" b="1" dirty="0">
                <a:solidFill>
                  <a:srgbClr val="FF0000"/>
                </a:solidFill>
              </a:rPr>
              <a:t>to</a:t>
            </a:r>
          </a:p>
          <a:p>
            <a:pPr algn="ctr"/>
            <a:r>
              <a:rPr lang="en-US" altLang="ja-JP" sz="2400" b="1" dirty="0">
                <a:solidFill>
                  <a:srgbClr val="FF0000"/>
                </a:solidFill>
              </a:rPr>
              <a:t>One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-point opt!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90F363-803C-2102-CD56-FFE7A485FAB8}"/>
              </a:ext>
            </a:extLst>
          </p:cNvPr>
          <p:cNvSpPr txBox="1"/>
          <p:nvPr/>
        </p:nvSpPr>
        <p:spPr>
          <a:xfrm>
            <a:off x="177550" y="3885529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Simple</a:t>
            </a:r>
            <a:endParaRPr kumimoji="1" lang="ja-JP" alt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701AF9-5092-2EDE-2998-F79BC5EF36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201" y="2278137"/>
            <a:ext cx="5734208" cy="228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81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F8BD9-A4B1-993E-15C4-65716C76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69" y="0"/>
            <a:ext cx="11754394" cy="1325563"/>
          </a:xfrm>
        </p:spPr>
        <p:txBody>
          <a:bodyPr/>
          <a:lstStyle/>
          <a:p>
            <a:r>
              <a:rPr kumimoji="1" lang="en-US" altLang="ja-JP" dirty="0"/>
              <a:t>Usually duality of regular BD with regular EF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0F5EA-311B-4A7B-01FC-64C63CD4B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27489-D54F-51B3-FBEE-AB4548753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13" y="1880498"/>
            <a:ext cx="7894320" cy="3975516"/>
          </a:xfrm>
          <a:prstGeom prst="rect">
            <a:avLst/>
          </a:prstGeom>
        </p:spPr>
      </p:pic>
      <p:pic>
        <p:nvPicPr>
          <p:cNvPr id="1026" name="Picture 2" descr="Methods of Information Geometry">
            <a:extLst>
              <a:ext uri="{FF2B5EF4-FFF2-40B4-BE49-F238E27FC236}">
                <a16:creationId xmlns:a16="http://schemas.microsoft.com/office/drawing/2014/main" id="{806F1F76-FEB2-B39D-9F83-9AE3CD605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5296" y="1224734"/>
            <a:ext cx="2728504" cy="388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450D46-6E55-1A24-8420-D3F8F3AD12A7}"/>
              </a:ext>
            </a:extLst>
          </p:cNvPr>
          <p:cNvSpPr txBox="1"/>
          <p:nvPr/>
        </p:nvSpPr>
        <p:spPr>
          <a:xfrm>
            <a:off x="7867105" y="6410950"/>
            <a:ext cx="6146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accent6"/>
                </a:solidFill>
              </a:rPr>
              <a:t>https://arxiv.org/abs/1203.5181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311835-A1AB-1E7B-099C-921354360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057675"/>
            <a:ext cx="6229350" cy="600075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C07A9C4E-9849-6D56-5429-59BBC2A5839B}"/>
              </a:ext>
            </a:extLst>
          </p:cNvPr>
          <p:cNvSpPr txBox="1">
            <a:spLocks/>
          </p:cNvSpPr>
          <p:nvPr/>
        </p:nvSpPr>
        <p:spPr>
          <a:xfrm>
            <a:off x="1848395" y="5368861"/>
            <a:ext cx="117543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600" dirty="0">
                <a:latin typeface="Cambria" panose="02040503050406030204" pitchFamily="18" charset="0"/>
                <a:ea typeface="Cambria" panose="02040503050406030204" pitchFamily="18" charset="0"/>
              </a:rPr>
              <a:t>Projection theorem of MLE for curved EFs</a:t>
            </a:r>
            <a:endParaRPr lang="ja-JP" altLang="en-US" sz="36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529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4131-676D-FA2B-88AF-67FA7C71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5" y="365125"/>
            <a:ext cx="11848011" cy="1325563"/>
          </a:xfrm>
        </p:spPr>
        <p:txBody>
          <a:bodyPr/>
          <a:lstStyle/>
          <a:p>
            <a:r>
              <a:rPr kumimoji="1" lang="en-US" altLang="ja-JP" dirty="0">
                <a:solidFill>
                  <a:schemeClr val="accent4"/>
                </a:solidFill>
              </a:rPr>
              <a:t>Symmetrized Bregman centroids in closed-form</a:t>
            </a:r>
            <a:endParaRPr kumimoji="1" lang="ja-JP" alt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372ED-5A7C-65E6-6075-99BD809DE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75" y="1825625"/>
            <a:ext cx="11534502" cy="4351338"/>
          </a:xfrm>
        </p:spPr>
        <p:txBody>
          <a:bodyPr/>
          <a:lstStyle/>
          <a:p>
            <a:r>
              <a:rPr kumimoji="1" lang="en-US" altLang="ja-JP" dirty="0"/>
              <a:t>-log det generator (in 1D, Itakura-Saito </a:t>
            </a:r>
            <a:r>
              <a:rPr kumimoji="1" lang="en-US" altLang="ja-JP" dirty="0" err="1"/>
              <a:t>symmetrization</a:t>
            </a:r>
            <a:r>
              <a:rPr kumimoji="1" lang="en-US" altLang="ja-JP" dirty="0"/>
              <a:t> called COSH distance)</a:t>
            </a:r>
          </a:p>
          <a:p>
            <a:endParaRPr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Shannon negentropy for finite alphabets (Jeffreys divergence)</a:t>
            </a:r>
            <a:endParaRPr kumimoji="1"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933F8-B869-E4EF-AAF6-08FCE0FBD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31" y="4840469"/>
            <a:ext cx="2419350" cy="390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29B19B-762B-1942-AD26-E465CB071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538" y="4630918"/>
            <a:ext cx="7200900" cy="809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0B140B-458E-0882-120C-09771D539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513" y="5327830"/>
            <a:ext cx="2066925" cy="49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1D19D8-0FFB-B78A-2481-33B66A19A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3263" y="6026150"/>
            <a:ext cx="1781175" cy="571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DE2246-213A-0A3F-72C3-B3FA5C2F37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9064" y="5530850"/>
            <a:ext cx="1781175" cy="1066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C5A425-0941-8B23-52C9-3A42C900FA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3413" y="5575480"/>
            <a:ext cx="2409825" cy="10763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AB210E-5F6A-9273-908B-14D54178B2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063" y="2771071"/>
            <a:ext cx="3419475" cy="7048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67E14BD-56DE-8EE0-71A2-F377322361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3413" y="2859949"/>
            <a:ext cx="1600200" cy="4953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54AF794-2F0B-944E-DCB8-E007351122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3488" y="2859949"/>
            <a:ext cx="2324100" cy="533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09D2E8B-BC55-2473-D96D-ABB445707A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23888" y="3650070"/>
            <a:ext cx="24479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1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C039-F565-C0AE-E06A-6E1E77D12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260622"/>
            <a:ext cx="10515600" cy="1325563"/>
          </a:xfrm>
        </p:spPr>
        <p:txBody>
          <a:bodyPr/>
          <a:lstStyle/>
          <a:p>
            <a:r>
              <a:rPr kumimoji="1" lang="en-US" altLang="ja-JP" dirty="0">
                <a:solidFill>
                  <a:schemeClr val="accent4"/>
                </a:solidFill>
              </a:rPr>
              <a:t>Summary: Some examples of curved BDs</a:t>
            </a:r>
            <a:endParaRPr kumimoji="1" lang="ja-JP" alt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5D632-92FC-F69A-C8CA-CFB4472D2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697" y="1825625"/>
            <a:ext cx="11839303" cy="4351338"/>
          </a:xfrm>
        </p:spPr>
        <p:txBody>
          <a:bodyPr>
            <a:normAutofit fontScale="92500"/>
          </a:bodyPr>
          <a:lstStyle/>
          <a:p>
            <a:r>
              <a:rPr kumimoji="1" lang="en-US" altLang="ja-JP" dirty="0"/>
              <a:t>Cosine dissimilarity!  </a:t>
            </a:r>
          </a:p>
          <a:p>
            <a:r>
              <a:rPr lang="en-US" altLang="ja-JP" dirty="0"/>
              <a:t>Symmetrized Bregman divergences </a:t>
            </a:r>
          </a:p>
          <a:p>
            <a:r>
              <a:rPr lang="en-US" altLang="ja-JP" dirty="0"/>
              <a:t>Augmented mixed-Bregman Jeffreys-Bregman divergence</a:t>
            </a:r>
          </a:p>
          <a:p>
            <a:endParaRPr kumimoji="1" lang="en-US" altLang="ja-JP" dirty="0"/>
          </a:p>
          <a:p>
            <a:r>
              <a:rPr lang="en-US" altLang="ja-JP" dirty="0" err="1"/>
              <a:t>Kullback</a:t>
            </a:r>
            <a:r>
              <a:rPr lang="en-US" altLang="ja-JP" dirty="0"/>
              <a:t>-Leibler divergence between complex circular normal distributions is a curved BD</a:t>
            </a:r>
          </a:p>
          <a:p>
            <a:r>
              <a:rPr kumimoji="1" lang="en-US" altLang="ja-JP" dirty="0"/>
              <a:t>KLD between curved exponential families</a:t>
            </a:r>
          </a:p>
          <a:p>
            <a:endParaRPr lang="en-US" altLang="ja-JP" dirty="0"/>
          </a:p>
          <a:p>
            <a:r>
              <a:rPr kumimoji="1" lang="en-US" altLang="ja-JP" dirty="0"/>
              <a:t>Curved Bregman centroid is Bregman centroid projected onto submanifold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08062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986F9-D552-E1B9-2744-00E82560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5B7B4-75C5-2017-7FC2-A206FD34D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014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C527-3A47-E9D8-6748-FE36BD50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275D3-030B-6F6B-DCD3-F8A218AC1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Uniqueness of symmetrized BD centroid: As a Jeffreys centroid which is a SKL f-divergence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08525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10EF-007B-748D-8E3C-246935B7A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236" y="0"/>
            <a:ext cx="12076771" cy="1325563"/>
          </a:xfrm>
        </p:spPr>
        <p:txBody>
          <a:bodyPr>
            <a:normAutofit/>
          </a:bodyPr>
          <a:lstStyle/>
          <a:p>
            <a:r>
              <a:rPr kumimoji="1" lang="en-US" altLang="ja-JP" sz="4000" b="1" dirty="0">
                <a:solidFill>
                  <a:schemeClr val="accent4"/>
                </a:solidFill>
              </a:rPr>
              <a:t>BDs: A </a:t>
            </a:r>
            <a:r>
              <a:rPr lang="en-US" altLang="ja-JP" sz="4000" b="1" dirty="0">
                <a:solidFill>
                  <a:schemeClr val="accent4"/>
                </a:solidFill>
              </a:rPr>
              <a:t>v</a:t>
            </a:r>
            <a:r>
              <a:rPr kumimoji="1" lang="en-US" altLang="ja-JP" sz="4000" b="1" dirty="0">
                <a:solidFill>
                  <a:schemeClr val="accent4"/>
                </a:solidFill>
              </a:rPr>
              <a:t>ersatile class of dissimilarities</a:t>
            </a:r>
            <a:endParaRPr kumimoji="1" lang="ja-JP" altLang="en-US" sz="4000" b="1" dirty="0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2DFFD1-A390-6667-424D-9967E702F9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5244" y="1253330"/>
                <a:ext cx="11866756" cy="538025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altLang="ja-JP" sz="3800" dirty="0"/>
                  <a:t>Bregman divergences unify various distortions in applications </a:t>
                </a:r>
              </a:p>
              <a:p>
                <a:pPr marL="0" indent="0">
                  <a:buNone/>
                </a:pPr>
                <a:endParaRPr lang="en-US" altLang="ja-JP" i="1" dirty="0"/>
              </a:p>
              <a:p>
                <a:pPr>
                  <a:buFontTx/>
                  <a:buChar char="-"/>
                </a:pPr>
                <a:r>
                  <a:rPr lang="en-US" altLang="ja-JP" b="1" i="1" dirty="0">
                    <a:solidFill>
                      <a:srgbClr val="FF0000"/>
                    </a:solidFill>
                  </a:rPr>
                  <a:t>squared Euclidean divergence </a:t>
                </a:r>
                <a:r>
                  <a:rPr lang="en-US" altLang="ja-JP" i="1" dirty="0"/>
                  <a:t>from </a:t>
                </a:r>
                <a:r>
                  <a:rPr lang="en-US" altLang="ja-JP" dirty="0"/>
                  <a:t>F(</a:t>
                </a:r>
                <a:r>
                  <a:rPr lang="el-GR" altLang="ja-JP" dirty="0"/>
                  <a:t>θ</a:t>
                </a:r>
                <a:r>
                  <a:rPr lang="en-US" altLang="ja-JP" dirty="0"/>
                  <a:t>)=</a:t>
                </a:r>
                <a:r>
                  <a:rPr lang="el-GR" altLang="ja-JP" dirty="0"/>
                  <a:t> </a:t>
                </a:r>
                <a:r>
                  <a:rPr lang="en-US" altLang="ja-JP" dirty="0"/>
                  <a:t>½ </a:t>
                </a:r>
                <a:r>
                  <a:rPr lang="el-GR" altLang="ja-JP" dirty="0"/>
                  <a:t>θ</a:t>
                </a:r>
                <a14:m>
                  <m:oMath xmlns:m="http://schemas.openxmlformats.org/officeDocument/2006/math">
                    <m:r>
                      <a:rPr lang="en-US" altLang="ja-JP" i="1" baseline="3000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ja-JP" baseline="-25000" dirty="0"/>
                  <a:t> </a:t>
                </a:r>
                <a:r>
                  <a:rPr lang="en-US" altLang="ja-JP" dirty="0"/>
                  <a:t>Q </a:t>
                </a:r>
                <a:r>
                  <a:rPr lang="el-GR" altLang="ja-JP" dirty="0"/>
                  <a:t>θ</a:t>
                </a:r>
                <a:r>
                  <a:rPr lang="en-US" altLang="ja-JP" dirty="0"/>
                  <a:t> , </a:t>
                </a:r>
                <a:r>
                  <a:rPr lang="en-US" altLang="ja-JP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Quadratic negentropy</a:t>
                </a:r>
                <a:r>
                  <a:rPr lang="en-US" altLang="ja-JP" dirty="0"/>
                  <a:t>:</a:t>
                </a:r>
                <a:endParaRPr lang="en-US" altLang="ja-JP" i="1" dirty="0"/>
              </a:p>
              <a:p>
                <a:pPr>
                  <a:buFontTx/>
                  <a:buChar char="-"/>
                </a:pPr>
                <a:endParaRPr lang="en-US" altLang="ja-JP" i="1" dirty="0"/>
              </a:p>
              <a:p>
                <a:pPr marL="0" indent="0">
                  <a:buNone/>
                </a:pPr>
                <a:r>
                  <a:rPr lang="en-US" altLang="ja-JP" dirty="0"/>
                  <a:t>B</a:t>
                </a:r>
                <a:r>
                  <a:rPr lang="en-US" altLang="ja-JP" baseline="-25000" dirty="0"/>
                  <a:t>F</a:t>
                </a:r>
                <a:r>
                  <a:rPr lang="en-US" altLang="ja-JP" dirty="0"/>
                  <a:t>(</a:t>
                </a:r>
                <a:r>
                  <a:rPr lang="el-GR" altLang="ja-JP" dirty="0"/>
                  <a:t>θ</a:t>
                </a:r>
                <a:r>
                  <a:rPr lang="en-US" altLang="ja-JP" baseline="-25000" dirty="0"/>
                  <a:t>1</a:t>
                </a:r>
                <a:r>
                  <a:rPr lang="el-GR" altLang="ja-JP" dirty="0"/>
                  <a:t> </a:t>
                </a:r>
                <a:r>
                  <a:rPr lang="en-US" altLang="ja-JP" dirty="0"/>
                  <a:t>:</a:t>
                </a:r>
                <a:r>
                  <a:rPr lang="el-GR" altLang="ja-JP" dirty="0"/>
                  <a:t> θ</a:t>
                </a:r>
                <a:r>
                  <a:rPr lang="en-US" altLang="ja-JP" baseline="-25000" dirty="0"/>
                  <a:t>2</a:t>
                </a:r>
                <a:r>
                  <a:rPr lang="en-US" altLang="ja-JP" dirty="0"/>
                  <a:t>) = ½ (</a:t>
                </a:r>
                <a:r>
                  <a:rPr lang="el-GR" altLang="ja-JP" dirty="0"/>
                  <a:t>θ</a:t>
                </a:r>
                <a:r>
                  <a:rPr lang="en-US" altLang="ja-JP" baseline="-25000" dirty="0"/>
                  <a:t>2 </a:t>
                </a:r>
                <a14:m>
                  <m:oMath xmlns:m="http://schemas.openxmlformats.org/officeDocument/2006/math">
                    <m:r>
                      <a:rPr lang="en-US" altLang="ja-JP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l-GR" altLang="ja-JP" dirty="0"/>
                      <m:t>θ</m:t>
                    </m:r>
                    <m:r>
                      <m:rPr>
                        <m:nor/>
                      </m:rPr>
                      <a:rPr lang="en-US" altLang="ja-JP" baseline="-25000" dirty="0"/>
                      <m:t>1</m:t>
                    </m:r>
                    <m:r>
                      <m:rPr>
                        <m:nor/>
                      </m:rPr>
                      <a:rPr lang="en-US" altLang="ja-JP" dirty="0"/>
                      <m:t>)</m:t>
                    </m:r>
                    <m:r>
                      <a:rPr lang="en-US" altLang="ja-JP" b="0" i="1" baseline="30000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ja-JP" baseline="-25000" dirty="0"/>
                  <a:t>  </a:t>
                </a:r>
                <a:r>
                  <a:rPr lang="en-US" altLang="ja-JP" dirty="0"/>
                  <a:t>Q (</a:t>
                </a:r>
                <a:r>
                  <a:rPr lang="el-GR" altLang="ja-JP" dirty="0"/>
                  <a:t>θ</a:t>
                </a:r>
                <a:r>
                  <a:rPr lang="en-US" altLang="ja-JP" baseline="-25000" dirty="0"/>
                  <a:t>2 </a:t>
                </a:r>
                <a14:m>
                  <m:oMath xmlns:m="http://schemas.openxmlformats.org/officeDocument/2006/math">
                    <m:r>
                      <a:rPr lang="en-US" altLang="ja-JP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b="0" i="0" baseline="30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l-GR" altLang="ja-JP" dirty="0"/>
                      <m:t>θ</m:t>
                    </m:r>
                    <m:r>
                      <m:rPr>
                        <m:nor/>
                      </m:rPr>
                      <a:rPr lang="en-US" altLang="ja-JP" baseline="-25000" dirty="0"/>
                      <m:t>1</m:t>
                    </m:r>
                    <m:r>
                      <m:rPr>
                        <m:nor/>
                      </m:rPr>
                      <a:rPr lang="en-US" altLang="ja-JP" dirty="0"/>
                      <m:t>)</m:t>
                    </m:r>
                    <m:r>
                      <a:rPr lang="en-US" altLang="ja-JP" i="1" baseline="30000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ja-JP" dirty="0"/>
                  <a:t> = ½ || </a:t>
                </a:r>
                <a:r>
                  <a:rPr lang="el-GR" altLang="ja-JP" dirty="0"/>
                  <a:t>θ</a:t>
                </a:r>
                <a:r>
                  <a:rPr lang="en-US" altLang="ja-JP" baseline="-25000" dirty="0"/>
                  <a:t>2 </a:t>
                </a:r>
                <a14:m>
                  <m:oMath xmlns:m="http://schemas.openxmlformats.org/officeDocument/2006/math">
                    <m:r>
                      <a:rPr lang="en-US" altLang="ja-JP" dirty="0">
                        <a:latin typeface="Cambria Math" panose="02040503050406030204" pitchFamily="18" charset="0"/>
                      </a:rPr>
                      <m:t>− </m:t>
                    </m:r>
                    <m:r>
                      <m:rPr>
                        <m:nor/>
                      </m:rPr>
                      <a:rPr lang="el-GR" altLang="ja-JP" dirty="0"/>
                      <m:t>θ</m:t>
                    </m:r>
                    <m:r>
                      <m:rPr>
                        <m:nor/>
                      </m:rPr>
                      <a:rPr lang="en-US" altLang="ja-JP" baseline="-25000" dirty="0"/>
                      <m:t>1</m:t>
                    </m:r>
                    <m:r>
                      <m:rPr>
                        <m:nor/>
                      </m:rPr>
                      <a:rPr lang="en-US" altLang="ja-JP" b="0" i="0" baseline="-25000" dirty="0" smtClean="0"/>
                      <m:t> </m:t>
                    </m:r>
                    <m:r>
                      <m:rPr>
                        <m:nor/>
                      </m:rPr>
                      <a:rPr lang="en-US" altLang="ja-JP" dirty="0"/>
                      <m:t>||</m:t>
                    </m:r>
                  </m:oMath>
                </a14:m>
                <a:r>
                  <a:rPr lang="en-US" altLang="ja-JP" i="1" baseline="30000" dirty="0"/>
                  <a:t>2 </a:t>
                </a:r>
                <a:r>
                  <a:rPr lang="en-US" altLang="ja-JP" baseline="-25000" dirty="0"/>
                  <a:t>Q</a:t>
                </a:r>
                <a:endParaRPr lang="en-US" altLang="ja-JP" i="1" baseline="-25000" dirty="0"/>
              </a:p>
              <a:p>
                <a:pPr marL="0" indent="0">
                  <a:buNone/>
                </a:pPr>
                <a:endParaRPr lang="en-US" altLang="ja-JP" i="1" dirty="0"/>
              </a:p>
              <a:p>
                <a:pPr>
                  <a:buFontTx/>
                  <a:buChar char="-"/>
                </a:pPr>
                <a:r>
                  <a:rPr lang="en-US" altLang="ja-JP" b="1" i="1" dirty="0" err="1">
                    <a:solidFill>
                      <a:srgbClr val="FF0000"/>
                    </a:solidFill>
                  </a:rPr>
                  <a:t>Kullback-Leibler</a:t>
                </a:r>
                <a:r>
                  <a:rPr lang="en-US" altLang="ja-JP" b="1" i="1" dirty="0">
                    <a:solidFill>
                      <a:srgbClr val="FF0000"/>
                    </a:solidFill>
                  </a:rPr>
                  <a:t> divergence </a:t>
                </a:r>
                <a:r>
                  <a:rPr lang="en-US" altLang="ja-JP" i="1" dirty="0"/>
                  <a:t>from </a:t>
                </a:r>
                <a:r>
                  <a:rPr lang="en-US" altLang="ja-JP" dirty="0"/>
                  <a:t>F(</a:t>
                </a:r>
                <a:r>
                  <a:rPr lang="el-GR" altLang="ja-JP" dirty="0"/>
                  <a:t>θ</a:t>
                </a:r>
                <a:r>
                  <a:rPr lang="en-US" altLang="ja-JP" dirty="0"/>
                  <a:t>)=</a:t>
                </a:r>
                <a:r>
                  <a:rPr lang="el-GR" altLang="ja-JP" dirty="0"/>
                  <a:t> </a:t>
                </a:r>
                <a:r>
                  <a:rPr lang="el-GR" altLang="ja-JP" dirty="0">
                    <a:solidFill>
                      <a:srgbClr val="202124"/>
                    </a:solidFill>
                  </a:rPr>
                  <a:t>Σ</a:t>
                </a:r>
                <a:r>
                  <a:rPr lang="en-US" altLang="ja-JP" baseline="-25000" dirty="0" err="1">
                    <a:solidFill>
                      <a:srgbClr val="202124"/>
                    </a:solidFill>
                  </a:rPr>
                  <a:t>i</a:t>
                </a:r>
                <a:r>
                  <a:rPr lang="el-GR" altLang="ja-JP" dirty="0">
                    <a:solidFill>
                      <a:srgbClr val="202124"/>
                    </a:solidFill>
                  </a:rPr>
                  <a:t> 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baseline="-25000" dirty="0"/>
                  <a:t> </a:t>
                </a:r>
                <a:r>
                  <a:rPr lang="en-US" altLang="ja-JP" dirty="0"/>
                  <a:t>log(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dirty="0"/>
                  <a:t>) , </a:t>
                </a:r>
                <a:r>
                  <a:rPr lang="en-US" altLang="ja-JP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Shannon negentropy</a:t>
                </a:r>
                <a:r>
                  <a:rPr lang="en-US" altLang="ja-JP" dirty="0"/>
                  <a:t>: </a:t>
                </a:r>
              </a:p>
              <a:p>
                <a:pPr>
                  <a:buFontTx/>
                  <a:buChar char="-"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en-US" altLang="ja-JP" dirty="0"/>
                  <a:t>B</a:t>
                </a:r>
                <a:r>
                  <a:rPr lang="en-US" altLang="ja-JP" baseline="-25000" dirty="0"/>
                  <a:t>F</a:t>
                </a:r>
                <a:r>
                  <a:rPr lang="en-US" altLang="ja-JP" dirty="0"/>
                  <a:t>(</a:t>
                </a:r>
                <a:r>
                  <a:rPr lang="el-GR" altLang="ja-JP" dirty="0"/>
                  <a:t>θ </a:t>
                </a:r>
                <a:r>
                  <a:rPr lang="en-US" altLang="ja-JP" dirty="0"/>
                  <a:t>:</a:t>
                </a:r>
                <a:r>
                  <a:rPr lang="el-GR" altLang="ja-JP" dirty="0"/>
                  <a:t> θ</a:t>
                </a:r>
                <a:r>
                  <a:rPr lang="en-US" altLang="ja-JP" baseline="30000" dirty="0"/>
                  <a:t>’</a:t>
                </a:r>
                <a:r>
                  <a:rPr lang="en-US" altLang="ja-JP" dirty="0"/>
                  <a:t>) = </a:t>
                </a:r>
                <a:r>
                  <a:rPr lang="el-GR" altLang="ja-JP" dirty="0">
                    <a:solidFill>
                      <a:srgbClr val="202124"/>
                    </a:solidFill>
                  </a:rPr>
                  <a:t>Σ</a:t>
                </a:r>
                <a:r>
                  <a:rPr lang="en-US" altLang="ja-JP" baseline="-25000" dirty="0" err="1">
                    <a:solidFill>
                      <a:srgbClr val="202124"/>
                    </a:solidFill>
                  </a:rPr>
                  <a:t>i</a:t>
                </a:r>
                <a:r>
                  <a:rPr lang="el-GR" altLang="ja-JP" dirty="0">
                    <a:solidFill>
                      <a:srgbClr val="202124"/>
                    </a:solidFill>
                  </a:rPr>
                  <a:t> </a:t>
                </a:r>
                <a:r>
                  <a:rPr lang="en-US" altLang="ja-JP" dirty="0">
                    <a:solidFill>
                      <a:srgbClr val="202124"/>
                    </a:solidFill>
                  </a:rPr>
                  <a:t>{ 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baseline="-25000" dirty="0"/>
                  <a:t> </a:t>
                </a:r>
                <a:r>
                  <a:rPr lang="en-US" altLang="ja-JP" dirty="0"/>
                  <a:t>log(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dirty="0"/>
                  <a:t>/</a:t>
                </a:r>
                <a:r>
                  <a:rPr lang="el-GR" altLang="ja-JP" dirty="0"/>
                  <a:t> θ</a:t>
                </a:r>
                <a:r>
                  <a:rPr lang="en-US" altLang="ja-JP" baseline="-25000" dirty="0" err="1"/>
                  <a:t>i</a:t>
                </a:r>
                <a:r>
                  <a:rPr lang="en-US" altLang="ja-JP" baseline="30000" dirty="0"/>
                  <a:t>’</a:t>
                </a:r>
                <a:r>
                  <a:rPr lang="en-US" altLang="ja-JP" dirty="0"/>
                  <a:t>) +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baseline="30000" dirty="0"/>
                  <a:t>’-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baseline="30000" dirty="0"/>
                  <a:t>   </a:t>
                </a:r>
                <a:r>
                  <a:rPr lang="en-US" altLang="ja-JP" dirty="0"/>
                  <a:t>} =</a:t>
                </a:r>
                <a:r>
                  <a:rPr lang="en-US" altLang="ja-JP" baseline="30000" dirty="0"/>
                  <a:t>  </a:t>
                </a:r>
                <a:r>
                  <a:rPr lang="el-GR" altLang="ja-JP" dirty="0">
                    <a:solidFill>
                      <a:srgbClr val="202124"/>
                    </a:solidFill>
                  </a:rPr>
                  <a:t>Σ</a:t>
                </a:r>
                <a:r>
                  <a:rPr lang="en-US" altLang="ja-JP" baseline="-25000" dirty="0" err="1">
                    <a:solidFill>
                      <a:srgbClr val="202124"/>
                    </a:solidFill>
                  </a:rPr>
                  <a:t>i</a:t>
                </a:r>
                <a:r>
                  <a:rPr lang="el-GR" altLang="ja-JP" dirty="0">
                    <a:solidFill>
                      <a:srgbClr val="202124"/>
                    </a:solidFill>
                  </a:rPr>
                  <a:t> 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baseline="-25000" dirty="0"/>
                  <a:t> </a:t>
                </a:r>
                <a:r>
                  <a:rPr lang="en-US" altLang="ja-JP" dirty="0"/>
                  <a:t>log(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dirty="0"/>
                  <a:t>/</a:t>
                </a:r>
                <a:r>
                  <a:rPr lang="el-GR" altLang="ja-JP" dirty="0"/>
                  <a:t> θ</a:t>
                </a:r>
                <a:r>
                  <a:rPr lang="en-US" altLang="ja-JP" baseline="-25000" dirty="0" err="1"/>
                  <a:t>i</a:t>
                </a:r>
                <a:r>
                  <a:rPr lang="en-US" altLang="ja-JP" baseline="30000" dirty="0"/>
                  <a:t>’</a:t>
                </a:r>
                <a:r>
                  <a:rPr lang="en-US" altLang="ja-JP" dirty="0"/>
                  <a:t>) 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>
                  <a:buFontTx/>
                  <a:buChar char="-"/>
                </a:pPr>
                <a:r>
                  <a:rPr lang="en-US" altLang="ja-JP" dirty="0"/>
                  <a:t> </a:t>
                </a:r>
                <a:r>
                  <a:rPr lang="en-US" altLang="ja-JP" b="1" i="1" dirty="0">
                    <a:solidFill>
                      <a:srgbClr val="FF0000"/>
                    </a:solidFill>
                  </a:rPr>
                  <a:t>Itakura-Saito divergence  </a:t>
                </a:r>
                <a:r>
                  <a:rPr lang="en-US" altLang="ja-JP" i="1" dirty="0"/>
                  <a:t>from </a:t>
                </a:r>
                <a:r>
                  <a:rPr lang="en-US" altLang="ja-JP" dirty="0"/>
                  <a:t>F(</a:t>
                </a:r>
                <a:r>
                  <a:rPr lang="el-GR" altLang="ja-JP" dirty="0"/>
                  <a:t>θ</a:t>
                </a:r>
                <a:r>
                  <a:rPr lang="en-US" altLang="ja-JP" dirty="0"/>
                  <a:t>)=</a:t>
                </a:r>
                <a:r>
                  <a:rPr lang="el-GR" altLang="ja-JP" dirty="0"/>
                  <a:t> </a:t>
                </a:r>
                <a:r>
                  <a:rPr lang="el-GR" altLang="ja-JP" dirty="0">
                    <a:solidFill>
                      <a:srgbClr val="202124"/>
                    </a:solidFill>
                  </a:rPr>
                  <a:t>Σ</a:t>
                </a:r>
                <a:r>
                  <a:rPr lang="en-US" altLang="ja-JP" baseline="-25000" dirty="0" err="1">
                    <a:solidFill>
                      <a:srgbClr val="202124"/>
                    </a:solidFill>
                  </a:rPr>
                  <a:t>i</a:t>
                </a:r>
                <a:r>
                  <a:rPr lang="el-GR" altLang="ja-JP" dirty="0">
                    <a:solidFill>
                      <a:srgbClr val="202124"/>
                    </a:solidFill>
                  </a:rPr>
                  <a:t> </a:t>
                </a:r>
                <a:r>
                  <a:rPr lang="en-US" altLang="ja-JP" dirty="0"/>
                  <a:t>-log(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dirty="0"/>
                  <a:t>), </a:t>
                </a:r>
                <a:r>
                  <a:rPr lang="en-US" altLang="ja-JP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Burg negentropy</a:t>
                </a:r>
                <a:r>
                  <a:rPr lang="en-US" altLang="ja-JP" dirty="0"/>
                  <a:t>:</a:t>
                </a:r>
              </a:p>
              <a:p>
                <a:pPr>
                  <a:buFontTx/>
                  <a:buChar char="-"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en-US" altLang="ja-JP" dirty="0"/>
                  <a:t>B</a:t>
                </a:r>
                <a:r>
                  <a:rPr lang="en-US" altLang="ja-JP" baseline="-25000" dirty="0"/>
                  <a:t>F</a:t>
                </a:r>
                <a:r>
                  <a:rPr lang="en-US" altLang="ja-JP" dirty="0"/>
                  <a:t>(</a:t>
                </a:r>
                <a:r>
                  <a:rPr lang="el-GR" altLang="ja-JP" dirty="0"/>
                  <a:t>θ </a:t>
                </a:r>
                <a:r>
                  <a:rPr lang="en-US" altLang="ja-JP" dirty="0"/>
                  <a:t>:</a:t>
                </a:r>
                <a:r>
                  <a:rPr lang="el-GR" altLang="ja-JP" dirty="0"/>
                  <a:t> θ</a:t>
                </a:r>
                <a:r>
                  <a:rPr lang="en-US" altLang="ja-JP" baseline="30000" dirty="0"/>
                  <a:t>’</a:t>
                </a:r>
                <a:r>
                  <a:rPr lang="en-US" altLang="ja-JP" dirty="0"/>
                  <a:t>) = </a:t>
                </a:r>
                <a:r>
                  <a:rPr lang="el-GR" altLang="ja-JP" dirty="0">
                    <a:solidFill>
                      <a:srgbClr val="202124"/>
                    </a:solidFill>
                  </a:rPr>
                  <a:t>Σ</a:t>
                </a:r>
                <a:r>
                  <a:rPr lang="en-US" altLang="ja-JP" baseline="-25000" dirty="0" err="1">
                    <a:solidFill>
                      <a:srgbClr val="202124"/>
                    </a:solidFill>
                  </a:rPr>
                  <a:t>i</a:t>
                </a:r>
                <a:r>
                  <a:rPr lang="en-US" altLang="ja-JP" baseline="-25000" dirty="0">
                    <a:solidFill>
                      <a:srgbClr val="202124"/>
                    </a:solidFill>
                  </a:rPr>
                  <a:t>  </a:t>
                </a:r>
                <a:r>
                  <a:rPr lang="en-US" altLang="ja-JP" dirty="0"/>
                  <a:t>{ (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dirty="0"/>
                  <a:t>/</a:t>
                </a:r>
                <a:r>
                  <a:rPr lang="el-GR" altLang="ja-JP" dirty="0"/>
                  <a:t> θ</a:t>
                </a:r>
                <a:r>
                  <a:rPr lang="en-US" altLang="ja-JP" baseline="-25000" dirty="0" err="1"/>
                  <a:t>i</a:t>
                </a:r>
                <a:r>
                  <a:rPr lang="en-US" altLang="ja-JP" baseline="30000" dirty="0"/>
                  <a:t>’</a:t>
                </a:r>
                <a:r>
                  <a:rPr lang="en-US" altLang="ja-JP" dirty="0"/>
                  <a:t>) – log (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baseline="30000" dirty="0"/>
                  <a:t>’</a:t>
                </a:r>
                <a:r>
                  <a:rPr lang="en-US" altLang="ja-JP" dirty="0"/>
                  <a:t>/</a:t>
                </a:r>
                <a:r>
                  <a:rPr lang="el-GR" altLang="ja-JP" dirty="0"/>
                  <a:t> θ</a:t>
                </a:r>
                <a:r>
                  <a:rPr lang="en-US" altLang="ja-JP" baseline="-25000" dirty="0" err="1"/>
                  <a:t>i</a:t>
                </a:r>
                <a:r>
                  <a:rPr lang="en-US" altLang="ja-JP" dirty="0"/>
                  <a:t>) -1 }</a:t>
                </a:r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2DFFD1-A390-6667-424D-9967E702F9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5244" y="1253330"/>
                <a:ext cx="11866756" cy="5380252"/>
              </a:xfrm>
              <a:blipFill>
                <a:blip r:embed="rId3"/>
                <a:stretch>
                  <a:fillRect l="-1284" t="-3628" r="-4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 descr="Telecom Stock Illustrations – 19,397 Telecom Stock Illustrations, Vectors &amp;  Clipart - Dreamstime">
            <a:extLst>
              <a:ext uri="{FF2B5EF4-FFF2-40B4-BE49-F238E27FC236}">
                <a16:creationId xmlns:a16="http://schemas.microsoft.com/office/drawing/2014/main" id="{C02E93DB-E58D-2D98-90C8-F14B5D945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1341" y="4039829"/>
            <a:ext cx="1193181" cy="119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Headphone svg, png, jpg, eps, pdf, clipart, vector - Etsy 日本">
            <a:extLst>
              <a:ext uri="{FF2B5EF4-FFF2-40B4-BE49-F238E27FC236}">
                <a16:creationId xmlns:a16="http://schemas.microsoft.com/office/drawing/2014/main" id="{AAA0319E-BB39-F875-BFF8-EC7CF4613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955" y="5572508"/>
            <a:ext cx="1369954" cy="110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Download Math, Graph, Geometry. Royalty-Free Vector Graphic - Pixabay">
            <a:extLst>
              <a:ext uri="{FF2B5EF4-FFF2-40B4-BE49-F238E27FC236}">
                <a16:creationId xmlns:a16="http://schemas.microsoft.com/office/drawing/2014/main" id="{089BFED4-2146-1C19-D0E9-8D59DC4E2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9680" y="2471287"/>
            <a:ext cx="916502" cy="93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649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E7C9-0E4A-72C5-3C55-6CD349D3D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19" y="0"/>
            <a:ext cx="11987561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chemeClr val="accent4"/>
                </a:solidFill>
              </a:rPr>
              <a:t>Relative entropy between Gaussian distributions?</a:t>
            </a:r>
            <a:endParaRPr kumimoji="1" lang="ja-JP" alt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8C8B0-3EDC-B0FD-0A91-3DE9A2CA9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03" y="1223459"/>
            <a:ext cx="11896593" cy="4586326"/>
          </a:xfrm>
        </p:spPr>
        <p:txBody>
          <a:bodyPr/>
          <a:lstStyle/>
          <a:p>
            <a:r>
              <a:rPr kumimoji="1" lang="en-US" altLang="ja-JP" b="1" dirty="0"/>
              <a:t>Relative entropy </a:t>
            </a:r>
            <a:r>
              <a:rPr lang="en-US" altLang="ja-JP" dirty="0"/>
              <a:t>=</a:t>
            </a:r>
            <a:r>
              <a:rPr kumimoji="1" lang="en-US" altLang="ja-JP" dirty="0"/>
              <a:t> </a:t>
            </a:r>
            <a:r>
              <a:rPr kumimoji="1" lang="en-US" altLang="ja-JP" b="1" dirty="0"/>
              <a:t>cross-entropy</a:t>
            </a:r>
            <a:r>
              <a:rPr kumimoji="1" lang="en-US" altLang="ja-JP" dirty="0"/>
              <a:t> minus </a:t>
            </a:r>
            <a:r>
              <a:rPr kumimoji="1" lang="en-US" altLang="ja-JP" b="1" dirty="0"/>
              <a:t>entropy</a:t>
            </a:r>
            <a:r>
              <a:rPr kumimoji="1" lang="en-US" altLang="ja-JP" dirty="0"/>
              <a:t>, a dissimilarity measure in information theory, statistics, ML, etc.</a:t>
            </a:r>
          </a:p>
          <a:p>
            <a:pPr marL="0" indent="0">
              <a:buNone/>
            </a:pPr>
            <a:r>
              <a:rPr lang="en-US" altLang="ja-JP" dirty="0"/>
              <a:t>        called </a:t>
            </a:r>
            <a:r>
              <a:rPr lang="en-US" altLang="ja-JP" b="1" dirty="0" err="1"/>
              <a:t>Kullback-Leibler</a:t>
            </a:r>
            <a:r>
              <a:rPr lang="en-US" altLang="ja-JP" b="1" dirty="0"/>
              <a:t> divergence (KLD) </a:t>
            </a:r>
            <a:r>
              <a:rPr lang="en-US" altLang="ja-JP" dirty="0"/>
              <a:t>in information theory</a:t>
            </a:r>
            <a:r>
              <a:rPr lang="en-US" altLang="ja-JP" b="1" dirty="0"/>
              <a:t>:</a:t>
            </a:r>
          </a:p>
          <a:p>
            <a:pPr marL="0" indent="0">
              <a:buNone/>
            </a:pPr>
            <a:r>
              <a:rPr lang="en-US" altLang="ja-JP" dirty="0"/>
              <a:t> 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endParaRPr lang="en-US" altLang="ja-JP" dirty="0"/>
          </a:p>
          <a:p>
            <a:r>
              <a:rPr lang="en-US" altLang="ja-JP" sz="2400" i="1" dirty="0"/>
              <a:t>How to calculate the KLD between multivariate Gaussian distributions?</a:t>
            </a:r>
            <a:endParaRPr kumimoji="1" lang="ja-JP" altLang="en-US" sz="2400" i="1" dirty="0"/>
          </a:p>
        </p:txBody>
      </p:sp>
      <p:pic>
        <p:nvPicPr>
          <p:cNvPr id="4" name="Picture 2" descr="Image result for kullback-leibler divergence formula">
            <a:extLst>
              <a:ext uri="{FF2B5EF4-FFF2-40B4-BE49-F238E27FC236}">
                <a16:creationId xmlns:a16="http://schemas.microsoft.com/office/drawing/2014/main" id="{50085C7A-CA45-0BA0-B9F8-A16D1EF40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74" y="2772732"/>
            <a:ext cx="2997991" cy="112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9D02F2-3DCC-318F-0EDC-62025CAF4E84}"/>
              </a:ext>
            </a:extLst>
          </p:cNvPr>
          <p:cNvSpPr txBox="1"/>
          <p:nvPr/>
        </p:nvSpPr>
        <p:spPr>
          <a:xfrm>
            <a:off x="6900057" y="3686145"/>
            <a:ext cx="4552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FF0000"/>
                </a:solidFill>
              </a:rPr>
              <a:t>KLD integrals </a:t>
            </a:r>
            <a:r>
              <a:rPr lang="ja-JP" altLang="en-US" sz="2000" b="1" dirty="0">
                <a:solidFill>
                  <a:srgbClr val="FF0000"/>
                </a:solidFill>
                <a:latin typeface="Source Sans Pro" panose="020B0503030403020204" pitchFamily="34" charset="0"/>
              </a:rPr>
              <a:t>∫  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is non-trivial but….</a:t>
            </a:r>
            <a:endParaRPr kumimoji="1" lang="ja-JP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AutoShape 4" descr="Output image">
            <a:extLst>
              <a:ext uri="{FF2B5EF4-FFF2-40B4-BE49-F238E27FC236}">
                <a16:creationId xmlns:a16="http://schemas.microsoft.com/office/drawing/2014/main" id="{F4B3C477-DAD9-05A0-786C-41398E7AB5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8" name="AutoShape 6" descr="Output image">
            <a:extLst>
              <a:ext uri="{FF2B5EF4-FFF2-40B4-BE49-F238E27FC236}">
                <a16:creationId xmlns:a16="http://schemas.microsoft.com/office/drawing/2014/main" id="{FF35AB4C-B955-FD9B-94B7-C67F49143C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AutoShape 8" descr="Output image">
            <a:extLst>
              <a:ext uri="{FF2B5EF4-FFF2-40B4-BE49-F238E27FC236}">
                <a16:creationId xmlns:a16="http://schemas.microsoft.com/office/drawing/2014/main" id="{E6AC18B1-8218-1F33-FCE5-8B6CB24D0A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5418D3-BCF1-AB93-408A-43F6C0354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03" y="4636622"/>
            <a:ext cx="2144266" cy="20434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C13A91-6B8D-C6E3-6F32-E67F8AFC07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7872" y="5901951"/>
            <a:ext cx="9135599" cy="9365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EC9DC0-CD16-83E5-609A-06A919CD3C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9234" y="4636622"/>
            <a:ext cx="5012509" cy="132556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0CEAFB-514B-4614-3BDC-DB165171258A}"/>
              </a:ext>
            </a:extLst>
          </p:cNvPr>
          <p:cNvSpPr txBox="1"/>
          <p:nvPr/>
        </p:nvSpPr>
        <p:spPr>
          <a:xfrm>
            <a:off x="4660761" y="2777093"/>
            <a:ext cx="600196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D</a:t>
            </a:r>
            <a:r>
              <a:rPr lang="en-US" altLang="ja-JP" sz="2400" b="1" baseline="-25000" dirty="0">
                <a:solidFill>
                  <a:srgbClr val="FF0000"/>
                </a:solidFill>
              </a:rPr>
              <a:t>KL</a:t>
            </a:r>
            <a:r>
              <a:rPr lang="en-US" altLang="ja-JP" sz="2400" b="1" dirty="0">
                <a:solidFill>
                  <a:srgbClr val="FF0000"/>
                </a:solidFill>
              </a:rPr>
              <a:t>[p(x):q(x)]=</a:t>
            </a:r>
            <a:r>
              <a:rPr lang="ja-JP" altLang="en-US" sz="2400" b="1" dirty="0">
                <a:solidFill>
                  <a:srgbClr val="FF0000"/>
                </a:solidFill>
                <a:latin typeface="Source Sans Pro" panose="020B0503030403020204" pitchFamily="34" charset="0"/>
              </a:rPr>
              <a:t> ∫ </a:t>
            </a:r>
            <a:r>
              <a:rPr lang="en-US" altLang="ja-JP" sz="2400" b="1" dirty="0">
                <a:solidFill>
                  <a:srgbClr val="FF0000"/>
                </a:solidFill>
                <a:latin typeface="Source Sans Pro" panose="020B0503030403020204" pitchFamily="34" charset="0"/>
              </a:rPr>
              <a:t>p(x) log (p(x)/q(x)) d</a:t>
            </a:r>
            <a:r>
              <a:rPr lang="el-GR" altLang="ja-JP" sz="2400" b="1" dirty="0">
                <a:solidFill>
                  <a:srgbClr val="FF0000"/>
                </a:solidFill>
                <a:latin typeface="Source Sans Pro" panose="020B0503030403020204" pitchFamily="34" charset="0"/>
              </a:rPr>
              <a:t>μ</a:t>
            </a:r>
            <a:r>
              <a:rPr lang="en-US" altLang="ja-JP" sz="2400" b="1" dirty="0">
                <a:solidFill>
                  <a:srgbClr val="FF0000"/>
                </a:solidFill>
                <a:latin typeface="Source Sans Pro" panose="020B0503030403020204" pitchFamily="34" charset="0"/>
              </a:rPr>
              <a:t>(x)</a:t>
            </a:r>
            <a:endParaRPr lang="en-US" altLang="ja-JP" sz="2400" dirty="0"/>
          </a:p>
          <a:p>
            <a:endParaRPr kumimoji="1" lang="ja-JP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7AE134-F991-9BDC-59B4-DBB49942C7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920" y="3363364"/>
            <a:ext cx="795693" cy="7939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0530ED-B4A2-623A-487C-2BDB4DA0B9B3}"/>
              </a:ext>
            </a:extLst>
          </p:cNvPr>
          <p:cNvSpPr txBox="1"/>
          <p:nvPr/>
        </p:nvSpPr>
        <p:spPr>
          <a:xfrm>
            <a:off x="6299754" y="5762130"/>
            <a:ext cx="56909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FF0000"/>
                </a:solidFill>
              </a:rPr>
              <a:t>We need </a:t>
            </a:r>
            <a:r>
              <a:rPr lang="en-US" altLang="ja-JP" sz="2000" b="1" dirty="0">
                <a:solidFill>
                  <a:srgbClr val="FF0000"/>
                </a:solidFill>
              </a:rPr>
              <a:t>e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xpectation </a:t>
            </a:r>
            <a:r>
              <a:rPr kumimoji="1" lang="en-US" altLang="ja-JP" sz="2000" b="1" dirty="0" err="1">
                <a:solidFill>
                  <a:srgbClr val="FF0000"/>
                </a:solidFill>
              </a:rPr>
              <a:t>wrt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 p(x) of this term !?</a:t>
            </a:r>
            <a:endParaRPr kumimoji="1" lang="ja-JP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861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416F0-2778-4441-6BD8-62A40412E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5" y="-192482"/>
            <a:ext cx="11865864" cy="1325563"/>
          </a:xfrm>
        </p:spPr>
        <p:txBody>
          <a:bodyPr>
            <a:normAutofit/>
          </a:bodyPr>
          <a:lstStyle/>
          <a:p>
            <a:r>
              <a:rPr kumimoji="1" lang="en-US" altLang="ja-JP" sz="4000" b="1" dirty="0">
                <a:solidFill>
                  <a:schemeClr val="accent4"/>
                </a:solidFill>
              </a:rPr>
              <a:t>BDs first impacts in ML: Link with </a:t>
            </a:r>
            <a:r>
              <a:rPr lang="en-US" altLang="ja-JP" sz="4000" b="1" dirty="0">
                <a:solidFill>
                  <a:schemeClr val="accent4"/>
                </a:solidFill>
              </a:rPr>
              <a:t>e</a:t>
            </a:r>
            <a:r>
              <a:rPr kumimoji="1" lang="en-US" altLang="ja-JP" sz="4000" b="1" dirty="0">
                <a:solidFill>
                  <a:schemeClr val="accent4"/>
                </a:solidFill>
              </a:rPr>
              <a:t>xponential families</a:t>
            </a:r>
            <a:endParaRPr kumimoji="1" lang="ja-JP" altLang="en-US" sz="4000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97699-D194-8C4F-F939-94EEF538E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096" y="843120"/>
            <a:ext cx="11695176" cy="5513230"/>
          </a:xfrm>
        </p:spPr>
        <p:txBody>
          <a:bodyPr>
            <a:normAutofit fontScale="92500"/>
          </a:bodyPr>
          <a:lstStyle/>
          <a:p>
            <a:r>
              <a:rPr kumimoji="1" lang="en-US" altLang="ja-JP" dirty="0" err="1"/>
              <a:t>Kullback-Leibler</a:t>
            </a:r>
            <a:r>
              <a:rPr kumimoji="1" lang="en-US" altLang="ja-JP" dirty="0"/>
              <a:t> divergence between two probability densities:</a:t>
            </a:r>
            <a:endParaRPr lang="en-US" altLang="ja-JP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ja-JP" dirty="0">
                <a:solidFill>
                  <a:srgbClr val="FF0000"/>
                </a:solidFill>
              </a:rPr>
              <a:t>                     </a:t>
            </a:r>
            <a:r>
              <a:rPr lang="en-US" altLang="ja-JP" b="1" dirty="0"/>
              <a:t>D</a:t>
            </a:r>
            <a:r>
              <a:rPr lang="en-US" altLang="ja-JP" b="1" baseline="-25000" dirty="0"/>
              <a:t>KL</a:t>
            </a:r>
            <a:r>
              <a:rPr lang="en-US" altLang="ja-JP" b="1" dirty="0"/>
              <a:t>[p(x):q(x)]=</a:t>
            </a:r>
            <a:r>
              <a:rPr lang="ja-JP" altLang="en-US" b="1" i="0" dirty="0">
                <a:effectLst/>
                <a:latin typeface="Source Sans Pro" panose="020B0503030403020204" pitchFamily="34" charset="0"/>
              </a:rPr>
              <a:t> </a:t>
            </a:r>
            <a:r>
              <a:rPr lang="ja-JP" altLang="en-US" sz="4800" b="1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∫</a:t>
            </a:r>
            <a:r>
              <a:rPr lang="ja-JP" altLang="en-US" b="1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b="1" i="0" dirty="0">
                <a:effectLst/>
                <a:latin typeface="Source Sans Pro" panose="020B0503030403020204" pitchFamily="34" charset="0"/>
              </a:rPr>
              <a:t>p(x) log (p(x)/q(x)) d</a:t>
            </a:r>
            <a:r>
              <a:rPr lang="el-GR" altLang="ja-JP" b="1" i="0" dirty="0">
                <a:effectLst/>
                <a:latin typeface="Source Sans Pro" panose="020B0503030403020204" pitchFamily="34" charset="0"/>
              </a:rPr>
              <a:t>μ</a:t>
            </a:r>
            <a:r>
              <a:rPr lang="en-US" altLang="ja-JP" b="1" i="0" dirty="0">
                <a:effectLst/>
                <a:latin typeface="Source Sans Pro" panose="020B0503030403020204" pitchFamily="34" charset="0"/>
              </a:rPr>
              <a:t>(x)</a:t>
            </a:r>
            <a:endParaRPr lang="en-US" altLang="ja-JP" b="1" dirty="0"/>
          </a:p>
          <a:p>
            <a:pPr marL="0" indent="0">
              <a:buNone/>
            </a:pPr>
            <a:r>
              <a:rPr lang="en-US" altLang="ja-JP" dirty="0"/>
              <a:t>      can be </a:t>
            </a:r>
            <a:r>
              <a:rPr lang="en-US" altLang="ja-JP" b="1" dirty="0"/>
              <a:t>difficult to calculate in closed form </a:t>
            </a:r>
            <a:r>
              <a:rPr lang="en-US" altLang="ja-JP" dirty="0"/>
              <a:t>because of the integral </a:t>
            </a:r>
            <a:r>
              <a:rPr lang="ja-JP" altLang="en-US" i="0" dirty="0">
                <a:effectLst/>
                <a:latin typeface="Source Sans Pro" panose="020B0503030403020204" pitchFamily="34" charset="0"/>
              </a:rPr>
              <a:t>∫ 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kumimoji="1" lang="en-US" altLang="ja-JP" dirty="0"/>
              <a:t>But </a:t>
            </a:r>
            <a:r>
              <a:rPr kumimoji="1" lang="en-US" altLang="ja-JP" dirty="0" err="1"/>
              <a:t>Kullback-Leibler</a:t>
            </a:r>
            <a:r>
              <a:rPr kumimoji="1" lang="en-US" altLang="ja-JP" dirty="0"/>
              <a:t> divergence between two probability densities of an </a:t>
            </a:r>
            <a:r>
              <a:rPr kumimoji="1" lang="en-US" altLang="ja-JP" b="1" dirty="0">
                <a:solidFill>
                  <a:srgbClr val="FF0000"/>
                </a:solidFill>
              </a:rPr>
              <a:t>exponential family </a:t>
            </a:r>
            <a:r>
              <a:rPr lang="en-US" altLang="ja-JP" dirty="0">
                <a:latin typeface="Source Sans Pro" panose="020B0503030403020204" pitchFamily="34" charset="0"/>
              </a:rPr>
              <a:t>with densities </a:t>
            </a:r>
            <a:r>
              <a:rPr lang="en-US" altLang="ja-JP" dirty="0">
                <a:highlight>
                  <a:srgbClr val="FFFF00"/>
                </a:highlight>
                <a:latin typeface="Source Sans Pro" panose="020B0503030403020204" pitchFamily="34" charset="0"/>
              </a:rPr>
              <a:t>p(x|</a:t>
            </a:r>
            <a:r>
              <a:rPr lang="el-GR" altLang="ja-JP" dirty="0">
                <a:highlight>
                  <a:srgbClr val="FFFF00"/>
                </a:highlight>
                <a:latin typeface="Source Sans Pro" panose="020B0503030403020204" pitchFamily="34" charset="0"/>
              </a:rPr>
              <a:t> θ</a:t>
            </a:r>
            <a:r>
              <a:rPr lang="en-US" altLang="ja-JP" dirty="0">
                <a:highlight>
                  <a:srgbClr val="FFFF00"/>
                </a:highlight>
                <a:latin typeface="Source Sans Pro" panose="020B0503030403020204" pitchFamily="34" charset="0"/>
              </a:rPr>
              <a:t>) = exp( &lt;t(x),</a:t>
            </a:r>
            <a:r>
              <a:rPr lang="el-GR" altLang="ja-JP" dirty="0">
                <a:highlight>
                  <a:srgbClr val="FFFF00"/>
                </a:highlight>
                <a:latin typeface="Source Sans Pro" panose="020B0503030403020204" pitchFamily="34" charset="0"/>
              </a:rPr>
              <a:t> θ </a:t>
            </a:r>
            <a:r>
              <a:rPr lang="en-US" altLang="ja-JP" dirty="0">
                <a:highlight>
                  <a:srgbClr val="FFFF00"/>
                </a:highlight>
                <a:latin typeface="Source Sans Pro" panose="020B0503030403020204" pitchFamily="34" charset="0"/>
              </a:rPr>
              <a:t>&gt;-F(</a:t>
            </a:r>
            <a:r>
              <a:rPr lang="el-GR" altLang="ja-JP" dirty="0">
                <a:highlight>
                  <a:srgbClr val="FFFF00"/>
                </a:highlight>
                <a:latin typeface="Source Sans Pro" panose="020B0503030403020204" pitchFamily="34" charset="0"/>
              </a:rPr>
              <a:t>θ</a:t>
            </a:r>
            <a:r>
              <a:rPr lang="en-US" altLang="ja-JP" dirty="0">
                <a:highlight>
                  <a:srgbClr val="FFFF00"/>
                </a:highlight>
                <a:latin typeface="Source Sans Pro" panose="020B0503030403020204" pitchFamily="34" charset="0"/>
              </a:rPr>
              <a:t>) )</a:t>
            </a:r>
            <a:endParaRPr kumimoji="1" lang="en-US" altLang="ja-JP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kumimoji="1" lang="en-US" altLang="ja-JP" dirty="0"/>
              <a:t>   amount to a </a:t>
            </a:r>
            <a:r>
              <a:rPr lang="en-US" altLang="ja-JP" b="1" dirty="0">
                <a:solidFill>
                  <a:schemeClr val="accent4"/>
                </a:solidFill>
              </a:rPr>
              <a:t> </a:t>
            </a:r>
            <a:r>
              <a:rPr kumimoji="1" lang="en-US" altLang="ja-JP" b="1" dirty="0">
                <a:solidFill>
                  <a:srgbClr val="FF0000"/>
                </a:solidFill>
              </a:rPr>
              <a:t>reverse Bregman divergence</a:t>
            </a:r>
            <a:r>
              <a:rPr kumimoji="1" lang="en-US" altLang="ja-JP" dirty="0">
                <a:solidFill>
                  <a:srgbClr val="FF0000"/>
                </a:solidFill>
              </a:rPr>
              <a:t> </a:t>
            </a:r>
            <a:r>
              <a:rPr lang="en-US" altLang="ja-JP" b="1" dirty="0" err="1"/>
              <a:t>B</a:t>
            </a:r>
            <a:r>
              <a:rPr lang="en-US" altLang="ja-JP" b="1" baseline="-25000" dirty="0" err="1"/>
              <a:t>F</a:t>
            </a:r>
            <a:r>
              <a:rPr lang="en-US" altLang="ja-JP" b="1" baseline="30000" dirty="0" err="1"/>
              <a:t>rev</a:t>
            </a:r>
            <a:r>
              <a:rPr lang="en-US" altLang="ja-JP" b="1" dirty="0"/>
              <a:t>(</a:t>
            </a:r>
            <a:r>
              <a:rPr lang="el-GR" altLang="ja-JP" b="1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b="1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b="1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b="1" dirty="0"/>
              <a:t>:</a:t>
            </a:r>
            <a:r>
              <a:rPr lang="el-GR" altLang="ja-JP" b="1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b="1" i="0" baseline="-25000" dirty="0"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b="1" dirty="0"/>
              <a:t>) := B</a:t>
            </a:r>
            <a:r>
              <a:rPr lang="en-US" altLang="ja-JP" b="1" baseline="-25000" dirty="0"/>
              <a:t>F</a:t>
            </a:r>
            <a:r>
              <a:rPr lang="en-US" altLang="ja-JP" b="1" dirty="0"/>
              <a:t>(</a:t>
            </a:r>
            <a:r>
              <a:rPr lang="el-GR" altLang="ja-JP" b="1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b="1" baseline="-25000" dirty="0">
                <a:latin typeface="Source Sans Pro" panose="020B0503030403020204" pitchFamily="34" charset="0"/>
              </a:rPr>
              <a:t>2</a:t>
            </a:r>
            <a:r>
              <a:rPr lang="el-GR" altLang="ja-JP" b="1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b="1" dirty="0"/>
              <a:t>:</a:t>
            </a:r>
            <a:r>
              <a:rPr lang="el-GR" altLang="ja-JP" b="1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b="1" baseline="-25000" dirty="0">
                <a:latin typeface="Source Sans Pro" panose="020B0503030403020204" pitchFamily="34" charset="0"/>
              </a:rPr>
              <a:t>1</a:t>
            </a:r>
            <a:r>
              <a:rPr lang="en-US" altLang="ja-JP" b="1" dirty="0"/>
              <a:t>) </a:t>
            </a:r>
          </a:p>
          <a:p>
            <a:pPr marL="0" indent="0">
              <a:buNone/>
            </a:pPr>
            <a:r>
              <a:rPr lang="en-US" altLang="ja-JP" b="1" dirty="0">
                <a:solidFill>
                  <a:schemeClr val="accent4"/>
                </a:solidFill>
              </a:rPr>
              <a:t>   </a:t>
            </a:r>
            <a:r>
              <a:rPr lang="en-US" altLang="ja-JP" dirty="0"/>
              <a:t>w</a:t>
            </a:r>
            <a:r>
              <a:rPr kumimoji="1" lang="en-US" altLang="ja-JP" dirty="0"/>
              <a:t>here F is the </a:t>
            </a:r>
            <a:r>
              <a:rPr kumimoji="1" lang="en-US" altLang="ja-JP" b="1" dirty="0"/>
              <a:t>cumulant function </a:t>
            </a:r>
            <a:r>
              <a:rPr kumimoji="1" lang="en-US" altLang="ja-JP" dirty="0"/>
              <a:t>(log partition/log Laplace function)</a:t>
            </a:r>
          </a:p>
          <a:p>
            <a:pPr marL="0" indent="0">
              <a:buNone/>
            </a:pPr>
            <a:r>
              <a:rPr lang="en-US" altLang="ja-JP" b="1" dirty="0">
                <a:solidFill>
                  <a:srgbClr val="FF0000"/>
                </a:solidFill>
              </a:rPr>
              <a:t>      </a:t>
            </a:r>
            <a:r>
              <a:rPr lang="en-US" altLang="ja-JP" sz="3000" b="1" dirty="0">
                <a:solidFill>
                  <a:srgbClr val="FF0000"/>
                </a:solidFill>
                <a:highlight>
                  <a:srgbClr val="FFFF00"/>
                </a:highlight>
              </a:rPr>
              <a:t>D</a:t>
            </a:r>
            <a:r>
              <a:rPr lang="en-US" altLang="ja-JP" sz="3000" b="1" baseline="-25000" dirty="0">
                <a:solidFill>
                  <a:srgbClr val="FF0000"/>
                </a:solidFill>
                <a:highlight>
                  <a:srgbClr val="FFFF00"/>
                </a:highlight>
              </a:rPr>
              <a:t>KL</a:t>
            </a:r>
            <a:r>
              <a:rPr lang="en-US" altLang="ja-JP" sz="3000" b="1" dirty="0">
                <a:solidFill>
                  <a:srgbClr val="FF0000"/>
                </a:solidFill>
                <a:highlight>
                  <a:srgbClr val="FFFF00"/>
                </a:highlight>
              </a:rPr>
              <a:t>[p</a:t>
            </a:r>
            <a:r>
              <a:rPr lang="en-US" altLang="ja-JP" sz="3000" b="1" dirty="0">
                <a:solidFill>
                  <a:srgbClr val="FF0000"/>
                </a:solidFill>
                <a:highlight>
                  <a:srgbClr val="FFFF00"/>
                </a:highlight>
                <a:latin typeface="Source Sans Pro" panose="020B0503030403020204" pitchFamily="34" charset="0"/>
              </a:rPr>
              <a:t>(x|</a:t>
            </a:r>
            <a:r>
              <a:rPr lang="el-GR" altLang="ja-JP" sz="30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θ</a:t>
            </a:r>
            <a:r>
              <a:rPr lang="en-US" altLang="ja-JP" sz="3000" b="1" i="0" baseline="-250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1</a:t>
            </a:r>
            <a:r>
              <a:rPr lang="en-US" altLang="ja-JP" sz="3000" dirty="0">
                <a:solidFill>
                  <a:srgbClr val="FF0000"/>
                </a:solidFill>
                <a:highlight>
                  <a:srgbClr val="FFFF00"/>
                </a:highlight>
              </a:rPr>
              <a:t>)</a:t>
            </a:r>
            <a:r>
              <a:rPr lang="en-US" altLang="ja-JP" sz="3000" b="1" i="0" baseline="-250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 </a:t>
            </a:r>
            <a:r>
              <a:rPr lang="en-US" altLang="ja-JP" sz="3000" b="1" dirty="0">
                <a:solidFill>
                  <a:srgbClr val="FF0000"/>
                </a:solidFill>
                <a:highlight>
                  <a:srgbClr val="FFFF00"/>
                </a:highlight>
              </a:rPr>
              <a:t>: p</a:t>
            </a:r>
            <a:r>
              <a:rPr lang="en-US" altLang="ja-JP" sz="3000" b="1" dirty="0">
                <a:solidFill>
                  <a:srgbClr val="FF0000"/>
                </a:solidFill>
                <a:highlight>
                  <a:srgbClr val="FFFF00"/>
                </a:highlight>
                <a:latin typeface="Source Sans Pro" panose="020B0503030403020204" pitchFamily="34" charset="0"/>
              </a:rPr>
              <a:t>(x|</a:t>
            </a:r>
            <a:r>
              <a:rPr lang="el-GR" altLang="ja-JP" sz="30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θ</a:t>
            </a:r>
            <a:r>
              <a:rPr lang="en-US" altLang="ja-JP" sz="3000" b="1" baseline="-25000" dirty="0">
                <a:solidFill>
                  <a:srgbClr val="FF0000"/>
                </a:solidFill>
                <a:highlight>
                  <a:srgbClr val="FFFF00"/>
                </a:highlight>
                <a:latin typeface="Source Sans Pro" panose="020B0503030403020204" pitchFamily="34" charset="0"/>
              </a:rPr>
              <a:t>2</a:t>
            </a:r>
            <a:r>
              <a:rPr lang="en-US" altLang="ja-JP" sz="3000" dirty="0">
                <a:solidFill>
                  <a:srgbClr val="FF0000"/>
                </a:solidFill>
                <a:highlight>
                  <a:srgbClr val="FFFF00"/>
                </a:highlight>
              </a:rPr>
              <a:t>)</a:t>
            </a:r>
            <a:r>
              <a:rPr lang="en-US" altLang="ja-JP" sz="3000" b="1" i="0" baseline="-250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 </a:t>
            </a:r>
            <a:r>
              <a:rPr lang="en-US" altLang="ja-JP" sz="3000" b="1" dirty="0">
                <a:solidFill>
                  <a:srgbClr val="FF0000"/>
                </a:solidFill>
                <a:highlight>
                  <a:srgbClr val="FFFF00"/>
                </a:highlight>
              </a:rPr>
              <a:t>] = </a:t>
            </a:r>
            <a:r>
              <a:rPr lang="en-US" altLang="ja-JP" sz="30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B</a:t>
            </a:r>
            <a:r>
              <a:rPr lang="en-US" altLang="ja-JP" sz="3000" b="1" baseline="-25000" dirty="0" err="1">
                <a:solidFill>
                  <a:srgbClr val="FF0000"/>
                </a:solidFill>
                <a:highlight>
                  <a:srgbClr val="FFFF00"/>
                </a:highlight>
              </a:rPr>
              <a:t>F</a:t>
            </a:r>
            <a:r>
              <a:rPr lang="en-US" altLang="ja-JP" sz="3000" b="1" baseline="30000" dirty="0" err="1">
                <a:solidFill>
                  <a:srgbClr val="FF0000"/>
                </a:solidFill>
                <a:highlight>
                  <a:srgbClr val="FFFF00"/>
                </a:highlight>
              </a:rPr>
              <a:t>rev</a:t>
            </a:r>
            <a:r>
              <a:rPr lang="en-US" altLang="ja-JP" sz="3000" b="1" dirty="0">
                <a:solidFill>
                  <a:srgbClr val="FF0000"/>
                </a:solidFill>
                <a:highlight>
                  <a:srgbClr val="FFFF00"/>
                </a:highlight>
              </a:rPr>
              <a:t>(</a:t>
            </a:r>
            <a:r>
              <a:rPr lang="el-GR" altLang="ja-JP" sz="30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θ</a:t>
            </a:r>
            <a:r>
              <a:rPr lang="en-US" altLang="ja-JP" sz="3000" b="1" i="0" baseline="-250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1</a:t>
            </a:r>
            <a:r>
              <a:rPr lang="el-GR" altLang="ja-JP" sz="30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 </a:t>
            </a:r>
            <a:r>
              <a:rPr lang="en-US" altLang="ja-JP" sz="3000" b="1" dirty="0">
                <a:solidFill>
                  <a:srgbClr val="FF0000"/>
                </a:solidFill>
                <a:highlight>
                  <a:srgbClr val="FFFF00"/>
                </a:highlight>
              </a:rPr>
              <a:t>:</a:t>
            </a:r>
            <a:r>
              <a:rPr lang="el-GR" altLang="ja-JP" sz="30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 θ</a:t>
            </a:r>
            <a:r>
              <a:rPr lang="en-US" altLang="ja-JP" sz="3000" b="1" i="0" baseline="-250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2</a:t>
            </a:r>
            <a:r>
              <a:rPr lang="en-US" altLang="ja-JP" sz="3000" b="1" dirty="0">
                <a:solidFill>
                  <a:srgbClr val="FF0000"/>
                </a:solidFill>
                <a:highlight>
                  <a:srgbClr val="FFFF00"/>
                </a:highlight>
              </a:rPr>
              <a:t>) </a:t>
            </a:r>
            <a:r>
              <a:rPr lang="en-US" altLang="ja-JP" sz="3000" b="1" dirty="0"/>
              <a:t>= B</a:t>
            </a:r>
            <a:r>
              <a:rPr lang="en-US" altLang="ja-JP" sz="3000" b="1" baseline="-25000" dirty="0"/>
              <a:t>F</a:t>
            </a:r>
            <a:r>
              <a:rPr lang="en-US" altLang="ja-JP" sz="3000" b="1" dirty="0"/>
              <a:t>(</a:t>
            </a:r>
            <a:r>
              <a:rPr lang="el-GR" altLang="ja-JP" sz="3000" b="1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3000" b="1" baseline="-25000" dirty="0">
                <a:latin typeface="Source Sans Pro" panose="020B0503030403020204" pitchFamily="34" charset="0"/>
              </a:rPr>
              <a:t>2</a:t>
            </a:r>
            <a:r>
              <a:rPr lang="el-GR" altLang="ja-JP" sz="3000" b="1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3000" b="1" dirty="0"/>
              <a:t>:</a:t>
            </a:r>
            <a:r>
              <a:rPr lang="el-GR" altLang="ja-JP" sz="3000" b="1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3000" b="1" baseline="-25000" dirty="0">
                <a:latin typeface="Source Sans Pro" panose="020B0503030403020204" pitchFamily="34" charset="0"/>
              </a:rPr>
              <a:t>1</a:t>
            </a:r>
            <a:r>
              <a:rPr lang="en-US" altLang="ja-JP" sz="3000" b="1" dirty="0"/>
              <a:t>)  </a:t>
            </a:r>
          </a:p>
          <a:p>
            <a:pPr marL="0" indent="0">
              <a:buNone/>
            </a:pPr>
            <a:r>
              <a:rPr lang="en-US" altLang="ja-JP" sz="2800" b="1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BDs </a:t>
            </a:r>
            <a:r>
              <a:rPr lang="en-US" altLang="ja-JP" sz="2800" b="1" i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wrt</a:t>
            </a:r>
            <a:r>
              <a:rPr lang="en-US" altLang="ja-JP" sz="2800" b="1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 CFs between parameters = reverse KLD distributions</a:t>
            </a:r>
          </a:p>
          <a:p>
            <a:pPr marL="0" indent="0">
              <a:buNone/>
            </a:pPr>
            <a:r>
              <a:rPr lang="ja-JP" altLang="en-US" sz="280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                                                        ⇒ </a:t>
            </a:r>
            <a:r>
              <a:rPr lang="en-US" altLang="ja-JP" sz="280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Easy calculations of KLDs</a:t>
            </a:r>
            <a:r>
              <a:rPr lang="en-US" altLang="ja-JP" b="1" dirty="0">
                <a:solidFill>
                  <a:srgbClr val="FF0000"/>
                </a:solidFill>
              </a:rPr>
              <a:t>                 </a:t>
            </a:r>
            <a:endParaRPr lang="en-US" altLang="ja-JP" dirty="0">
              <a:solidFill>
                <a:srgbClr val="FF0000"/>
              </a:solidFill>
            </a:endParaRPr>
          </a:p>
          <a:p>
            <a:endParaRPr kumimoji="1" lang="ja-JP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0446C-EBC4-F2A8-10EA-E4E4DB9BB191}"/>
              </a:ext>
            </a:extLst>
          </p:cNvPr>
          <p:cNvSpPr txBox="1"/>
          <p:nvPr/>
        </p:nvSpPr>
        <p:spPr>
          <a:xfrm>
            <a:off x="713232" y="6298478"/>
            <a:ext cx="114787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i="0" dirty="0" err="1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Azoury</a:t>
            </a:r>
            <a:r>
              <a:rPr lang="en-US" altLang="ja-JP" sz="1600" b="1" i="0" dirty="0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, Katy S., and Manfred K. </a:t>
            </a:r>
            <a:r>
              <a:rPr lang="en-US" altLang="ja-JP" sz="1600" b="1" i="0" dirty="0" err="1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Warmuth</a:t>
            </a:r>
            <a:r>
              <a:rPr lang="en-US" altLang="ja-JP" sz="1600" b="1" i="0" dirty="0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. "Relative loss bounds for on-line density estimation with the exponential family of distributions." </a:t>
            </a:r>
            <a:r>
              <a:rPr lang="en-US" altLang="ja-JP" sz="1600" b="1" i="1" dirty="0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Machine learning</a:t>
            </a:r>
            <a:r>
              <a:rPr lang="en-US" altLang="ja-JP" sz="1600" b="1" i="0" dirty="0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 43 (2001)</a:t>
            </a:r>
            <a:endParaRPr lang="ja-JP" altLang="en-US" sz="1600" b="1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20300-FE36-3C69-7461-220752D8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226C-95D4-40B8-9E1A-366D2434025F}" type="slidenum">
              <a:rPr kumimoji="1" lang="ja-JP" altLang="en-US" smtClean="0"/>
              <a:t>23</a:t>
            </a:fld>
            <a:endParaRPr kumimoji="1" lang="ja-JP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C1D6EB-7408-A4A7-2892-5142590BF92E}"/>
              </a:ext>
            </a:extLst>
          </p:cNvPr>
          <p:cNvSpPr txBox="1"/>
          <p:nvPr/>
        </p:nvSpPr>
        <p:spPr>
          <a:xfrm>
            <a:off x="387096" y="5676626"/>
            <a:ext cx="68355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Bypass the</a:t>
            </a:r>
            <a:r>
              <a:rPr lang="ja-JP" altLang="en-US" sz="3200" i="0" dirty="0">
                <a:effectLst/>
                <a:latin typeface="Source Sans Pro" panose="020B0503030403020204" pitchFamily="34" charset="0"/>
              </a:rPr>
              <a:t> ∫</a:t>
            </a:r>
            <a:r>
              <a:rPr lang="en-US" altLang="ja-JP" sz="3200" i="0" dirty="0">
                <a:effectLst/>
                <a:latin typeface="Source Sans Pro" panose="020B0503030403020204" pitchFamily="34" charset="0"/>
              </a:rPr>
              <a:t>, </a:t>
            </a:r>
            <a:r>
              <a:rPr lang="ja-JP" altLang="en-US" sz="2800" b="0" i="0" dirty="0">
                <a:effectLst/>
                <a:latin typeface="Source Sans Pro" panose="020B0503030403020204" pitchFamily="34" charset="0"/>
              </a:rPr>
              <a:t>∇</a:t>
            </a:r>
            <a:r>
              <a:rPr lang="en-US" altLang="ja-JP" sz="2800" b="0" i="0" dirty="0">
                <a:effectLst/>
                <a:latin typeface="Source Sans Pro" panose="020B0503030403020204" pitchFamily="34" charset="0"/>
              </a:rPr>
              <a:t>F in BD  easy to calculate!</a:t>
            </a:r>
            <a:endParaRPr kumimoji="1" lang="ja-JP" altLang="en-US" sz="2800" dirty="0"/>
          </a:p>
          <a:p>
            <a:endParaRPr kumimoji="1" lang="ja-JP" altLang="en-US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0FB608-A2CF-78A6-1A0D-820154B08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7995" y="4678719"/>
            <a:ext cx="584775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4F5DCF-29B7-98A0-1882-A111ABF04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69" y="1539989"/>
            <a:ext cx="701119" cy="69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454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7FC1A-F9A8-3137-8628-C13FD8983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-117180"/>
            <a:ext cx="11506200" cy="1325563"/>
          </a:xfrm>
        </p:spPr>
        <p:txBody>
          <a:bodyPr/>
          <a:lstStyle/>
          <a:p>
            <a:r>
              <a:rPr kumimoji="1" lang="en-US" altLang="ja-JP" dirty="0">
                <a:solidFill>
                  <a:schemeClr val="accent4"/>
                </a:solidFill>
              </a:rPr>
              <a:t>Example: KLD between Gaussians from BD</a:t>
            </a:r>
            <a:endParaRPr kumimoji="1" lang="ja-JP" altLang="en-US" dirty="0">
              <a:solidFill>
                <a:schemeClr val="accent4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CD4A77-F799-8A77-04D2-6CF8740CE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83" y="2347906"/>
            <a:ext cx="7936918" cy="9327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8A8D18-F4EB-59D1-2FED-79F9658CC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664" y="3429000"/>
            <a:ext cx="6475728" cy="581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91BE3D-63F0-EB70-6FF0-8345B9843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37" y="4161227"/>
            <a:ext cx="6829986" cy="7998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D62B78-73DC-A859-D528-5AC22E105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23" y="5088163"/>
            <a:ext cx="2074741" cy="4726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4D48A2-D09D-6A98-0D82-6A5E3071AF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3233" y="4200714"/>
            <a:ext cx="4598768" cy="7208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DEE33B-21B0-DA3E-7696-DC265F95A0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494" y="1372257"/>
            <a:ext cx="8193492" cy="7524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682F81-6AF9-EB8C-6D5F-E5B49F544D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4227" y="5096676"/>
            <a:ext cx="3799647" cy="4726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C5C0BB3-F845-AE8E-D99C-6ACCF5FE12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623" y="5963219"/>
            <a:ext cx="10197227" cy="723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248B78-5FDC-15AF-7C8C-AA42C54BDD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9499" y="4961028"/>
            <a:ext cx="4314974" cy="771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F40DD7-D1C6-4FC5-B7F0-43A1A5A3FA33}"/>
              </a:ext>
            </a:extLst>
          </p:cNvPr>
          <p:cNvSpPr txBox="1"/>
          <p:nvPr/>
        </p:nvSpPr>
        <p:spPr>
          <a:xfrm>
            <a:off x="1566042" y="8625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ja-JP" sz="1800" b="1" dirty="0"/>
              <a:t>D</a:t>
            </a:r>
            <a:r>
              <a:rPr lang="en-US" altLang="ja-JP" sz="1800" b="1" baseline="-25000" dirty="0"/>
              <a:t>KL</a:t>
            </a:r>
            <a:r>
              <a:rPr lang="en-US" altLang="ja-JP" sz="1800" b="1" dirty="0"/>
              <a:t>[p</a:t>
            </a:r>
            <a:r>
              <a:rPr lang="en-US" altLang="ja-JP" sz="1800" b="1" dirty="0">
                <a:latin typeface="Source Sans Pro" panose="020B0503030403020204" pitchFamily="34" charset="0"/>
              </a:rPr>
              <a:t>(x|</a:t>
            </a:r>
            <a:r>
              <a:rPr lang="el-GR" altLang="ja-JP" sz="1800" b="1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1800" b="1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n-US" altLang="ja-JP" sz="1800" dirty="0"/>
              <a:t>)</a:t>
            </a:r>
            <a:r>
              <a:rPr lang="en-US" altLang="ja-JP" sz="1800" b="1" i="0" baseline="-2500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1800" b="1" dirty="0"/>
              <a:t>: p</a:t>
            </a:r>
            <a:r>
              <a:rPr lang="en-US" altLang="ja-JP" sz="1800" b="1" dirty="0">
                <a:latin typeface="Source Sans Pro" panose="020B0503030403020204" pitchFamily="34" charset="0"/>
              </a:rPr>
              <a:t>(x|</a:t>
            </a:r>
            <a:r>
              <a:rPr lang="el-GR" altLang="ja-JP" sz="1800" b="1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1800" b="1" baseline="-25000" dirty="0">
                <a:latin typeface="Source Sans Pro" panose="020B0503030403020204" pitchFamily="34" charset="0"/>
              </a:rPr>
              <a:t>2</a:t>
            </a:r>
            <a:r>
              <a:rPr lang="en-US" altLang="ja-JP" sz="1800" dirty="0"/>
              <a:t>)</a:t>
            </a:r>
            <a:r>
              <a:rPr lang="en-US" altLang="ja-JP" sz="1800" b="1" i="0" baseline="-2500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1800" b="1" dirty="0"/>
              <a:t>] = B</a:t>
            </a:r>
            <a:r>
              <a:rPr lang="en-US" altLang="ja-JP" sz="1800" b="1" baseline="-25000" dirty="0"/>
              <a:t>F</a:t>
            </a:r>
            <a:r>
              <a:rPr lang="en-US" altLang="ja-JP" sz="1800" b="1" dirty="0"/>
              <a:t>(</a:t>
            </a:r>
            <a:r>
              <a:rPr lang="el-GR" altLang="ja-JP" sz="1800" b="1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1800" b="1" baseline="-25000" dirty="0">
                <a:latin typeface="Source Sans Pro" panose="020B0503030403020204" pitchFamily="34" charset="0"/>
              </a:rPr>
              <a:t>2</a:t>
            </a:r>
            <a:r>
              <a:rPr lang="el-GR" altLang="ja-JP" sz="1800" b="1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1800" b="1" dirty="0"/>
              <a:t>:</a:t>
            </a:r>
            <a:r>
              <a:rPr lang="el-GR" altLang="ja-JP" sz="1800" b="1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1800" b="1" baseline="-25000" dirty="0">
                <a:latin typeface="Source Sans Pro" panose="020B0503030403020204" pitchFamily="34" charset="0"/>
              </a:rPr>
              <a:t>1</a:t>
            </a:r>
            <a:r>
              <a:rPr lang="en-US" altLang="ja-JP" sz="1800" b="1" dirty="0"/>
              <a:t>)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31287D-F542-5B8C-9348-CB6B6ACD6589}"/>
              </a:ext>
            </a:extLst>
          </p:cNvPr>
          <p:cNvSpPr txBox="1"/>
          <p:nvPr/>
        </p:nvSpPr>
        <p:spPr>
          <a:xfrm>
            <a:off x="5871003" y="8338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>
                <a:latin typeface="Source Sans Pro" panose="020B0503030403020204" pitchFamily="34" charset="0"/>
              </a:rPr>
              <a:t>p(x|</a:t>
            </a:r>
            <a:r>
              <a:rPr lang="el-GR" altLang="ja-JP" b="1" dirty="0">
                <a:latin typeface="Source Sans Pro" panose="020B0503030403020204" pitchFamily="34" charset="0"/>
              </a:rPr>
              <a:t> θ</a:t>
            </a:r>
            <a:r>
              <a:rPr lang="en-US" altLang="ja-JP" b="1" dirty="0">
                <a:latin typeface="Source Sans Pro" panose="020B0503030403020204" pitchFamily="34" charset="0"/>
              </a:rPr>
              <a:t>) = exp( &lt;t(x),</a:t>
            </a:r>
            <a:r>
              <a:rPr lang="el-GR" altLang="ja-JP" b="1" dirty="0">
                <a:latin typeface="Source Sans Pro" panose="020B0503030403020204" pitchFamily="34" charset="0"/>
              </a:rPr>
              <a:t> θ </a:t>
            </a:r>
            <a:r>
              <a:rPr lang="en-US" altLang="ja-JP" b="1" dirty="0">
                <a:latin typeface="Source Sans Pro" panose="020B0503030403020204" pitchFamily="34" charset="0"/>
              </a:rPr>
              <a:t>&gt;-F(</a:t>
            </a:r>
            <a:r>
              <a:rPr lang="el-GR" altLang="ja-JP" b="1" dirty="0">
                <a:latin typeface="Source Sans Pro" panose="020B0503030403020204" pitchFamily="34" charset="0"/>
              </a:rPr>
              <a:t>θ</a:t>
            </a:r>
            <a:r>
              <a:rPr lang="en-US" altLang="ja-JP" b="1" dirty="0">
                <a:latin typeface="Source Sans Pro" panose="020B0503030403020204" pitchFamily="34" charset="0"/>
              </a:rPr>
              <a:t>) )</a:t>
            </a:r>
            <a:endParaRPr kumimoji="1" lang="en-US" altLang="ja-JP" b="1" dirty="0"/>
          </a:p>
        </p:txBody>
      </p:sp>
      <p:sp>
        <p:nvSpPr>
          <p:cNvPr id="12" name="Arrow: Curved Right 11">
            <a:extLst>
              <a:ext uri="{FF2B5EF4-FFF2-40B4-BE49-F238E27FC236}">
                <a16:creationId xmlns:a16="http://schemas.microsoft.com/office/drawing/2014/main" id="{25BC677D-35C5-6469-A3FD-505B16305ED9}"/>
              </a:ext>
            </a:extLst>
          </p:cNvPr>
          <p:cNvSpPr/>
          <p:nvPr/>
        </p:nvSpPr>
        <p:spPr>
          <a:xfrm>
            <a:off x="224998" y="1027499"/>
            <a:ext cx="562794" cy="5830501"/>
          </a:xfrm>
          <a:prstGeom prst="curvedRightArrow">
            <a:avLst>
              <a:gd name="adj1" fmla="val 21449"/>
              <a:gd name="adj2" fmla="val 153900"/>
              <a:gd name="adj3" fmla="val 25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A8D192-5251-70F2-A67A-06492595E23A}"/>
              </a:ext>
            </a:extLst>
          </p:cNvPr>
          <p:cNvSpPr txBox="1"/>
          <p:nvPr/>
        </p:nvSpPr>
        <p:spPr>
          <a:xfrm>
            <a:off x="363608" y="3520272"/>
            <a:ext cx="46682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Non-unique canonical decomposition: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48305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EFD3D-D67D-F923-EBE6-EED99ABC6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9233A-4F43-8D85-5E37-14F473AD8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02B957-70D6-A32F-200E-E947CA990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8737"/>
            <a:ext cx="7874964" cy="15177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A0C7433-5D40-7063-7D34-6DA22123FB98}"/>
              </a:ext>
            </a:extLst>
          </p:cNvPr>
          <p:cNvSpPr txBox="1"/>
          <p:nvPr/>
        </p:nvSpPr>
        <p:spPr>
          <a:xfrm>
            <a:off x="5695658" y="4065895"/>
            <a:ext cx="61318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A toy example: Curved circle Euclidean divergence</a:t>
            </a:r>
            <a:endParaRPr kumimoji="1" lang="ja-JP" alt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6E48B9-788B-E5F4-A1F6-F2624C493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919" y="4765531"/>
            <a:ext cx="4994081" cy="1727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FCE8DF-214F-A63E-069F-9F621D6A68B0}"/>
              </a:ext>
            </a:extLst>
          </p:cNvPr>
          <p:cNvSpPr txBox="1"/>
          <p:nvPr/>
        </p:nvSpPr>
        <p:spPr>
          <a:xfrm>
            <a:off x="7257006" y="6391361"/>
            <a:ext cx="4714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accent2"/>
                </a:solidFill>
              </a:rPr>
              <a:t>A constant, thus not a Bregman generator!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DD395-48C0-AFD6-388D-1997BCCA8D9C}"/>
              </a:ext>
            </a:extLst>
          </p:cNvPr>
          <p:cNvSpPr txBox="1"/>
          <p:nvPr/>
        </p:nvSpPr>
        <p:spPr>
          <a:xfrm>
            <a:off x="2040156" y="6421992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accent2"/>
                </a:solidFill>
              </a:rPr>
              <a:t>N</a:t>
            </a:r>
            <a:r>
              <a:rPr kumimoji="1" lang="en-US" altLang="ja-JP" dirty="0">
                <a:solidFill>
                  <a:schemeClr val="accent2"/>
                </a:solidFill>
              </a:rPr>
              <a:t>ot a Bregman divergence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3FD9B8-A628-2262-FB3F-8A1451C65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46" y="589935"/>
            <a:ext cx="10834312" cy="417559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483F907-1AFA-6C0A-DCD4-7F54BCEF813E}"/>
              </a:ext>
            </a:extLst>
          </p:cNvPr>
          <p:cNvSpPr txBox="1">
            <a:spLocks/>
          </p:cNvSpPr>
          <p:nvPr/>
        </p:nvSpPr>
        <p:spPr>
          <a:xfrm>
            <a:off x="210636" y="-230188"/>
            <a:ext cx="119626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i="1" dirty="0">
                <a:solidFill>
                  <a:schemeClr val="accent4"/>
                </a:solidFill>
              </a:rPr>
              <a:t>Toy example</a:t>
            </a:r>
            <a:r>
              <a:rPr lang="en-US" altLang="ja-JP" b="1" dirty="0">
                <a:solidFill>
                  <a:schemeClr val="accent4"/>
                </a:solidFill>
              </a:rPr>
              <a:t>: curved </a:t>
            </a:r>
            <a:r>
              <a:rPr lang="en-US" altLang="ja-JP" b="1">
                <a:solidFill>
                  <a:schemeClr val="accent4"/>
                </a:solidFill>
              </a:rPr>
              <a:t>circle Euclidean </a:t>
            </a:r>
            <a:r>
              <a:rPr lang="en-US" altLang="ja-JP" b="1" dirty="0">
                <a:solidFill>
                  <a:schemeClr val="accent4"/>
                </a:solidFill>
              </a:rPr>
              <a:t>divergence</a:t>
            </a:r>
            <a:endParaRPr lang="ja-JP" altLang="en-US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339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10197</TotalTime>
  <Words>2149</Words>
  <Application>Microsoft Office PowerPoint</Application>
  <PresentationFormat>Widescreen</PresentationFormat>
  <Paragraphs>219</Paragraphs>
  <Slides>25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-apple-system</vt:lpstr>
      <vt:lpstr>Google Sans</vt:lpstr>
      <vt:lpstr>Inter</vt:lpstr>
      <vt:lpstr>Noto Sans JP</vt:lpstr>
      <vt:lpstr>游ゴシック</vt:lpstr>
      <vt:lpstr>游ゴシック Light</vt:lpstr>
      <vt:lpstr>Arial</vt:lpstr>
      <vt:lpstr>Cambria</vt:lpstr>
      <vt:lpstr>Cambria Math</vt:lpstr>
      <vt:lpstr>Georgia</vt:lpstr>
      <vt:lpstr>Source Sans Pro</vt:lpstr>
      <vt:lpstr>Verdana</vt:lpstr>
      <vt:lpstr>Office Theme</vt:lpstr>
      <vt:lpstr>Curved Bregman divergences  </vt:lpstr>
      <vt:lpstr>Bregman divergences  (1960’s)</vt:lpstr>
      <vt:lpstr>Some taxonomy of BDs</vt:lpstr>
      <vt:lpstr>Representational Bregman divergences (2009)</vt:lpstr>
      <vt:lpstr>Extendedα-divergences are representational BDs</vt:lpstr>
      <vt:lpstr>β-divergences are representational BDs</vt:lpstr>
      <vt:lpstr>Subdimensional Bregman divergences…</vt:lpstr>
      <vt:lpstr>Subdimensional Bregman divergences…</vt:lpstr>
      <vt:lpstr>Subdimensional Bregman divergences…</vt:lpstr>
      <vt:lpstr>Curved Bregman divergences (cBDs)</vt:lpstr>
      <vt:lpstr>Curved Bregman divergence example: The cosine dissimilarity between unit vectors</vt:lpstr>
      <vt:lpstr>Example of curved BDs: Symmetrized BDs</vt:lpstr>
      <vt:lpstr>PowerPoint Presentation</vt:lpstr>
      <vt:lpstr>Another example of curved Bregman divergences:</vt:lpstr>
      <vt:lpstr>Curved Bregman centroid is the  Bregman projection of the full Bregman centroid</vt:lpstr>
      <vt:lpstr>Usually duality of regular BD with regular EF</vt:lpstr>
      <vt:lpstr>Symmetrized Bregman centroids in closed-form</vt:lpstr>
      <vt:lpstr>Summary: Some examples of curved BDs</vt:lpstr>
      <vt:lpstr>PowerPoint Presentation</vt:lpstr>
      <vt:lpstr>PowerPoint Presentation</vt:lpstr>
      <vt:lpstr>BDs: A versatile class of dissimilarities</vt:lpstr>
      <vt:lpstr>Relative entropy between Gaussian distributions?</vt:lpstr>
      <vt:lpstr>BDs first impacts in ML: Link with exponential families</vt:lpstr>
      <vt:lpstr>Example: KLD between Gaussians from BD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Nielsen, Frank (Sony CSL)</dc:creator>
  <cp:lastModifiedBy>Nielsen, Frank (SonyCSL)</cp:lastModifiedBy>
  <cp:revision>26</cp:revision>
  <dcterms:created xsi:type="dcterms:W3CDTF">2025-07-01T06:40:04Z</dcterms:created>
  <dcterms:modified xsi:type="dcterms:W3CDTF">2026-07-10T03:56:26Z</dcterms:modified>
</cp:coreProperties>
</file>
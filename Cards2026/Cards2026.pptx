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13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86E08E-C30E-4F7C-A138-6A5CC91749A4}" type="datetimeFigureOut">
              <a:rPr kumimoji="1" lang="ja-JP" altLang="en-US" smtClean="0"/>
              <a:t>2026/2/11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D6490-805A-4110-917A-7230CAE79C9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556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D6490-805A-4110-917A-7230CAE79C9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6596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4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046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4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4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219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2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6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51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5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2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35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57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EE9B70-CBBF-FC25-0447-ED197D0E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48" y="266557"/>
            <a:ext cx="11350851" cy="916234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ja-JP" dirty="0">
                <a:solidFill>
                  <a:srgbClr val="92D050"/>
                </a:solidFill>
              </a:rPr>
              <a:t>arithmetic-geometric-harmonic</a:t>
            </a:r>
            <a:br>
              <a:rPr lang="en-US" altLang="ja-JP" dirty="0">
                <a:solidFill>
                  <a:srgbClr val="92D050"/>
                </a:solidFill>
              </a:rPr>
            </a:br>
            <a:r>
              <a:rPr lang="en-US" altLang="ja-JP" dirty="0">
                <a:solidFill>
                  <a:srgbClr val="92D050"/>
                </a:solidFill>
              </a:rPr>
              <a:t>       matrix mean inequality</a:t>
            </a:r>
            <a:r>
              <a:rPr lang="ja-JP" altLang="en-US" dirty="0">
                <a:solidFill>
                  <a:srgbClr val="92D050"/>
                </a:solidFill>
              </a:rPr>
              <a:t>　</a:t>
            </a:r>
            <a:r>
              <a:rPr lang="en-US" altLang="ja-JP" dirty="0">
                <a:solidFill>
                  <a:srgbClr val="92D050"/>
                </a:solidFill>
              </a:rPr>
              <a:t>(AGH inequality)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C12D7-CDD8-1A42-7577-10CAF5EBCD19}"/>
              </a:ext>
            </a:extLst>
          </p:cNvPr>
          <p:cNvSpPr txBox="1"/>
          <p:nvPr/>
        </p:nvSpPr>
        <p:spPr>
          <a:xfrm>
            <a:off x="478338" y="1495626"/>
            <a:ext cx="10226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+mn-ea"/>
              </a:rPr>
              <a:t>Matrix X</a:t>
            </a:r>
            <a:r>
              <a:rPr lang="ja-JP" altLang="en-US" sz="2400" dirty="0">
                <a:latin typeface="+mn-ea"/>
              </a:rPr>
              <a:t>≻</a:t>
            </a:r>
            <a:r>
              <a:rPr lang="en-US" altLang="ja-JP" sz="2400" dirty="0">
                <a:latin typeface="+mn-ea"/>
              </a:rPr>
              <a:t>0</a:t>
            </a:r>
            <a:r>
              <a:rPr kumimoji="1" lang="en-US" altLang="ja-JP" sz="2400" dirty="0">
                <a:latin typeface="+mn-ea"/>
              </a:rPr>
              <a:t> is symmetric positive-definite (SPD) </a:t>
            </a:r>
            <a:r>
              <a:rPr kumimoji="1" lang="en-US" altLang="ja-JP" sz="2400" dirty="0" err="1">
                <a:latin typeface="+mn-ea"/>
              </a:rPr>
              <a:t>iff</a:t>
            </a:r>
            <a:r>
              <a:rPr kumimoji="1" lang="en-US" altLang="ja-JP" sz="2400" dirty="0">
                <a:latin typeface="+mn-ea"/>
              </a:rPr>
              <a:t>. for all x</a:t>
            </a:r>
            <a:r>
              <a:rPr lang="ja-JP" altLang="en-US" sz="2400" dirty="0">
                <a:latin typeface="+mn-ea"/>
              </a:rPr>
              <a:t> ≠ </a:t>
            </a:r>
            <a:r>
              <a:rPr kumimoji="1" lang="en-US" altLang="ja-JP" sz="2400" dirty="0">
                <a:latin typeface="+mn-ea"/>
              </a:rPr>
              <a:t>0, </a:t>
            </a:r>
            <a:r>
              <a:rPr kumimoji="1" lang="en-US" altLang="ja-JP" sz="2400" dirty="0" err="1">
                <a:latin typeface="+mn-ea"/>
              </a:rPr>
              <a:t>x</a:t>
            </a:r>
            <a:r>
              <a:rPr kumimoji="1" lang="en-US" altLang="ja-JP" sz="2400" baseline="30000" dirty="0" err="1">
                <a:latin typeface="+mn-ea"/>
              </a:rPr>
              <a:t>T</a:t>
            </a:r>
            <a:r>
              <a:rPr kumimoji="1" lang="en-US" altLang="ja-JP" sz="2400" dirty="0">
                <a:latin typeface="+mn-ea"/>
              </a:rPr>
              <a:t> X </a:t>
            </a:r>
            <a:r>
              <a:rPr kumimoji="1" lang="en-US" altLang="ja-JP" sz="2400" dirty="0" err="1">
                <a:latin typeface="+mn-ea"/>
              </a:rPr>
              <a:t>x</a:t>
            </a:r>
            <a:r>
              <a:rPr kumimoji="1" lang="en-US" altLang="ja-JP" sz="2400" dirty="0">
                <a:latin typeface="+mn-ea"/>
              </a:rPr>
              <a:t> &gt;0, </a:t>
            </a:r>
          </a:p>
          <a:p>
            <a:r>
              <a:rPr kumimoji="1" lang="en-US" altLang="ja-JP" sz="2400" dirty="0">
                <a:latin typeface="+mn-ea"/>
              </a:rPr>
              <a:t>Matrix X</a:t>
            </a:r>
            <a:r>
              <a:rPr lang="ja-JP" altLang="en-US" sz="2400" dirty="0">
                <a:latin typeface="+mn-ea"/>
              </a:rPr>
              <a:t>⪰ </a:t>
            </a:r>
            <a:r>
              <a:rPr lang="en-US" altLang="ja-JP" sz="2400" dirty="0">
                <a:latin typeface="+mn-ea"/>
              </a:rPr>
              <a:t>0 </a:t>
            </a:r>
            <a:r>
              <a:rPr kumimoji="1" lang="en-US" altLang="ja-JP" sz="2400" dirty="0">
                <a:latin typeface="+mn-ea"/>
              </a:rPr>
              <a:t>positive semi-definite (PSD) </a:t>
            </a:r>
            <a:r>
              <a:rPr lang="en-US" altLang="ja-JP" sz="2400" dirty="0" err="1">
                <a:latin typeface="+mn-ea"/>
              </a:rPr>
              <a:t>iff</a:t>
            </a:r>
            <a:r>
              <a:rPr lang="en-US" altLang="ja-JP" sz="2400" dirty="0">
                <a:latin typeface="+mn-ea"/>
              </a:rPr>
              <a:t>. for all x, </a:t>
            </a:r>
            <a:r>
              <a:rPr lang="en-US" altLang="ja-JP" sz="2400" dirty="0" err="1">
                <a:latin typeface="+mn-ea"/>
              </a:rPr>
              <a:t>x</a:t>
            </a:r>
            <a:r>
              <a:rPr lang="en-US" altLang="ja-JP" sz="2400" baseline="30000" dirty="0" err="1">
                <a:latin typeface="+mn-ea"/>
              </a:rPr>
              <a:t>T</a:t>
            </a:r>
            <a:r>
              <a:rPr lang="en-US" altLang="ja-JP" sz="2400" dirty="0">
                <a:latin typeface="+mn-ea"/>
              </a:rPr>
              <a:t> X </a:t>
            </a:r>
            <a:r>
              <a:rPr lang="en-US" altLang="ja-JP" sz="2400" dirty="0" err="1">
                <a:latin typeface="+mn-ea"/>
              </a:rPr>
              <a:t>x</a:t>
            </a:r>
            <a:r>
              <a:rPr lang="en-US" altLang="ja-JP" sz="2400" dirty="0">
                <a:latin typeface="+mn-ea"/>
              </a:rPr>
              <a:t> </a:t>
            </a:r>
            <a:r>
              <a:rPr lang="ja-JP" altLang="en-US" sz="2400" dirty="0">
                <a:latin typeface="+mn-ea"/>
              </a:rPr>
              <a:t>≥  </a:t>
            </a:r>
            <a:r>
              <a:rPr lang="en-US" altLang="ja-JP" sz="2400" dirty="0">
                <a:latin typeface="+mn-ea"/>
              </a:rPr>
              <a:t>0,</a:t>
            </a:r>
            <a:endParaRPr kumimoji="1" lang="en-US" altLang="ja-JP" sz="2400" dirty="0">
              <a:latin typeface="+mn-ea"/>
            </a:endParaRPr>
          </a:p>
          <a:p>
            <a:r>
              <a:rPr lang="en-US" altLang="ja-JP" sz="2400" dirty="0" err="1">
                <a:latin typeface="+mn-ea"/>
              </a:rPr>
              <a:t>Lowner</a:t>
            </a:r>
            <a:r>
              <a:rPr lang="en-US" altLang="ja-JP" sz="2400" dirty="0">
                <a:latin typeface="+mn-ea"/>
              </a:rPr>
              <a:t> partial ordering X </a:t>
            </a:r>
            <a:r>
              <a:rPr lang="ja-JP" altLang="en-US" sz="2400" dirty="0">
                <a:latin typeface="+mn-ea"/>
              </a:rPr>
              <a:t>⪰ </a:t>
            </a:r>
            <a:r>
              <a:rPr lang="en-US" altLang="ja-JP" sz="2400" dirty="0">
                <a:latin typeface="+mn-ea"/>
              </a:rPr>
              <a:t>Y  X-Y</a:t>
            </a:r>
            <a:r>
              <a:rPr lang="ja-JP" altLang="en-US" sz="2400" dirty="0">
                <a:latin typeface="+mn-ea"/>
              </a:rPr>
              <a:t> ⪰</a:t>
            </a:r>
            <a:r>
              <a:rPr lang="en-US" altLang="ja-JP" sz="2400" dirty="0">
                <a:latin typeface="+mn-ea"/>
              </a:rPr>
              <a:t> 0</a:t>
            </a:r>
            <a:endParaRPr kumimoji="1" lang="ja-JP" altLang="en-US" sz="24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3FE63-36B1-4A63-D4B8-E9F23132145F}"/>
              </a:ext>
            </a:extLst>
          </p:cNvPr>
          <p:cNvSpPr txBox="1"/>
          <p:nvPr/>
        </p:nvSpPr>
        <p:spPr>
          <a:xfrm>
            <a:off x="684548" y="2749292"/>
            <a:ext cx="5778120" cy="2872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Means of two SPD matrices X and Y: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400" dirty="0">
                <a:solidFill>
                  <a:srgbClr val="FF0000"/>
                </a:solidFill>
              </a:rPr>
              <a:t>Arithmetic</a:t>
            </a:r>
            <a:r>
              <a:rPr kumimoji="1" lang="en-US" altLang="ja-JP" sz="2400" dirty="0"/>
              <a:t>: A= (X+Y)/2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dirty="0">
                <a:solidFill>
                  <a:srgbClr val="F313D8"/>
                </a:solidFill>
              </a:rPr>
              <a:t>Geometric</a:t>
            </a:r>
            <a:r>
              <a:rPr lang="en-US" altLang="ja-JP" sz="2400" dirty="0"/>
              <a:t>: G= </a:t>
            </a:r>
            <a:r>
              <a:rPr lang="pt-BR" altLang="ja-JP" sz="2400" dirty="0"/>
              <a:t>X</a:t>
            </a:r>
            <a:r>
              <a:rPr lang="pt-BR" altLang="ja-JP" sz="2400" baseline="30000" dirty="0"/>
              <a:t>½</a:t>
            </a:r>
            <a:r>
              <a:rPr lang="pt-BR" altLang="ja-JP" sz="2400" dirty="0"/>
              <a:t> (X</a:t>
            </a:r>
            <a:r>
              <a:rPr lang="pt-BR" altLang="ja-JP" sz="2400" baseline="30000" dirty="0"/>
              <a:t>-½</a:t>
            </a:r>
            <a:r>
              <a:rPr lang="pt-BR" altLang="ja-JP" sz="2400" dirty="0"/>
              <a:t>  Y X</a:t>
            </a:r>
            <a:r>
              <a:rPr lang="pt-BR" altLang="ja-JP" sz="2400" baseline="30000" dirty="0"/>
              <a:t>-½</a:t>
            </a:r>
            <a:r>
              <a:rPr lang="pt-BR" altLang="ja-JP" sz="2400" dirty="0"/>
              <a:t> )</a:t>
            </a:r>
            <a:r>
              <a:rPr lang="pt-BR" altLang="ja-JP" sz="2400" baseline="30000" dirty="0"/>
              <a:t>½</a:t>
            </a:r>
            <a:r>
              <a:rPr lang="pt-BR" altLang="ja-JP" sz="2400" dirty="0"/>
              <a:t> X</a:t>
            </a:r>
            <a:r>
              <a:rPr lang="pt-BR" altLang="ja-JP" sz="2400" baseline="30000" dirty="0"/>
              <a:t>½</a:t>
            </a:r>
            <a:endParaRPr lang="en-US" altLang="ja-JP" sz="2400" dirty="0"/>
          </a:p>
          <a:p>
            <a:r>
              <a:rPr lang="en-US" altLang="ja-JP" sz="2400" dirty="0"/>
              <a:t>        </a:t>
            </a:r>
            <a:r>
              <a:rPr lang="en-US" altLang="ja-JP" sz="2000" dirty="0"/>
              <a:t>(Riemannian Karcher mean </a:t>
            </a:r>
            <a:r>
              <a:rPr lang="en-US" altLang="ja-JP" sz="2000" dirty="0" err="1"/>
              <a:t>wrt</a:t>
            </a:r>
            <a:r>
              <a:rPr lang="en-US" altLang="ja-JP" sz="2000" dirty="0"/>
              <a:t>. trace metric)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400" dirty="0">
                <a:solidFill>
                  <a:srgbClr val="00B0F0"/>
                </a:solidFill>
              </a:rPr>
              <a:t>Harmonic</a:t>
            </a:r>
            <a:r>
              <a:rPr lang="en-US" altLang="ja-JP" sz="2400" dirty="0"/>
              <a:t>: H=2 (X</a:t>
            </a:r>
            <a:r>
              <a:rPr lang="en-US" altLang="ja-JP" sz="2400" baseline="30000" dirty="0"/>
              <a:t>-1</a:t>
            </a:r>
            <a:r>
              <a:rPr lang="en-US" altLang="ja-JP" sz="2400" dirty="0"/>
              <a:t>+Y</a:t>
            </a:r>
            <a:r>
              <a:rPr lang="en-US" altLang="ja-JP" sz="2400" baseline="30000" dirty="0"/>
              <a:t>-1</a:t>
            </a:r>
            <a:r>
              <a:rPr lang="en-US" altLang="ja-JP" sz="2400" dirty="0"/>
              <a:t>)</a:t>
            </a:r>
            <a:r>
              <a:rPr lang="en-US" altLang="ja-JP" sz="2400" baseline="30000" dirty="0"/>
              <a:t>-1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3200" baseline="30000" dirty="0"/>
          </a:p>
          <a:p>
            <a:endParaRPr lang="en-US" altLang="ja-JP" dirty="0"/>
          </a:p>
          <a:p>
            <a:r>
              <a:rPr lang="en-US" altLang="ja-JP" sz="3200" baseline="300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D7B78-7318-50B5-BD3A-A11FD9BDFBF7}"/>
              </a:ext>
            </a:extLst>
          </p:cNvPr>
          <p:cNvSpPr txBox="1"/>
          <p:nvPr/>
        </p:nvSpPr>
        <p:spPr>
          <a:xfrm>
            <a:off x="3010201" y="5079256"/>
            <a:ext cx="9165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+mn-ea"/>
              </a:rPr>
              <a:t>Visualize a 2x2 SPD matrix X by its ellipsoid E(X)={ x : </a:t>
            </a:r>
            <a:r>
              <a:rPr kumimoji="1" lang="en-US" altLang="ja-JP" sz="2400" dirty="0" err="1">
                <a:latin typeface="+mn-ea"/>
              </a:rPr>
              <a:t>x</a:t>
            </a:r>
            <a:r>
              <a:rPr kumimoji="1" lang="en-US" altLang="ja-JP" sz="2400" baseline="30000" dirty="0" err="1">
                <a:latin typeface="+mn-ea"/>
              </a:rPr>
              <a:t>T</a:t>
            </a:r>
            <a:r>
              <a:rPr kumimoji="1" lang="en-US" altLang="ja-JP" sz="2400" dirty="0">
                <a:latin typeface="+mn-ea"/>
              </a:rPr>
              <a:t> X </a:t>
            </a:r>
            <a:r>
              <a:rPr kumimoji="1" lang="en-US" altLang="ja-JP" sz="2400" dirty="0" err="1">
                <a:latin typeface="+mn-ea"/>
              </a:rPr>
              <a:t>x</a:t>
            </a:r>
            <a:r>
              <a:rPr kumimoji="1" lang="en-US" altLang="ja-JP" sz="2400" dirty="0">
                <a:latin typeface="+mn-ea"/>
              </a:rPr>
              <a:t> </a:t>
            </a:r>
            <a:r>
              <a:rPr lang="ja-JP" altLang="en-US" sz="2400" dirty="0">
                <a:latin typeface="+mn-ea"/>
              </a:rPr>
              <a:t>≤ </a:t>
            </a:r>
            <a:r>
              <a:rPr lang="en-US" altLang="ja-JP" sz="2400" dirty="0">
                <a:latin typeface="+mn-ea"/>
              </a:rPr>
              <a:t>1</a:t>
            </a:r>
            <a:r>
              <a:rPr kumimoji="1" lang="en-US" altLang="ja-JP" sz="2400" dirty="0">
                <a:latin typeface="+mn-ea"/>
              </a:rPr>
              <a:t>} </a:t>
            </a:r>
            <a:endParaRPr kumimoji="1" lang="ja-JP" altLang="en-US" sz="24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AFC546-93E3-99C6-4CCF-52405C36ED42}"/>
              </a:ext>
            </a:extLst>
          </p:cNvPr>
          <p:cNvSpPr txBox="1"/>
          <p:nvPr/>
        </p:nvSpPr>
        <p:spPr>
          <a:xfrm>
            <a:off x="800100" y="5680212"/>
            <a:ext cx="10499990" cy="8309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4800" dirty="0">
                <a:solidFill>
                  <a:srgbClr val="FF0000"/>
                </a:solidFill>
                <a:latin typeface="+mn-ea"/>
              </a:rPr>
              <a:t>A</a:t>
            </a:r>
            <a:r>
              <a:rPr lang="ja-JP" altLang="en-US" sz="4800" dirty="0"/>
              <a:t> ⪰ </a:t>
            </a:r>
            <a:r>
              <a:rPr lang="en-US" altLang="ja-JP" sz="4800" dirty="0">
                <a:solidFill>
                  <a:srgbClr val="F313D8"/>
                </a:solidFill>
              </a:rPr>
              <a:t>G</a:t>
            </a:r>
            <a:r>
              <a:rPr lang="ja-JP" altLang="en-US" sz="4800" dirty="0"/>
              <a:t> ⪰ </a:t>
            </a:r>
            <a:r>
              <a:rPr lang="en-US" altLang="ja-JP" sz="4800" dirty="0">
                <a:solidFill>
                  <a:srgbClr val="0070C0"/>
                </a:solidFill>
              </a:rPr>
              <a:t>H</a:t>
            </a:r>
            <a:r>
              <a:rPr lang="en-US" altLang="ja-JP" sz="4800" dirty="0"/>
              <a:t>   </a:t>
            </a:r>
            <a:r>
              <a:rPr lang="ja-JP" altLang="en-US" sz="4800" dirty="0"/>
              <a:t>⇔   </a:t>
            </a:r>
            <a:r>
              <a:rPr lang="en-US" altLang="ja-JP" sz="4800" dirty="0">
                <a:solidFill>
                  <a:srgbClr val="0070C0"/>
                </a:solidFill>
              </a:rPr>
              <a:t>E(H)</a:t>
            </a:r>
            <a:r>
              <a:rPr lang="en-US" altLang="ja-JP" sz="4800" dirty="0"/>
              <a:t> </a:t>
            </a:r>
            <a:r>
              <a:rPr lang="ja-JP" altLang="en-US" sz="4800" dirty="0"/>
              <a:t>⊆ </a:t>
            </a:r>
            <a:r>
              <a:rPr lang="en-US" altLang="ja-JP" sz="4800" dirty="0">
                <a:solidFill>
                  <a:srgbClr val="F313D8"/>
                </a:solidFill>
              </a:rPr>
              <a:t>E(G)</a:t>
            </a:r>
            <a:r>
              <a:rPr lang="en-US" altLang="ja-JP" sz="4800" dirty="0"/>
              <a:t> </a:t>
            </a:r>
            <a:r>
              <a:rPr lang="ja-JP" altLang="en-US" sz="4800" dirty="0"/>
              <a:t>⊆  </a:t>
            </a:r>
            <a:r>
              <a:rPr lang="en-US" altLang="ja-JP" sz="4800" dirty="0">
                <a:solidFill>
                  <a:srgbClr val="FF0000"/>
                </a:solidFill>
              </a:rPr>
              <a:t>E(A)</a:t>
            </a:r>
            <a:r>
              <a:rPr kumimoji="1" lang="en-US" altLang="ja-JP" sz="4800" dirty="0">
                <a:solidFill>
                  <a:srgbClr val="FF0000"/>
                </a:solidFill>
                <a:latin typeface="+mn-ea"/>
              </a:rPr>
              <a:t> </a:t>
            </a:r>
            <a:endParaRPr kumimoji="1" lang="ja-JP" altLang="en-US" sz="4800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4E5E495-9DFD-880E-CF59-5771EC89C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245" y="2462171"/>
            <a:ext cx="4811417" cy="256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006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C49DD-D70A-B3F7-4919-66699F317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Scale of MEANS</a:t>
            </a:r>
            <a:endParaRPr kumimoji="1" lang="ja-JP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01772-99CE-B5DB-0421-C0FE10CD68DD}"/>
              </a:ext>
            </a:extLst>
          </p:cNvPr>
          <p:cNvSpPr txBox="1"/>
          <p:nvPr/>
        </p:nvSpPr>
        <p:spPr>
          <a:xfrm>
            <a:off x="429177" y="2095394"/>
            <a:ext cx="70108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+mn-ea"/>
              </a:rPr>
              <a:t>A scale of means {} is a parametric family of mean</a:t>
            </a:r>
            <a:endParaRPr kumimoji="1" lang="ja-JP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3083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2BF6-7D72-1F20-BA24-7E080694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F9FBAA-B752-52E0-19C9-7AD7087AA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28C496-B6D4-C2A4-E235-A2814AD6A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49" y="4235142"/>
            <a:ext cx="3323125" cy="25117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7AE3E8-50B9-9155-BC9E-FE9E789DAA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4934" y="5027780"/>
            <a:ext cx="1625137" cy="11980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01E7A0-A281-F86A-9AE8-7A9492521469}"/>
              </a:ext>
            </a:extLst>
          </p:cNvPr>
          <p:cNvSpPr txBox="1"/>
          <p:nvPr/>
        </p:nvSpPr>
        <p:spPr>
          <a:xfrm>
            <a:off x="210082" y="6336938"/>
            <a:ext cx="26265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b="1" dirty="0" err="1">
                <a:solidFill>
                  <a:srgbClr val="92D050"/>
                </a:solidFill>
              </a:rPr>
              <a:t>arXiv</a:t>
            </a:r>
            <a:r>
              <a:rPr lang="en-US" altLang="ja-JP" sz="2400" b="1" dirty="0">
                <a:solidFill>
                  <a:srgbClr val="92D050"/>
                </a:solidFill>
              </a:rPr>
              <a:t>:</a:t>
            </a:r>
            <a:r>
              <a:rPr lang="ja-JP" altLang="en-US" sz="2400" b="1" dirty="0">
                <a:solidFill>
                  <a:srgbClr val="92D050"/>
                </a:solidFill>
              </a:rPr>
              <a:t>2511.21173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4BA629-8F7D-FA33-F90B-2978259D4167}"/>
              </a:ext>
            </a:extLst>
          </p:cNvPr>
          <p:cNvSpPr txBox="1"/>
          <p:nvPr/>
        </p:nvSpPr>
        <p:spPr>
          <a:xfrm>
            <a:off x="8888361" y="5810865"/>
            <a:ext cx="5725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</a:t>
            </a:r>
            <a:r>
              <a:rPr kumimoji="1" lang="en-US" altLang="ja-JP" dirty="0"/>
              <a:t>=1</a:t>
            </a:r>
          </a:p>
          <a:p>
            <a:r>
              <a:rPr lang="en-US" altLang="ja-JP" dirty="0"/>
              <a:t>b=2</a:t>
            </a:r>
            <a:endParaRPr kumimoji="1" lang="ja-JP" alt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3EB0FDB-6C62-F9F4-B62F-BB2E68D68E2C}"/>
              </a:ext>
            </a:extLst>
          </p:cNvPr>
          <p:cNvCxnSpPr>
            <a:cxnSpLocks/>
          </p:cNvCxnSpPr>
          <p:nvPr/>
        </p:nvCxnSpPr>
        <p:spPr>
          <a:xfrm>
            <a:off x="8681884" y="6772944"/>
            <a:ext cx="28433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9B83B22-9C34-6796-4434-B04D2C293A11}"/>
              </a:ext>
            </a:extLst>
          </p:cNvPr>
          <p:cNvCxnSpPr>
            <a:cxnSpLocks/>
          </p:cNvCxnSpPr>
          <p:nvPr/>
        </p:nvCxnSpPr>
        <p:spPr>
          <a:xfrm>
            <a:off x="8403532" y="4483510"/>
            <a:ext cx="0" cy="20842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184DF1C-FCF4-C238-40E7-A62CF4220903}"/>
              </a:ext>
            </a:extLst>
          </p:cNvPr>
          <p:cNvSpPr txBox="1"/>
          <p:nvPr/>
        </p:nvSpPr>
        <p:spPr>
          <a:xfrm>
            <a:off x="8112497" y="646710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</a:t>
            </a:r>
            <a:r>
              <a:rPr kumimoji="1" lang="en-US" altLang="ja-JP" dirty="0"/>
              <a:t>=1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3D862D-D736-A661-5473-EC2972E3469E}"/>
              </a:ext>
            </a:extLst>
          </p:cNvPr>
          <p:cNvSpPr txBox="1"/>
          <p:nvPr/>
        </p:nvSpPr>
        <p:spPr>
          <a:xfrm>
            <a:off x="8109291" y="4203024"/>
            <a:ext cx="57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b=2</a:t>
            </a:r>
            <a:endParaRPr kumimoji="1" lang="ja-JP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31D5F9-4EF4-73DE-BAAB-8D97ED0AC88F}"/>
              </a:ext>
            </a:extLst>
          </p:cNvPr>
          <p:cNvSpPr txBox="1"/>
          <p:nvPr/>
        </p:nvSpPr>
        <p:spPr>
          <a:xfrm>
            <a:off x="11592217" y="6545545"/>
            <a:ext cx="266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r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090889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192</Words>
  <Application>Microsoft Office PowerPoint</Application>
  <PresentationFormat>Widescreen</PresentationFormat>
  <Paragraphs>23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游ゴシック</vt:lpstr>
      <vt:lpstr>Arial</vt:lpstr>
      <vt:lpstr>Calisto MT</vt:lpstr>
      <vt:lpstr>Univers Condensed</vt:lpstr>
      <vt:lpstr>ChronicleVTI</vt:lpstr>
      <vt:lpstr>arithmetic-geometric-harmonic        matrix mean inequality　(AGH inequality)</vt:lpstr>
      <vt:lpstr>Scale of MEANS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3</cp:revision>
  <dcterms:created xsi:type="dcterms:W3CDTF">2025-12-17T06:57:16Z</dcterms:created>
  <dcterms:modified xsi:type="dcterms:W3CDTF">2026-02-11T10:47:39Z</dcterms:modified>
</cp:coreProperties>
</file>